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Oval 2"/>
          <p:cNvSpPr/>
          <p:nvPr/>
        </p:nvSpPr>
        <p:spPr>
          <a:xfrm>
            <a:off x="9875518" y="640080"/>
            <a:ext cx="1371603" cy="1371603"/>
          </a:xfrm>
          <a:prstGeom prst="ellipse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Oval 3"/>
          <p:cNvSpPr/>
          <p:nvPr/>
        </p:nvSpPr>
        <p:spPr>
          <a:xfrm>
            <a:off x="10698480" y="1463038"/>
            <a:ext cx="731523" cy="731524"/>
          </a:xfrm>
          <a:prstGeom prst="ellipse">
            <a:avLst/>
          </a:prstGeom>
          <a:solidFill>
            <a:srgbClr val="E1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Oval 4"/>
          <p:cNvSpPr/>
          <p:nvPr/>
        </p:nvSpPr>
        <p:spPr>
          <a:xfrm>
            <a:off x="8961118" y="1554480"/>
            <a:ext cx="502923" cy="502923"/>
          </a:xfrm>
          <a:prstGeom prst="ellipse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868680" y="1234439"/>
            <a:ext cx="7717720" cy="143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400"/>
              </a:spcBef>
              <a:defRPr b="1" sz="35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SMART PLANT HEALTH</a:t>
            </a:r>
            <a:br/>
            <a:r>
              <a:t>MONITORING &amp; AUTOMATIC IRRIGATION</a:t>
            </a:r>
          </a:p>
          <a:p>
            <a:pPr>
              <a:defRPr sz="2000">
                <a:solidFill>
                  <a:srgbClr val="E1F3E7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MDP Project Proposal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914399" y="4069080"/>
            <a:ext cx="5243075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D2E6D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ESP32 • Sensors • Automated Watering • Plant Health Insights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685799" y="411481"/>
            <a:ext cx="3326244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1. Problem Statement</a:t>
            </a:r>
          </a:p>
        </p:txBody>
      </p:sp>
      <p:sp>
        <p:nvSpPr>
          <p:cNvPr id="104" name="TextBox 3"/>
          <p:cNvSpPr txBox="1"/>
          <p:nvPr/>
        </p:nvSpPr>
        <p:spPr>
          <a:xfrm>
            <a:off x="704087" y="1024128"/>
            <a:ext cx="22428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Why is smart irrigation needed?</a:t>
            </a:r>
          </a:p>
        </p:txBody>
      </p:sp>
      <p:sp>
        <p:nvSpPr>
          <p:cNvPr id="105" name="Rounded Rectangle 4"/>
          <p:cNvSpPr/>
          <p:nvPr/>
        </p:nvSpPr>
        <p:spPr>
          <a:xfrm>
            <a:off x="731519" y="1600200"/>
            <a:ext cx="3383282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Rectangle 5"/>
          <p:cNvSpPr/>
          <p:nvPr/>
        </p:nvSpPr>
        <p:spPr>
          <a:xfrm>
            <a:off x="731519" y="1600199"/>
            <a:ext cx="73154" cy="356616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TextBox 6"/>
          <p:cNvSpPr txBox="1"/>
          <p:nvPr/>
        </p:nvSpPr>
        <p:spPr>
          <a:xfrm>
            <a:off x="978407" y="1764793"/>
            <a:ext cx="1329013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Overwatering</a:t>
            </a:r>
          </a:p>
        </p:txBody>
      </p:sp>
      <p:sp>
        <p:nvSpPr>
          <p:cNvPr id="108" name="TextBox 7"/>
          <p:cNvSpPr txBox="1"/>
          <p:nvPr/>
        </p:nvSpPr>
        <p:spPr>
          <a:xfrm>
            <a:off x="978407" y="2221993"/>
            <a:ext cx="2907795" cy="629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Too much water can damage roots, waste resources and increase the risk of fungal problems.</a:t>
            </a:r>
          </a:p>
        </p:txBody>
      </p:sp>
      <p:sp>
        <p:nvSpPr>
          <p:cNvPr id="109" name="Rounded Rectangle 8"/>
          <p:cNvSpPr/>
          <p:nvPr/>
        </p:nvSpPr>
        <p:spPr>
          <a:xfrm>
            <a:off x="4389120" y="1600200"/>
            <a:ext cx="3383280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Rectangle 9"/>
          <p:cNvSpPr/>
          <p:nvPr/>
        </p:nvSpPr>
        <p:spPr>
          <a:xfrm>
            <a:off x="4389120" y="1600199"/>
            <a:ext cx="73154" cy="356616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Box 10"/>
          <p:cNvSpPr txBox="1"/>
          <p:nvPr/>
        </p:nvSpPr>
        <p:spPr>
          <a:xfrm>
            <a:off x="4636006" y="1764793"/>
            <a:ext cx="1455517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Underwatering</a:t>
            </a:r>
          </a:p>
        </p:txBody>
      </p:sp>
      <p:sp>
        <p:nvSpPr>
          <p:cNvPr id="112" name="TextBox 11"/>
          <p:cNvSpPr txBox="1"/>
          <p:nvPr/>
        </p:nvSpPr>
        <p:spPr>
          <a:xfrm>
            <a:off x="4636008" y="2221993"/>
            <a:ext cx="290779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Plants may become stressed when watering is based only on a fixed schedule.</a:t>
            </a:r>
          </a:p>
        </p:txBody>
      </p:sp>
      <p:sp>
        <p:nvSpPr>
          <p:cNvPr id="113" name="Rounded Rectangle 12"/>
          <p:cNvSpPr/>
          <p:nvPr/>
        </p:nvSpPr>
        <p:spPr>
          <a:xfrm>
            <a:off x="8046718" y="1600200"/>
            <a:ext cx="3383282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Rectangle 13"/>
          <p:cNvSpPr/>
          <p:nvPr/>
        </p:nvSpPr>
        <p:spPr>
          <a:xfrm>
            <a:off x="8046718" y="1600199"/>
            <a:ext cx="73154" cy="3566162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TextBox 14"/>
          <p:cNvSpPr txBox="1"/>
          <p:nvPr/>
        </p:nvSpPr>
        <p:spPr>
          <a:xfrm>
            <a:off x="8293606" y="1764793"/>
            <a:ext cx="2327446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 Continuous Feedback</a:t>
            </a:r>
          </a:p>
        </p:txBody>
      </p:sp>
      <p:sp>
        <p:nvSpPr>
          <p:cNvPr id="116" name="TextBox 15"/>
          <p:cNvSpPr txBox="1"/>
          <p:nvPr/>
        </p:nvSpPr>
        <p:spPr>
          <a:xfrm>
            <a:off x="8293607" y="2221993"/>
            <a:ext cx="2907794" cy="629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Manual monitoring does not provide continuous information about soil and environmental conditions.</a:t>
            </a:r>
          </a:p>
        </p:txBody>
      </p:sp>
      <p:sp>
        <p:nvSpPr>
          <p:cNvPr id="117" name="TextBox 16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TextBox 2"/>
          <p:cNvSpPr txBox="1"/>
          <p:nvPr/>
        </p:nvSpPr>
        <p:spPr>
          <a:xfrm>
            <a:off x="685799" y="411481"/>
            <a:ext cx="3166328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 Proposed Solution</a:t>
            </a:r>
          </a:p>
        </p:txBody>
      </p:sp>
      <p:sp>
        <p:nvSpPr>
          <p:cNvPr id="121" name="TextBox 3"/>
          <p:cNvSpPr txBox="1"/>
          <p:nvPr/>
        </p:nvSpPr>
        <p:spPr>
          <a:xfrm>
            <a:off x="704086" y="1024128"/>
            <a:ext cx="4672927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 closed-loop system that measures, decides and acts automatically.</a:t>
            </a:r>
          </a:p>
        </p:txBody>
      </p:sp>
      <p:sp>
        <p:nvSpPr>
          <p:cNvPr id="122" name="Rounded Rectangle 4"/>
          <p:cNvSpPr/>
          <p:nvPr/>
        </p:nvSpPr>
        <p:spPr>
          <a:xfrm>
            <a:off x="594359" y="2103120"/>
            <a:ext cx="2148841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TextBox 5"/>
          <p:cNvSpPr txBox="1"/>
          <p:nvPr/>
        </p:nvSpPr>
        <p:spPr>
          <a:xfrm>
            <a:off x="777240" y="2359151"/>
            <a:ext cx="911978" cy="1048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9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SENSE</a:t>
            </a:r>
          </a:p>
          <a:p>
            <a:pPr>
              <a:spcBef>
                <a:spcPts val="10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Soil moisture</a:t>
            </a:r>
            <a:br/>
            <a:r>
              <a:t>Temperature</a:t>
            </a:r>
            <a:br/>
            <a:r>
              <a:t>Humidity</a:t>
            </a:r>
          </a:p>
        </p:txBody>
      </p:sp>
      <p:sp>
        <p:nvSpPr>
          <p:cNvPr id="124" name="Connector 6"/>
          <p:cNvSpPr/>
          <p:nvPr/>
        </p:nvSpPr>
        <p:spPr>
          <a:xfrm>
            <a:off x="2743199" y="3108960"/>
            <a:ext cx="731522" cy="2"/>
          </a:xfrm>
          <a:prstGeom prst="line">
            <a:avLst/>
          </a:prstGeom>
          <a:ln w="31750">
            <a:solidFill>
              <a:srgbClr val="34915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Rounded Rectangle 7"/>
          <p:cNvSpPr/>
          <p:nvPr/>
        </p:nvSpPr>
        <p:spPr>
          <a:xfrm>
            <a:off x="3474720" y="2103120"/>
            <a:ext cx="2148842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TextBox 8"/>
          <p:cNvSpPr txBox="1"/>
          <p:nvPr/>
        </p:nvSpPr>
        <p:spPr>
          <a:xfrm>
            <a:off x="3657598" y="2359151"/>
            <a:ext cx="1311805" cy="85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9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DECIDE</a:t>
            </a:r>
          </a:p>
          <a:p>
            <a:pPr>
              <a:spcBef>
                <a:spcPts val="10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ESP32 compares</a:t>
            </a:r>
            <a:br/>
            <a:r>
              <a:t>readings with limits</a:t>
            </a:r>
          </a:p>
        </p:txBody>
      </p:sp>
      <p:sp>
        <p:nvSpPr>
          <p:cNvPr id="127" name="Connector 9"/>
          <p:cNvSpPr/>
          <p:nvPr/>
        </p:nvSpPr>
        <p:spPr>
          <a:xfrm>
            <a:off x="5623559" y="3108960"/>
            <a:ext cx="731522" cy="2"/>
          </a:xfrm>
          <a:prstGeom prst="line">
            <a:avLst/>
          </a:prstGeom>
          <a:ln w="31750">
            <a:solidFill>
              <a:srgbClr val="34915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Rounded Rectangle 10"/>
          <p:cNvSpPr/>
          <p:nvPr/>
        </p:nvSpPr>
        <p:spPr>
          <a:xfrm>
            <a:off x="6355079" y="2103120"/>
            <a:ext cx="2148842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TextBox 11"/>
          <p:cNvSpPr txBox="1"/>
          <p:nvPr/>
        </p:nvSpPr>
        <p:spPr>
          <a:xfrm>
            <a:off x="6537959" y="2359151"/>
            <a:ext cx="1356677" cy="85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9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ACT</a:t>
            </a:r>
          </a:p>
          <a:p>
            <a:pPr>
              <a:spcBef>
                <a:spcPts val="10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Pump turns ON/OFF</a:t>
            </a:r>
            <a:br/>
            <a:r>
              <a:t>as required</a:t>
            </a:r>
          </a:p>
        </p:txBody>
      </p:sp>
      <p:sp>
        <p:nvSpPr>
          <p:cNvPr id="130" name="Connector 12"/>
          <p:cNvSpPr/>
          <p:nvPr/>
        </p:nvSpPr>
        <p:spPr>
          <a:xfrm>
            <a:off x="8503918" y="3108960"/>
            <a:ext cx="731522" cy="2"/>
          </a:xfrm>
          <a:prstGeom prst="line">
            <a:avLst/>
          </a:prstGeom>
          <a:ln w="31750">
            <a:solidFill>
              <a:srgbClr val="34915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Rounded Rectangle 13"/>
          <p:cNvSpPr/>
          <p:nvPr/>
        </p:nvSpPr>
        <p:spPr>
          <a:xfrm>
            <a:off x="9235440" y="2103120"/>
            <a:ext cx="2148842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TextBox 14"/>
          <p:cNvSpPr txBox="1"/>
          <p:nvPr/>
        </p:nvSpPr>
        <p:spPr>
          <a:xfrm>
            <a:off x="9418319" y="2359151"/>
            <a:ext cx="1102404" cy="85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9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INFORM</a:t>
            </a:r>
          </a:p>
          <a:p>
            <a:pPr>
              <a:spcBef>
                <a:spcPts val="10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Display / mobile</a:t>
            </a:r>
            <a:br/>
            <a:r>
              <a:t>status &amp; alerts</a:t>
            </a:r>
          </a:p>
        </p:txBody>
      </p:sp>
      <p:sp>
        <p:nvSpPr>
          <p:cNvPr id="133" name="TextBox 15"/>
          <p:cNvSpPr txBox="1"/>
          <p:nvPr/>
        </p:nvSpPr>
        <p:spPr>
          <a:xfrm>
            <a:off x="1437814" y="4892041"/>
            <a:ext cx="9194449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Core idea: water the plant only when the measured conditions indicate that watering is needed.</a:t>
            </a:r>
          </a:p>
        </p:txBody>
      </p:sp>
      <p:sp>
        <p:nvSpPr>
          <p:cNvPr id="134" name="TextBox 16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685799" y="411481"/>
            <a:ext cx="3420526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3. System Architecture</a:t>
            </a:r>
          </a:p>
        </p:txBody>
      </p:sp>
      <p:sp>
        <p:nvSpPr>
          <p:cNvPr id="138" name="TextBox 3"/>
          <p:cNvSpPr txBox="1"/>
          <p:nvPr/>
        </p:nvSpPr>
        <p:spPr>
          <a:xfrm>
            <a:off x="704087" y="1024128"/>
            <a:ext cx="257588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Main hardware and information flow</a:t>
            </a:r>
          </a:p>
        </p:txBody>
      </p:sp>
      <p:sp>
        <p:nvSpPr>
          <p:cNvPr id="139" name="Rounded Rectangle 4"/>
          <p:cNvSpPr/>
          <p:nvPr/>
        </p:nvSpPr>
        <p:spPr>
          <a:xfrm>
            <a:off x="4572000" y="2331720"/>
            <a:ext cx="3017522" cy="1417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0" name="Rectangle 5"/>
          <p:cNvSpPr/>
          <p:nvPr/>
        </p:nvSpPr>
        <p:spPr>
          <a:xfrm>
            <a:off x="4571998" y="2331720"/>
            <a:ext cx="73155" cy="1417322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1" name="TextBox 6"/>
          <p:cNvSpPr txBox="1"/>
          <p:nvPr/>
        </p:nvSpPr>
        <p:spPr>
          <a:xfrm>
            <a:off x="4818886" y="2496312"/>
            <a:ext cx="2089934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ESP32 Microcontroller</a:t>
            </a:r>
          </a:p>
        </p:txBody>
      </p:sp>
      <p:sp>
        <p:nvSpPr>
          <p:cNvPr id="142" name="TextBox 7"/>
          <p:cNvSpPr txBox="1"/>
          <p:nvPr/>
        </p:nvSpPr>
        <p:spPr>
          <a:xfrm>
            <a:off x="4818886" y="2953512"/>
            <a:ext cx="254203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Reads sensors • Runs decision logic • Controls pump</a:t>
            </a:r>
          </a:p>
        </p:txBody>
      </p:sp>
      <p:sp>
        <p:nvSpPr>
          <p:cNvPr id="143" name="Rounded Rectangle 8"/>
          <p:cNvSpPr/>
          <p:nvPr/>
        </p:nvSpPr>
        <p:spPr>
          <a:xfrm>
            <a:off x="685800" y="1508760"/>
            <a:ext cx="2971800" cy="11887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Rectangle 9"/>
          <p:cNvSpPr/>
          <p:nvPr/>
        </p:nvSpPr>
        <p:spPr>
          <a:xfrm>
            <a:off x="685798" y="1508760"/>
            <a:ext cx="73155" cy="118872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5" name="TextBox 10"/>
          <p:cNvSpPr txBox="1"/>
          <p:nvPr/>
        </p:nvSpPr>
        <p:spPr>
          <a:xfrm>
            <a:off x="932686" y="1673350"/>
            <a:ext cx="194666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Soil Moisture Sensor</a:t>
            </a:r>
          </a:p>
        </p:txBody>
      </p:sp>
      <p:sp>
        <p:nvSpPr>
          <p:cNvPr id="146" name="TextBox 11"/>
          <p:cNvSpPr txBox="1"/>
          <p:nvPr/>
        </p:nvSpPr>
        <p:spPr>
          <a:xfrm>
            <a:off x="932687" y="2130551"/>
            <a:ext cx="249631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Measures water level in the soil.</a:t>
            </a:r>
          </a:p>
        </p:txBody>
      </p:sp>
      <p:sp>
        <p:nvSpPr>
          <p:cNvPr id="147" name="Rounded Rectangle 12"/>
          <p:cNvSpPr/>
          <p:nvPr/>
        </p:nvSpPr>
        <p:spPr>
          <a:xfrm>
            <a:off x="685800" y="3246120"/>
            <a:ext cx="2971800" cy="11887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Rectangle 13"/>
          <p:cNvSpPr/>
          <p:nvPr/>
        </p:nvSpPr>
        <p:spPr>
          <a:xfrm>
            <a:off x="685798" y="3246120"/>
            <a:ext cx="73155" cy="118872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9" name="TextBox 14"/>
          <p:cNvSpPr txBox="1"/>
          <p:nvPr/>
        </p:nvSpPr>
        <p:spPr>
          <a:xfrm>
            <a:off x="932686" y="3410711"/>
            <a:ext cx="1512655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DHT22 / Similar</a:t>
            </a:r>
          </a:p>
        </p:txBody>
      </p:sp>
      <p:sp>
        <p:nvSpPr>
          <p:cNvPr id="150" name="TextBox 15"/>
          <p:cNvSpPr txBox="1"/>
          <p:nvPr/>
        </p:nvSpPr>
        <p:spPr>
          <a:xfrm>
            <a:off x="932687" y="3867911"/>
            <a:ext cx="249631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Temperature + relative humidity.</a:t>
            </a:r>
          </a:p>
        </p:txBody>
      </p:sp>
      <p:sp>
        <p:nvSpPr>
          <p:cNvPr id="151" name="Rounded Rectangle 16"/>
          <p:cNvSpPr/>
          <p:nvPr/>
        </p:nvSpPr>
        <p:spPr>
          <a:xfrm>
            <a:off x="685800" y="4983479"/>
            <a:ext cx="2971800" cy="9144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Rectangle 17"/>
          <p:cNvSpPr/>
          <p:nvPr/>
        </p:nvSpPr>
        <p:spPr>
          <a:xfrm>
            <a:off x="685798" y="4983479"/>
            <a:ext cx="73155" cy="914402"/>
          </a:xfrm>
          <a:prstGeom prst="rect">
            <a:avLst/>
          </a:prstGeom>
          <a:solidFill>
            <a:srgbClr val="5A696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TextBox 18"/>
          <p:cNvSpPr txBox="1"/>
          <p:nvPr/>
        </p:nvSpPr>
        <p:spPr>
          <a:xfrm>
            <a:off x="932686" y="5148072"/>
            <a:ext cx="1622397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Optional Sensors</a:t>
            </a:r>
          </a:p>
        </p:txBody>
      </p:sp>
      <p:sp>
        <p:nvSpPr>
          <p:cNvPr id="154" name="TextBox 19"/>
          <p:cNvSpPr txBox="1"/>
          <p:nvPr/>
        </p:nvSpPr>
        <p:spPr>
          <a:xfrm>
            <a:off x="932687" y="5605272"/>
            <a:ext cx="249631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Light, rain, water level, etc.</a:t>
            </a:r>
          </a:p>
        </p:txBody>
      </p:sp>
      <p:sp>
        <p:nvSpPr>
          <p:cNvPr id="155" name="Rounded Rectangle 20"/>
          <p:cNvSpPr/>
          <p:nvPr/>
        </p:nvSpPr>
        <p:spPr>
          <a:xfrm>
            <a:off x="8458200" y="1508760"/>
            <a:ext cx="2971800" cy="11887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" name="Rectangle 21"/>
          <p:cNvSpPr/>
          <p:nvPr/>
        </p:nvSpPr>
        <p:spPr>
          <a:xfrm>
            <a:off x="8458199" y="1508760"/>
            <a:ext cx="73155" cy="1188722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TextBox 22"/>
          <p:cNvSpPr txBox="1"/>
          <p:nvPr/>
        </p:nvSpPr>
        <p:spPr>
          <a:xfrm>
            <a:off x="8705088" y="1673350"/>
            <a:ext cx="2127885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Relay / MOSFET Driver</a:t>
            </a:r>
          </a:p>
        </p:txBody>
      </p:sp>
      <p:sp>
        <p:nvSpPr>
          <p:cNvPr id="158" name="TextBox 23"/>
          <p:cNvSpPr txBox="1"/>
          <p:nvPr/>
        </p:nvSpPr>
        <p:spPr>
          <a:xfrm>
            <a:off x="8705087" y="2130551"/>
            <a:ext cx="2496315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Provides safe switching for the pump.</a:t>
            </a:r>
          </a:p>
        </p:txBody>
      </p:sp>
      <p:sp>
        <p:nvSpPr>
          <p:cNvPr id="159" name="Rounded Rectangle 24"/>
          <p:cNvSpPr/>
          <p:nvPr/>
        </p:nvSpPr>
        <p:spPr>
          <a:xfrm>
            <a:off x="8458200" y="3246120"/>
            <a:ext cx="2971800" cy="11887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" name="Rectangle 25"/>
          <p:cNvSpPr/>
          <p:nvPr/>
        </p:nvSpPr>
        <p:spPr>
          <a:xfrm>
            <a:off x="8458199" y="3246120"/>
            <a:ext cx="73155" cy="118872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" name="TextBox 26"/>
          <p:cNvSpPr txBox="1"/>
          <p:nvPr/>
        </p:nvSpPr>
        <p:spPr>
          <a:xfrm>
            <a:off x="8705088" y="3410711"/>
            <a:ext cx="122527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Water Pump</a:t>
            </a:r>
          </a:p>
        </p:txBody>
      </p:sp>
      <p:sp>
        <p:nvSpPr>
          <p:cNvPr id="162" name="TextBox 27"/>
          <p:cNvSpPr txBox="1"/>
          <p:nvPr/>
        </p:nvSpPr>
        <p:spPr>
          <a:xfrm>
            <a:off x="8705087" y="3867911"/>
            <a:ext cx="2496315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Delivers water through tubing.</a:t>
            </a:r>
          </a:p>
        </p:txBody>
      </p:sp>
      <p:sp>
        <p:nvSpPr>
          <p:cNvPr id="163" name="Rounded Rectangle 28"/>
          <p:cNvSpPr/>
          <p:nvPr/>
        </p:nvSpPr>
        <p:spPr>
          <a:xfrm>
            <a:off x="8458200" y="4983479"/>
            <a:ext cx="2971800" cy="9144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Rectangle 29"/>
          <p:cNvSpPr/>
          <p:nvPr/>
        </p:nvSpPr>
        <p:spPr>
          <a:xfrm>
            <a:off x="8458199" y="4983479"/>
            <a:ext cx="73155" cy="91440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" name="TextBox 30"/>
          <p:cNvSpPr txBox="1"/>
          <p:nvPr/>
        </p:nvSpPr>
        <p:spPr>
          <a:xfrm>
            <a:off x="8705087" y="5148072"/>
            <a:ext cx="191673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Dashboard / Display</a:t>
            </a:r>
          </a:p>
        </p:txBody>
      </p:sp>
      <p:sp>
        <p:nvSpPr>
          <p:cNvPr id="166" name="TextBox 31"/>
          <p:cNvSpPr txBox="1"/>
          <p:nvPr/>
        </p:nvSpPr>
        <p:spPr>
          <a:xfrm>
            <a:off x="8705087" y="5605272"/>
            <a:ext cx="2496315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Shows readings and system status.</a:t>
            </a:r>
          </a:p>
        </p:txBody>
      </p:sp>
      <p:sp>
        <p:nvSpPr>
          <p:cNvPr id="167" name="Connector 32"/>
          <p:cNvSpPr/>
          <p:nvPr/>
        </p:nvSpPr>
        <p:spPr>
          <a:xfrm>
            <a:off x="3657600" y="2103120"/>
            <a:ext cx="914401" cy="868682"/>
          </a:xfrm>
          <a:prstGeom prst="line">
            <a:avLst/>
          </a:prstGeom>
          <a:ln w="1905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33"/>
          <p:cNvSpPr/>
          <p:nvPr/>
        </p:nvSpPr>
        <p:spPr>
          <a:xfrm flipV="1">
            <a:off x="3657600" y="2971799"/>
            <a:ext cx="914401" cy="868682"/>
          </a:xfrm>
          <a:prstGeom prst="line">
            <a:avLst/>
          </a:prstGeom>
          <a:ln w="1905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34"/>
          <p:cNvSpPr/>
          <p:nvPr/>
        </p:nvSpPr>
        <p:spPr>
          <a:xfrm flipV="1">
            <a:off x="3657600" y="2971799"/>
            <a:ext cx="914401" cy="2468882"/>
          </a:xfrm>
          <a:prstGeom prst="line">
            <a:avLst/>
          </a:prstGeom>
          <a:ln w="1905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35"/>
          <p:cNvSpPr/>
          <p:nvPr/>
        </p:nvSpPr>
        <p:spPr>
          <a:xfrm flipV="1">
            <a:off x="7589518" y="2103120"/>
            <a:ext cx="868682" cy="868682"/>
          </a:xfrm>
          <a:prstGeom prst="line">
            <a:avLst/>
          </a:prstGeom>
          <a:ln w="1905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" name="Connector 36"/>
          <p:cNvSpPr/>
          <p:nvPr/>
        </p:nvSpPr>
        <p:spPr>
          <a:xfrm>
            <a:off x="7589518" y="2971799"/>
            <a:ext cx="868682" cy="868682"/>
          </a:xfrm>
          <a:prstGeom prst="line">
            <a:avLst/>
          </a:prstGeom>
          <a:ln w="1905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Connector 37"/>
          <p:cNvSpPr/>
          <p:nvPr/>
        </p:nvSpPr>
        <p:spPr>
          <a:xfrm>
            <a:off x="7589518" y="2971798"/>
            <a:ext cx="868682" cy="2468883"/>
          </a:xfrm>
          <a:prstGeom prst="line">
            <a:avLst/>
          </a:prstGeom>
          <a:ln w="1905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Box 38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TextBox 2"/>
          <p:cNvSpPr txBox="1"/>
          <p:nvPr/>
        </p:nvSpPr>
        <p:spPr>
          <a:xfrm>
            <a:off x="685799" y="411481"/>
            <a:ext cx="2945467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4. Key Components</a:t>
            </a:r>
          </a:p>
        </p:txBody>
      </p:sp>
      <p:sp>
        <p:nvSpPr>
          <p:cNvPr id="177" name="TextBox 3"/>
          <p:cNvSpPr txBox="1"/>
          <p:nvPr/>
        </p:nvSpPr>
        <p:spPr>
          <a:xfrm>
            <a:off x="704087" y="1024128"/>
            <a:ext cx="2858197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Suggested components for the prototype</a:t>
            </a:r>
          </a:p>
        </p:txBody>
      </p:sp>
      <p:sp>
        <p:nvSpPr>
          <p:cNvPr id="178" name="Rounded Rectangle 4"/>
          <p:cNvSpPr/>
          <p:nvPr/>
        </p:nvSpPr>
        <p:spPr>
          <a:xfrm>
            <a:off x="685800" y="1508760"/>
            <a:ext cx="525780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" name="Rectangle 5"/>
          <p:cNvSpPr/>
          <p:nvPr/>
        </p:nvSpPr>
        <p:spPr>
          <a:xfrm>
            <a:off x="685798" y="1508760"/>
            <a:ext cx="73155" cy="123444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" name="TextBox 6"/>
          <p:cNvSpPr txBox="1"/>
          <p:nvPr/>
        </p:nvSpPr>
        <p:spPr>
          <a:xfrm>
            <a:off x="932686" y="1673350"/>
            <a:ext cx="643152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ESP32</a:t>
            </a:r>
          </a:p>
        </p:txBody>
      </p:sp>
      <p:sp>
        <p:nvSpPr>
          <p:cNvPr id="181" name="TextBox 7"/>
          <p:cNvSpPr txBox="1"/>
          <p:nvPr/>
        </p:nvSpPr>
        <p:spPr>
          <a:xfrm>
            <a:off x="932687" y="2130551"/>
            <a:ext cx="478231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Main controller; Wi‑Fi/Bluetooth enabled.</a:t>
            </a:r>
          </a:p>
        </p:txBody>
      </p:sp>
      <p:sp>
        <p:nvSpPr>
          <p:cNvPr id="182" name="Rounded Rectangle 8"/>
          <p:cNvSpPr/>
          <p:nvPr/>
        </p:nvSpPr>
        <p:spPr>
          <a:xfrm>
            <a:off x="6355079" y="1508760"/>
            <a:ext cx="5257802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3" name="Rectangle 9"/>
          <p:cNvSpPr/>
          <p:nvPr/>
        </p:nvSpPr>
        <p:spPr>
          <a:xfrm>
            <a:off x="6355079" y="1508760"/>
            <a:ext cx="73154" cy="123444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TextBox 10"/>
          <p:cNvSpPr txBox="1"/>
          <p:nvPr/>
        </p:nvSpPr>
        <p:spPr>
          <a:xfrm>
            <a:off x="6601966" y="1673350"/>
            <a:ext cx="2918851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Capacitive Soil Moisture Sensor</a:t>
            </a:r>
          </a:p>
        </p:txBody>
      </p:sp>
      <p:sp>
        <p:nvSpPr>
          <p:cNvPr id="185" name="TextBox 11"/>
          <p:cNvSpPr txBox="1"/>
          <p:nvPr/>
        </p:nvSpPr>
        <p:spPr>
          <a:xfrm>
            <a:off x="6601966" y="2130551"/>
            <a:ext cx="478231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More suitable for repeated soil monitoring than basic resistive probes.</a:t>
            </a:r>
          </a:p>
        </p:txBody>
      </p:sp>
      <p:sp>
        <p:nvSpPr>
          <p:cNvPr id="186" name="Rounded Rectangle 12"/>
          <p:cNvSpPr/>
          <p:nvPr/>
        </p:nvSpPr>
        <p:spPr>
          <a:xfrm>
            <a:off x="685800" y="3017520"/>
            <a:ext cx="5257800" cy="12344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7" name="Rectangle 13"/>
          <p:cNvSpPr/>
          <p:nvPr/>
        </p:nvSpPr>
        <p:spPr>
          <a:xfrm>
            <a:off x="685798" y="3017520"/>
            <a:ext cx="73155" cy="1234442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8" name="TextBox 14"/>
          <p:cNvSpPr txBox="1"/>
          <p:nvPr/>
        </p:nvSpPr>
        <p:spPr>
          <a:xfrm>
            <a:off x="932686" y="3182112"/>
            <a:ext cx="1635891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DHT22 / BME280</a:t>
            </a:r>
          </a:p>
        </p:txBody>
      </p:sp>
      <p:sp>
        <p:nvSpPr>
          <p:cNvPr id="189" name="TextBox 15"/>
          <p:cNvSpPr txBox="1"/>
          <p:nvPr/>
        </p:nvSpPr>
        <p:spPr>
          <a:xfrm>
            <a:off x="932687" y="3639311"/>
            <a:ext cx="478231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Temperature and humidity measurement.</a:t>
            </a:r>
          </a:p>
        </p:txBody>
      </p:sp>
      <p:sp>
        <p:nvSpPr>
          <p:cNvPr id="190" name="Rounded Rectangle 16"/>
          <p:cNvSpPr/>
          <p:nvPr/>
        </p:nvSpPr>
        <p:spPr>
          <a:xfrm>
            <a:off x="6355079" y="3017520"/>
            <a:ext cx="5257802" cy="12344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Rectangle 17"/>
          <p:cNvSpPr/>
          <p:nvPr/>
        </p:nvSpPr>
        <p:spPr>
          <a:xfrm>
            <a:off x="6355079" y="3017520"/>
            <a:ext cx="73154" cy="1234442"/>
          </a:xfrm>
          <a:prstGeom prst="rect">
            <a:avLst/>
          </a:prstGeom>
          <a:solidFill>
            <a:srgbClr val="5A696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2" name="TextBox 18"/>
          <p:cNvSpPr txBox="1"/>
          <p:nvPr/>
        </p:nvSpPr>
        <p:spPr>
          <a:xfrm>
            <a:off x="6601966" y="3182112"/>
            <a:ext cx="1983882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Mini DC Water Pump</a:t>
            </a:r>
          </a:p>
        </p:txBody>
      </p:sp>
      <p:sp>
        <p:nvSpPr>
          <p:cNvPr id="193" name="TextBox 19"/>
          <p:cNvSpPr txBox="1"/>
          <p:nvPr/>
        </p:nvSpPr>
        <p:spPr>
          <a:xfrm>
            <a:off x="6601966" y="3639311"/>
            <a:ext cx="478231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Moves water from a reservoir to the plant.</a:t>
            </a:r>
          </a:p>
        </p:txBody>
      </p:sp>
      <p:sp>
        <p:nvSpPr>
          <p:cNvPr id="194" name="Rounded Rectangle 20"/>
          <p:cNvSpPr/>
          <p:nvPr/>
        </p:nvSpPr>
        <p:spPr>
          <a:xfrm>
            <a:off x="685800" y="4526279"/>
            <a:ext cx="5257800" cy="12344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5" name="Rectangle 21"/>
          <p:cNvSpPr/>
          <p:nvPr/>
        </p:nvSpPr>
        <p:spPr>
          <a:xfrm>
            <a:off x="685798" y="4526279"/>
            <a:ext cx="73155" cy="123444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6" name="TextBox 22"/>
          <p:cNvSpPr txBox="1"/>
          <p:nvPr/>
        </p:nvSpPr>
        <p:spPr>
          <a:xfrm>
            <a:off x="932686" y="4690872"/>
            <a:ext cx="227463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Relay Module / MOSFET</a:t>
            </a:r>
          </a:p>
        </p:txBody>
      </p:sp>
      <p:sp>
        <p:nvSpPr>
          <p:cNvPr id="197" name="TextBox 23"/>
          <p:cNvSpPr txBox="1"/>
          <p:nvPr/>
        </p:nvSpPr>
        <p:spPr>
          <a:xfrm>
            <a:off x="932687" y="5148072"/>
            <a:ext cx="478231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Interfaces the ESP32 with the pump.</a:t>
            </a:r>
          </a:p>
        </p:txBody>
      </p:sp>
      <p:sp>
        <p:nvSpPr>
          <p:cNvPr id="198" name="Rounded Rectangle 24"/>
          <p:cNvSpPr/>
          <p:nvPr/>
        </p:nvSpPr>
        <p:spPr>
          <a:xfrm>
            <a:off x="6355079" y="4526279"/>
            <a:ext cx="5257802" cy="12344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9" name="Rectangle 25"/>
          <p:cNvSpPr/>
          <p:nvPr/>
        </p:nvSpPr>
        <p:spPr>
          <a:xfrm>
            <a:off x="6355079" y="4526279"/>
            <a:ext cx="73154" cy="123444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TextBox 26"/>
          <p:cNvSpPr txBox="1"/>
          <p:nvPr/>
        </p:nvSpPr>
        <p:spPr>
          <a:xfrm>
            <a:off x="6601966" y="4690872"/>
            <a:ext cx="132954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Power Supply</a:t>
            </a:r>
          </a:p>
        </p:txBody>
      </p:sp>
      <p:sp>
        <p:nvSpPr>
          <p:cNvPr id="201" name="TextBox 27"/>
          <p:cNvSpPr txBox="1"/>
          <p:nvPr/>
        </p:nvSpPr>
        <p:spPr>
          <a:xfrm>
            <a:off x="6601966" y="5148072"/>
            <a:ext cx="478231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Separate suitable supply for pump and controller; common ground where appropriate.</a:t>
            </a:r>
          </a:p>
        </p:txBody>
      </p:sp>
      <p:sp>
        <p:nvSpPr>
          <p:cNvPr id="202" name="TextBox 28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TextBox 2"/>
          <p:cNvSpPr txBox="1"/>
          <p:nvPr/>
        </p:nvSpPr>
        <p:spPr>
          <a:xfrm>
            <a:off x="685799" y="411481"/>
            <a:ext cx="4836155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5. Team Roles &amp; Responsibilities</a:t>
            </a:r>
          </a:p>
        </p:txBody>
      </p:sp>
      <p:sp>
        <p:nvSpPr>
          <p:cNvPr id="206" name="TextBox 3"/>
          <p:cNvSpPr txBox="1"/>
          <p:nvPr/>
        </p:nvSpPr>
        <p:spPr>
          <a:xfrm>
            <a:off x="704086" y="1024128"/>
            <a:ext cx="5371136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How Mechatronics, ECE and CSE members contribute to one integrated system</a:t>
            </a:r>
          </a:p>
        </p:txBody>
      </p:sp>
      <p:sp>
        <p:nvSpPr>
          <p:cNvPr id="207" name="Rounded Rectangle 4"/>
          <p:cNvSpPr/>
          <p:nvPr/>
        </p:nvSpPr>
        <p:spPr>
          <a:xfrm>
            <a:off x="502919" y="1508760"/>
            <a:ext cx="3566162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8" name="Rectangle 5"/>
          <p:cNvSpPr/>
          <p:nvPr/>
        </p:nvSpPr>
        <p:spPr>
          <a:xfrm>
            <a:off x="502919" y="1508760"/>
            <a:ext cx="73154" cy="4297680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9" name="TextBox 6"/>
          <p:cNvSpPr txBox="1"/>
          <p:nvPr/>
        </p:nvSpPr>
        <p:spPr>
          <a:xfrm>
            <a:off x="749806" y="1673350"/>
            <a:ext cx="1547865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MECHATRONICS</a:t>
            </a:r>
          </a:p>
        </p:txBody>
      </p:sp>
      <p:sp>
        <p:nvSpPr>
          <p:cNvPr id="210" name="TextBox 7"/>
          <p:cNvSpPr txBox="1"/>
          <p:nvPr/>
        </p:nvSpPr>
        <p:spPr>
          <a:xfrm>
            <a:off x="749806" y="2148839"/>
            <a:ext cx="2872417" cy="1772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Plant setup and physical system design</a:t>
            </a:r>
            <a:br/>
            <a:br/>
            <a:r>
              <a:t>• Water tank, tubing and pump arrangement</a:t>
            </a:r>
            <a:br/>
            <a:br/>
            <a:r>
              <a:t>• Mechanical mounting / enclosure</a:t>
            </a:r>
            <a:br/>
            <a:br/>
            <a:r>
              <a:t>• Irrigation mechanism and flow testing</a:t>
            </a:r>
            <a:br/>
            <a:br/>
            <a:r>
              <a:t>• Physical integration and reliability testing</a:t>
            </a:r>
          </a:p>
        </p:txBody>
      </p:sp>
      <p:sp>
        <p:nvSpPr>
          <p:cNvPr id="211" name="Rounded Rectangle 8"/>
          <p:cNvSpPr/>
          <p:nvPr/>
        </p:nvSpPr>
        <p:spPr>
          <a:xfrm>
            <a:off x="4315967" y="1508760"/>
            <a:ext cx="3566162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2" name="Rectangle 9"/>
          <p:cNvSpPr/>
          <p:nvPr/>
        </p:nvSpPr>
        <p:spPr>
          <a:xfrm>
            <a:off x="4315967" y="1508760"/>
            <a:ext cx="73154" cy="4297680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TextBox 10"/>
          <p:cNvSpPr txBox="1"/>
          <p:nvPr/>
        </p:nvSpPr>
        <p:spPr>
          <a:xfrm>
            <a:off x="4562854" y="1673350"/>
            <a:ext cx="425881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ECE</a:t>
            </a:r>
          </a:p>
        </p:txBody>
      </p:sp>
      <p:sp>
        <p:nvSpPr>
          <p:cNvPr id="214" name="TextBox 11"/>
          <p:cNvSpPr txBox="1"/>
          <p:nvPr/>
        </p:nvSpPr>
        <p:spPr>
          <a:xfrm>
            <a:off x="4562854" y="2148839"/>
            <a:ext cx="3102207" cy="1772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ESP32 hardware and interfacing</a:t>
            </a:r>
            <a:br/>
            <a:br/>
            <a:r>
              <a:t>• Soil moisture, temperature &amp; humidity sensors</a:t>
            </a:r>
            <a:br/>
            <a:br/>
            <a:r>
              <a:t>• Signal reading and calibration</a:t>
            </a:r>
            <a:br/>
            <a:br/>
            <a:r>
              <a:t>• Relay / MOSFET driver for pump control</a:t>
            </a:r>
            <a:br/>
            <a:br/>
            <a:r>
              <a:t>• Power supply, wiring and embedded firmware</a:t>
            </a:r>
          </a:p>
        </p:txBody>
      </p:sp>
      <p:sp>
        <p:nvSpPr>
          <p:cNvPr id="215" name="Rounded Rectangle 12"/>
          <p:cNvSpPr/>
          <p:nvPr/>
        </p:nvSpPr>
        <p:spPr>
          <a:xfrm>
            <a:off x="8129016" y="1508760"/>
            <a:ext cx="3566162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" name="Rectangle 13"/>
          <p:cNvSpPr/>
          <p:nvPr/>
        </p:nvSpPr>
        <p:spPr>
          <a:xfrm>
            <a:off x="8129016" y="1508760"/>
            <a:ext cx="73154" cy="4297680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" name="TextBox 14"/>
          <p:cNvSpPr txBox="1"/>
          <p:nvPr/>
        </p:nvSpPr>
        <p:spPr>
          <a:xfrm>
            <a:off x="8375902" y="1673350"/>
            <a:ext cx="425775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CSE</a:t>
            </a:r>
          </a:p>
        </p:txBody>
      </p:sp>
      <p:sp>
        <p:nvSpPr>
          <p:cNvPr id="218" name="TextBox 15"/>
          <p:cNvSpPr txBox="1"/>
          <p:nvPr/>
        </p:nvSpPr>
        <p:spPr>
          <a:xfrm>
            <a:off x="8375902" y="2148839"/>
            <a:ext cx="2676112" cy="1772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Website / web dashboard</a:t>
            </a:r>
            <a:br/>
            <a:br/>
            <a:r>
              <a:t>• Live sensor-data display</a:t>
            </a:r>
            <a:br/>
            <a:br/>
            <a:r>
              <a:t>• Manual pump ON/OFF control</a:t>
            </a:r>
            <a:br/>
            <a:br/>
            <a:r>
              <a:t>• Data storage and visualization</a:t>
            </a:r>
            <a:br/>
            <a:br/>
            <a:r>
              <a:t>• Backend/API, alerts and future analytics</a:t>
            </a:r>
          </a:p>
        </p:txBody>
      </p:sp>
      <p:sp>
        <p:nvSpPr>
          <p:cNvPr id="219" name="TextBox 16"/>
          <p:cNvSpPr txBox="1"/>
          <p:nvPr/>
        </p:nvSpPr>
        <p:spPr>
          <a:xfrm>
            <a:off x="2841486" y="5989321"/>
            <a:ext cx="6478546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4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All three teams collaborate during system integration, testing and final demonstration.</a:t>
            </a:r>
          </a:p>
        </p:txBody>
      </p:sp>
      <p:sp>
        <p:nvSpPr>
          <p:cNvPr id="220" name="TextBox 17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3" name="TextBox 2"/>
          <p:cNvSpPr txBox="1"/>
          <p:nvPr/>
        </p:nvSpPr>
        <p:spPr>
          <a:xfrm>
            <a:off x="685799" y="411481"/>
            <a:ext cx="6864186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6. Web-Based Monitoring &amp; Manual Irrigation</a:t>
            </a:r>
          </a:p>
        </p:txBody>
      </p:sp>
      <p:sp>
        <p:nvSpPr>
          <p:cNvPr id="224" name="TextBox 3"/>
          <p:cNvSpPr txBox="1"/>
          <p:nvPr/>
        </p:nvSpPr>
        <p:spPr>
          <a:xfrm>
            <a:off x="704086" y="1024128"/>
            <a:ext cx="561660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The user can monitor the plant remotely and also control watering when required.</a:t>
            </a:r>
          </a:p>
        </p:txBody>
      </p:sp>
      <p:sp>
        <p:nvSpPr>
          <p:cNvPr id="225" name="Rounded Rectangle 4"/>
          <p:cNvSpPr/>
          <p:nvPr/>
        </p:nvSpPr>
        <p:spPr>
          <a:xfrm>
            <a:off x="685800" y="1417319"/>
            <a:ext cx="6858000" cy="45262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7D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" name="Rectangle 5"/>
          <p:cNvSpPr/>
          <p:nvPr/>
        </p:nvSpPr>
        <p:spPr>
          <a:xfrm>
            <a:off x="685800" y="1417319"/>
            <a:ext cx="6858000" cy="438914"/>
          </a:xfrm>
          <a:prstGeom prst="rect">
            <a:avLst/>
          </a:prstGeom>
          <a:solidFill>
            <a:srgbClr val="E1F3E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" name="TextBox 6"/>
          <p:cNvSpPr txBox="1"/>
          <p:nvPr/>
        </p:nvSpPr>
        <p:spPr>
          <a:xfrm>
            <a:off x="960119" y="1499617"/>
            <a:ext cx="1686938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Smart Plant Dashboard</a:t>
            </a:r>
          </a:p>
        </p:txBody>
      </p:sp>
      <p:sp>
        <p:nvSpPr>
          <p:cNvPr id="228" name="Rounded Rectangle 7"/>
          <p:cNvSpPr/>
          <p:nvPr/>
        </p:nvSpPr>
        <p:spPr>
          <a:xfrm>
            <a:off x="960119" y="2148838"/>
            <a:ext cx="1691641" cy="1097282"/>
          </a:xfrm>
          <a:prstGeom prst="roundRect">
            <a:avLst>
              <a:gd name="adj" fmla="val 16667"/>
            </a:avLst>
          </a:prstGeom>
          <a:solidFill>
            <a:srgbClr val="F7F9F4"/>
          </a:solidFill>
          <a:ln>
            <a:solidFill>
              <a:srgbClr val="DCE4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" name="TextBox 8"/>
          <p:cNvSpPr txBox="1"/>
          <p:nvPr/>
        </p:nvSpPr>
        <p:spPr>
          <a:xfrm>
            <a:off x="1115566" y="2304289"/>
            <a:ext cx="872967" cy="5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1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Soil Moisture</a:t>
            </a:r>
          </a:p>
          <a:p>
            <a:pPr>
              <a:defRPr b="1" sz="20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32 %</a:t>
            </a:r>
          </a:p>
        </p:txBody>
      </p:sp>
      <p:sp>
        <p:nvSpPr>
          <p:cNvPr id="230" name="Rounded Rectangle 9"/>
          <p:cNvSpPr/>
          <p:nvPr/>
        </p:nvSpPr>
        <p:spPr>
          <a:xfrm>
            <a:off x="2971800" y="2148838"/>
            <a:ext cx="1691640" cy="1097282"/>
          </a:xfrm>
          <a:prstGeom prst="roundRect">
            <a:avLst>
              <a:gd name="adj" fmla="val 16667"/>
            </a:avLst>
          </a:prstGeom>
          <a:solidFill>
            <a:srgbClr val="F7F9F4"/>
          </a:solidFill>
          <a:ln>
            <a:solidFill>
              <a:srgbClr val="DCE4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" name="TextBox 10"/>
          <p:cNvSpPr txBox="1"/>
          <p:nvPr/>
        </p:nvSpPr>
        <p:spPr>
          <a:xfrm>
            <a:off x="3127246" y="2304289"/>
            <a:ext cx="846569" cy="5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1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Temperature</a:t>
            </a:r>
          </a:p>
          <a:p>
            <a:pPr>
              <a:defRPr b="1" sz="2000">
                <a:solidFill>
                  <a:srgbClr val="E791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28 °C</a:t>
            </a:r>
          </a:p>
        </p:txBody>
      </p:sp>
      <p:sp>
        <p:nvSpPr>
          <p:cNvPr id="232" name="Rounded Rectangle 11"/>
          <p:cNvSpPr/>
          <p:nvPr/>
        </p:nvSpPr>
        <p:spPr>
          <a:xfrm>
            <a:off x="4983479" y="2148838"/>
            <a:ext cx="1691642" cy="1097282"/>
          </a:xfrm>
          <a:prstGeom prst="roundRect">
            <a:avLst>
              <a:gd name="adj" fmla="val 16667"/>
            </a:avLst>
          </a:prstGeom>
          <a:solidFill>
            <a:srgbClr val="F7F9F4"/>
          </a:solidFill>
          <a:ln>
            <a:solidFill>
              <a:srgbClr val="DCE4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" name="TextBox 12"/>
          <p:cNvSpPr txBox="1"/>
          <p:nvPr/>
        </p:nvSpPr>
        <p:spPr>
          <a:xfrm>
            <a:off x="5138928" y="2304289"/>
            <a:ext cx="639064" cy="5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1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Humidity</a:t>
            </a:r>
          </a:p>
          <a:p>
            <a:pPr>
              <a:defRPr b="1" sz="20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61 %</a:t>
            </a:r>
          </a:p>
        </p:txBody>
      </p:sp>
      <p:sp>
        <p:nvSpPr>
          <p:cNvPr id="234" name="TextBox 13"/>
          <p:cNvSpPr txBox="1"/>
          <p:nvPr/>
        </p:nvSpPr>
        <p:spPr>
          <a:xfrm>
            <a:off x="1005839" y="3520441"/>
            <a:ext cx="1642321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Irrigation Control</a:t>
            </a:r>
          </a:p>
        </p:txBody>
      </p:sp>
      <p:sp>
        <p:nvSpPr>
          <p:cNvPr id="235" name="Rounded Rectangle 14"/>
          <p:cNvSpPr/>
          <p:nvPr/>
        </p:nvSpPr>
        <p:spPr>
          <a:xfrm>
            <a:off x="960119" y="4069079"/>
            <a:ext cx="1508762" cy="594362"/>
          </a:xfrm>
          <a:prstGeom prst="roundRect">
            <a:avLst>
              <a:gd name="adj" fmla="val 16667"/>
            </a:avLst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" name="TextBox 15"/>
          <p:cNvSpPr txBox="1"/>
          <p:nvPr/>
        </p:nvSpPr>
        <p:spPr>
          <a:xfrm>
            <a:off x="1346021" y="4187953"/>
            <a:ext cx="73695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PUMP ON</a:t>
            </a:r>
          </a:p>
        </p:txBody>
      </p:sp>
      <p:sp>
        <p:nvSpPr>
          <p:cNvPr id="237" name="Rounded Rectangle 16"/>
          <p:cNvSpPr/>
          <p:nvPr/>
        </p:nvSpPr>
        <p:spPr>
          <a:xfrm>
            <a:off x="2788920" y="4069079"/>
            <a:ext cx="1508762" cy="594362"/>
          </a:xfrm>
          <a:prstGeom prst="roundRect">
            <a:avLst>
              <a:gd name="adj" fmla="val 16667"/>
            </a:avLst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" name="TextBox 17"/>
          <p:cNvSpPr txBox="1"/>
          <p:nvPr/>
        </p:nvSpPr>
        <p:spPr>
          <a:xfrm>
            <a:off x="3155063" y="4187953"/>
            <a:ext cx="77647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PUMP OFF</a:t>
            </a:r>
          </a:p>
        </p:txBody>
      </p:sp>
      <p:sp>
        <p:nvSpPr>
          <p:cNvPr id="239" name="TextBox 18"/>
          <p:cNvSpPr txBox="1"/>
          <p:nvPr/>
        </p:nvSpPr>
        <p:spPr>
          <a:xfrm>
            <a:off x="1005839" y="4983480"/>
            <a:ext cx="3098115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Last watering: 12:42 PM     •     Pump status: OFF</a:t>
            </a:r>
          </a:p>
        </p:txBody>
      </p:sp>
      <p:sp>
        <p:nvSpPr>
          <p:cNvPr id="240" name="Rounded Rectangle 19"/>
          <p:cNvSpPr/>
          <p:nvPr/>
        </p:nvSpPr>
        <p:spPr>
          <a:xfrm>
            <a:off x="7909559" y="1508760"/>
            <a:ext cx="3566162" cy="1417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Rectangle 20"/>
          <p:cNvSpPr/>
          <p:nvPr/>
        </p:nvSpPr>
        <p:spPr>
          <a:xfrm>
            <a:off x="7909559" y="1508760"/>
            <a:ext cx="73154" cy="141732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TextBox 21"/>
          <p:cNvSpPr txBox="1"/>
          <p:nvPr/>
        </p:nvSpPr>
        <p:spPr>
          <a:xfrm>
            <a:off x="8156447" y="1673350"/>
            <a:ext cx="1775256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LIVE MONITORING</a:t>
            </a:r>
          </a:p>
        </p:txBody>
      </p:sp>
      <p:sp>
        <p:nvSpPr>
          <p:cNvPr id="243" name="TextBox 22"/>
          <p:cNvSpPr txBox="1"/>
          <p:nvPr/>
        </p:nvSpPr>
        <p:spPr>
          <a:xfrm>
            <a:off x="8156447" y="2097341"/>
            <a:ext cx="3072385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View soil moisture, temperature, humidity and pump status.</a:t>
            </a:r>
          </a:p>
        </p:txBody>
      </p:sp>
      <p:sp>
        <p:nvSpPr>
          <p:cNvPr id="244" name="Rounded Rectangle 23"/>
          <p:cNvSpPr/>
          <p:nvPr/>
        </p:nvSpPr>
        <p:spPr>
          <a:xfrm>
            <a:off x="7909559" y="3154678"/>
            <a:ext cx="3566162" cy="14173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Rectangle 24"/>
          <p:cNvSpPr/>
          <p:nvPr/>
        </p:nvSpPr>
        <p:spPr>
          <a:xfrm>
            <a:off x="7909559" y="3154678"/>
            <a:ext cx="73154" cy="141732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TextBox 25"/>
          <p:cNvSpPr txBox="1"/>
          <p:nvPr/>
        </p:nvSpPr>
        <p:spPr>
          <a:xfrm>
            <a:off x="8156447" y="3319272"/>
            <a:ext cx="1836505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MANUAL CONTROL</a:t>
            </a:r>
          </a:p>
        </p:txBody>
      </p:sp>
      <p:sp>
        <p:nvSpPr>
          <p:cNvPr id="247" name="TextBox 26"/>
          <p:cNvSpPr txBox="1"/>
          <p:nvPr/>
        </p:nvSpPr>
        <p:spPr>
          <a:xfrm>
            <a:off x="8143581" y="3643937"/>
            <a:ext cx="3098118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User can press PUMP ON/OFF from the website when manual watering is needed.</a:t>
            </a:r>
          </a:p>
        </p:txBody>
      </p:sp>
      <p:sp>
        <p:nvSpPr>
          <p:cNvPr id="248" name="Rounded Rectangle 27"/>
          <p:cNvSpPr/>
          <p:nvPr/>
        </p:nvSpPr>
        <p:spPr>
          <a:xfrm>
            <a:off x="7909559" y="4800600"/>
            <a:ext cx="3566162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Rectangle 28"/>
          <p:cNvSpPr/>
          <p:nvPr/>
        </p:nvSpPr>
        <p:spPr>
          <a:xfrm>
            <a:off x="7909559" y="4800600"/>
            <a:ext cx="73154" cy="1143000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TextBox 29"/>
          <p:cNvSpPr txBox="1"/>
          <p:nvPr/>
        </p:nvSpPr>
        <p:spPr>
          <a:xfrm>
            <a:off x="8156447" y="4965192"/>
            <a:ext cx="1825647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AUTOMATIC MODE</a:t>
            </a:r>
          </a:p>
        </p:txBody>
      </p:sp>
      <p:sp>
        <p:nvSpPr>
          <p:cNvPr id="251" name="TextBox 30"/>
          <p:cNvSpPr txBox="1"/>
          <p:nvPr/>
        </p:nvSpPr>
        <p:spPr>
          <a:xfrm>
            <a:off x="8045092" y="5292238"/>
            <a:ext cx="3295094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The system normally makes the watering decision automatically using sensor data.</a:t>
            </a:r>
          </a:p>
        </p:txBody>
      </p:sp>
      <p:sp>
        <p:nvSpPr>
          <p:cNvPr id="252" name="TextBox 31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TextBox 2"/>
          <p:cNvSpPr txBox="1"/>
          <p:nvPr/>
        </p:nvSpPr>
        <p:spPr>
          <a:xfrm>
            <a:off x="685799" y="411481"/>
            <a:ext cx="2377167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7. Control Logic</a:t>
            </a:r>
          </a:p>
        </p:txBody>
      </p:sp>
      <p:sp>
        <p:nvSpPr>
          <p:cNvPr id="256" name="TextBox 3"/>
          <p:cNvSpPr txBox="1"/>
          <p:nvPr/>
        </p:nvSpPr>
        <p:spPr>
          <a:xfrm>
            <a:off x="704087" y="1024128"/>
            <a:ext cx="4481868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Simple decision-making is enough for the first working prototype.</a:t>
            </a:r>
          </a:p>
        </p:txBody>
      </p:sp>
      <p:sp>
        <p:nvSpPr>
          <p:cNvPr id="257" name="Rounded Rectangle 4"/>
          <p:cNvSpPr/>
          <p:nvPr/>
        </p:nvSpPr>
        <p:spPr>
          <a:xfrm>
            <a:off x="960119" y="1417319"/>
            <a:ext cx="10241282" cy="685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TextBox 5"/>
          <p:cNvSpPr txBox="1"/>
          <p:nvPr/>
        </p:nvSpPr>
        <p:spPr>
          <a:xfrm>
            <a:off x="1234438" y="1527048"/>
            <a:ext cx="500766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Read</a:t>
            </a:r>
          </a:p>
        </p:txBody>
      </p:sp>
      <p:sp>
        <p:nvSpPr>
          <p:cNvPr id="259" name="TextBox 6"/>
          <p:cNvSpPr txBox="1"/>
          <p:nvPr/>
        </p:nvSpPr>
        <p:spPr>
          <a:xfrm>
            <a:off x="2651760" y="1517903"/>
            <a:ext cx="3128258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Get soil moisture, temperature and humidity.</a:t>
            </a:r>
          </a:p>
        </p:txBody>
      </p:sp>
      <p:sp>
        <p:nvSpPr>
          <p:cNvPr id="260" name="Rounded Rectangle 7"/>
          <p:cNvSpPr/>
          <p:nvPr/>
        </p:nvSpPr>
        <p:spPr>
          <a:xfrm>
            <a:off x="960119" y="2377438"/>
            <a:ext cx="10241282" cy="6858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TextBox 8"/>
          <p:cNvSpPr txBox="1"/>
          <p:nvPr/>
        </p:nvSpPr>
        <p:spPr>
          <a:xfrm>
            <a:off x="1234438" y="2487167"/>
            <a:ext cx="574250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Check</a:t>
            </a:r>
          </a:p>
        </p:txBody>
      </p:sp>
      <p:sp>
        <p:nvSpPr>
          <p:cNvPr id="262" name="TextBox 9"/>
          <p:cNvSpPr txBox="1"/>
          <p:nvPr/>
        </p:nvSpPr>
        <p:spPr>
          <a:xfrm>
            <a:off x="2651760" y="2478023"/>
            <a:ext cx="309238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Is soil moisture below the chosen threshold?</a:t>
            </a:r>
          </a:p>
        </p:txBody>
      </p:sp>
      <p:sp>
        <p:nvSpPr>
          <p:cNvPr id="263" name="Rounded Rectangle 10"/>
          <p:cNvSpPr/>
          <p:nvPr/>
        </p:nvSpPr>
        <p:spPr>
          <a:xfrm>
            <a:off x="960119" y="3337559"/>
            <a:ext cx="10241282" cy="685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TextBox 11"/>
          <p:cNvSpPr txBox="1"/>
          <p:nvPr/>
        </p:nvSpPr>
        <p:spPr>
          <a:xfrm>
            <a:off x="1234438" y="3447289"/>
            <a:ext cx="589505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Water</a:t>
            </a:r>
          </a:p>
        </p:txBody>
      </p:sp>
      <p:sp>
        <p:nvSpPr>
          <p:cNvPr id="265" name="TextBox 12"/>
          <p:cNvSpPr txBox="1"/>
          <p:nvPr/>
        </p:nvSpPr>
        <p:spPr>
          <a:xfrm>
            <a:off x="2651760" y="3438145"/>
            <a:ext cx="342218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If dry → activate pump for a short, fixed duration.</a:t>
            </a:r>
          </a:p>
        </p:txBody>
      </p:sp>
      <p:sp>
        <p:nvSpPr>
          <p:cNvPr id="266" name="Rounded Rectangle 13"/>
          <p:cNvSpPr/>
          <p:nvPr/>
        </p:nvSpPr>
        <p:spPr>
          <a:xfrm>
            <a:off x="960119" y="4297679"/>
            <a:ext cx="10241282" cy="685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TextBox 14"/>
          <p:cNvSpPr txBox="1"/>
          <p:nvPr/>
        </p:nvSpPr>
        <p:spPr>
          <a:xfrm>
            <a:off x="1234438" y="4407409"/>
            <a:ext cx="1346482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Wait &amp; Recheck</a:t>
            </a:r>
          </a:p>
        </p:txBody>
      </p:sp>
      <p:sp>
        <p:nvSpPr>
          <p:cNvPr id="268" name="TextBox 15"/>
          <p:cNvSpPr txBox="1"/>
          <p:nvPr/>
        </p:nvSpPr>
        <p:spPr>
          <a:xfrm>
            <a:off x="2651760" y="4398265"/>
            <a:ext cx="3212017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Allow water to distribute, then measure again.</a:t>
            </a:r>
          </a:p>
        </p:txBody>
      </p:sp>
      <p:sp>
        <p:nvSpPr>
          <p:cNvPr id="269" name="Rounded Rectangle 16"/>
          <p:cNvSpPr/>
          <p:nvPr/>
        </p:nvSpPr>
        <p:spPr>
          <a:xfrm>
            <a:off x="960119" y="5257800"/>
            <a:ext cx="10241282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7913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TextBox 17"/>
          <p:cNvSpPr txBox="1"/>
          <p:nvPr/>
        </p:nvSpPr>
        <p:spPr>
          <a:xfrm>
            <a:off x="1234438" y="5367529"/>
            <a:ext cx="678709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Protect</a:t>
            </a:r>
          </a:p>
        </p:txBody>
      </p:sp>
      <p:sp>
        <p:nvSpPr>
          <p:cNvPr id="271" name="TextBox 18"/>
          <p:cNvSpPr txBox="1"/>
          <p:nvPr/>
        </p:nvSpPr>
        <p:spPr>
          <a:xfrm>
            <a:off x="2651760" y="5358385"/>
            <a:ext cx="4777565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Stop watering if reservoir is empty or another safety condition occurs.</a:t>
            </a:r>
          </a:p>
        </p:txBody>
      </p:sp>
      <p:sp>
        <p:nvSpPr>
          <p:cNvPr id="272" name="TextBox 19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TextBox 2"/>
          <p:cNvSpPr txBox="1"/>
          <p:nvPr/>
        </p:nvSpPr>
        <p:spPr>
          <a:xfrm>
            <a:off x="685800" y="411481"/>
            <a:ext cx="4112278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8. Example Operating Cycle</a:t>
            </a:r>
          </a:p>
        </p:txBody>
      </p:sp>
      <p:sp>
        <p:nvSpPr>
          <p:cNvPr id="276" name="TextBox 3"/>
          <p:cNvSpPr txBox="1"/>
          <p:nvPr/>
        </p:nvSpPr>
        <p:spPr>
          <a:xfrm>
            <a:off x="704087" y="1024128"/>
            <a:ext cx="2661415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Illustrative behaviour of the prototype</a:t>
            </a:r>
          </a:p>
        </p:txBody>
      </p:sp>
      <p:sp>
        <p:nvSpPr>
          <p:cNvPr id="277" name="Rounded Rectangle 4"/>
          <p:cNvSpPr/>
          <p:nvPr/>
        </p:nvSpPr>
        <p:spPr>
          <a:xfrm>
            <a:off x="685800" y="1828800"/>
            <a:ext cx="2331722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7913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TextBox 5"/>
          <p:cNvSpPr txBox="1"/>
          <p:nvPr/>
        </p:nvSpPr>
        <p:spPr>
          <a:xfrm>
            <a:off x="896112" y="2148839"/>
            <a:ext cx="1707389" cy="69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>
                <a:solidFill>
                  <a:srgbClr val="E7913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SOIL DRY</a:t>
            </a:r>
          </a:p>
          <a:p>
            <a:pPr>
              <a:spcBef>
                <a:spcPts val="12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Moisture below threshold</a:t>
            </a:r>
          </a:p>
        </p:txBody>
      </p:sp>
      <p:sp>
        <p:nvSpPr>
          <p:cNvPr id="279" name="Connector 6"/>
          <p:cNvSpPr/>
          <p:nvPr/>
        </p:nvSpPr>
        <p:spPr>
          <a:xfrm>
            <a:off x="3017520" y="2971800"/>
            <a:ext cx="502920" cy="0"/>
          </a:xfrm>
          <a:prstGeom prst="line">
            <a:avLst/>
          </a:prstGeom>
          <a:ln w="2540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" name="Rounded Rectangle 7"/>
          <p:cNvSpPr/>
          <p:nvPr/>
        </p:nvSpPr>
        <p:spPr>
          <a:xfrm>
            <a:off x="3520440" y="1828800"/>
            <a:ext cx="2331722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4915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TextBox 8"/>
          <p:cNvSpPr txBox="1"/>
          <p:nvPr/>
        </p:nvSpPr>
        <p:spPr>
          <a:xfrm>
            <a:off x="3730752" y="2148839"/>
            <a:ext cx="1392395" cy="69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PUMP ON</a:t>
            </a:r>
          </a:p>
          <a:p>
            <a:pPr>
              <a:spcBef>
                <a:spcPts val="12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Water for e.g. 5–10 s</a:t>
            </a:r>
          </a:p>
        </p:txBody>
      </p:sp>
      <p:sp>
        <p:nvSpPr>
          <p:cNvPr id="282" name="Connector 9"/>
          <p:cNvSpPr/>
          <p:nvPr/>
        </p:nvSpPr>
        <p:spPr>
          <a:xfrm>
            <a:off x="5852159" y="2971800"/>
            <a:ext cx="502920" cy="0"/>
          </a:xfrm>
          <a:prstGeom prst="line">
            <a:avLst/>
          </a:prstGeom>
          <a:ln w="2540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" name="Rounded Rectangle 10"/>
          <p:cNvSpPr/>
          <p:nvPr/>
        </p:nvSpPr>
        <p:spPr>
          <a:xfrm>
            <a:off x="6355079" y="1828800"/>
            <a:ext cx="2331722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8374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TextBox 11"/>
          <p:cNvSpPr txBox="1"/>
          <p:nvPr/>
        </p:nvSpPr>
        <p:spPr>
          <a:xfrm>
            <a:off x="6565390" y="2148839"/>
            <a:ext cx="1564143" cy="69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SOIL RECOVERS</a:t>
            </a:r>
          </a:p>
          <a:p>
            <a:pPr>
              <a:spcBef>
                <a:spcPts val="12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Wait and stabilize</a:t>
            </a:r>
          </a:p>
        </p:txBody>
      </p:sp>
      <p:sp>
        <p:nvSpPr>
          <p:cNvPr id="285" name="Connector 12"/>
          <p:cNvSpPr/>
          <p:nvPr/>
        </p:nvSpPr>
        <p:spPr>
          <a:xfrm>
            <a:off x="8686799" y="2971800"/>
            <a:ext cx="502922" cy="0"/>
          </a:xfrm>
          <a:prstGeom prst="line">
            <a:avLst/>
          </a:prstGeom>
          <a:ln w="25400">
            <a:solidFill>
              <a:srgbClr val="5A696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" name="Rounded Rectangle 13"/>
          <p:cNvSpPr/>
          <p:nvPr/>
        </p:nvSpPr>
        <p:spPr>
          <a:xfrm>
            <a:off x="9189718" y="1828800"/>
            <a:ext cx="2331722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5A696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TextBox 14"/>
          <p:cNvSpPr txBox="1"/>
          <p:nvPr/>
        </p:nvSpPr>
        <p:spPr>
          <a:xfrm>
            <a:off x="9400030" y="2148839"/>
            <a:ext cx="1387856" cy="69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PUMP OFF</a:t>
            </a:r>
          </a:p>
          <a:p>
            <a:pPr>
              <a:spcBef>
                <a:spcPts val="1200"/>
              </a:spcBef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Continue monitoring</a:t>
            </a:r>
          </a:p>
        </p:txBody>
      </p:sp>
      <p:sp>
        <p:nvSpPr>
          <p:cNvPr id="288" name="TextBox 15"/>
          <p:cNvSpPr txBox="1"/>
          <p:nvPr/>
        </p:nvSpPr>
        <p:spPr>
          <a:xfrm>
            <a:off x="717857" y="4754880"/>
            <a:ext cx="10725803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6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Important: the moisture threshold and pump duration should be calibrated experimentally for the selected plant, soil and pot.</a:t>
            </a:r>
          </a:p>
        </p:txBody>
      </p:sp>
      <p:sp>
        <p:nvSpPr>
          <p:cNvPr id="289" name="TextBox 16"/>
          <p:cNvSpPr txBox="1"/>
          <p:nvPr/>
        </p:nvSpPr>
        <p:spPr>
          <a:xfrm>
            <a:off x="11307211" y="6446521"/>
            <a:ext cx="168507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TextBox 2"/>
          <p:cNvSpPr txBox="1"/>
          <p:nvPr/>
        </p:nvSpPr>
        <p:spPr>
          <a:xfrm>
            <a:off x="685800" y="411481"/>
            <a:ext cx="4280876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9. Software &amp; User Interface</a:t>
            </a:r>
          </a:p>
        </p:txBody>
      </p:sp>
      <p:sp>
        <p:nvSpPr>
          <p:cNvPr id="293" name="TextBox 3"/>
          <p:cNvSpPr txBox="1"/>
          <p:nvPr/>
        </p:nvSpPr>
        <p:spPr>
          <a:xfrm>
            <a:off x="704087" y="1024128"/>
            <a:ext cx="3374376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From sensor readings to useful plant information</a:t>
            </a:r>
          </a:p>
        </p:txBody>
      </p:sp>
      <p:sp>
        <p:nvSpPr>
          <p:cNvPr id="294" name="Rounded Rectangle 4"/>
          <p:cNvSpPr/>
          <p:nvPr/>
        </p:nvSpPr>
        <p:spPr>
          <a:xfrm>
            <a:off x="731519" y="1554480"/>
            <a:ext cx="3383282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Rectangle 5"/>
          <p:cNvSpPr/>
          <p:nvPr/>
        </p:nvSpPr>
        <p:spPr>
          <a:xfrm>
            <a:off x="731519" y="1554478"/>
            <a:ext cx="73154" cy="356616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TextBox 6"/>
          <p:cNvSpPr txBox="1"/>
          <p:nvPr/>
        </p:nvSpPr>
        <p:spPr>
          <a:xfrm>
            <a:off x="978407" y="1719073"/>
            <a:ext cx="154291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ESP32 Firmware</a:t>
            </a:r>
          </a:p>
        </p:txBody>
      </p:sp>
      <p:sp>
        <p:nvSpPr>
          <p:cNvPr id="297" name="TextBox 7"/>
          <p:cNvSpPr txBox="1"/>
          <p:nvPr/>
        </p:nvSpPr>
        <p:spPr>
          <a:xfrm>
            <a:off x="978407" y="2176272"/>
            <a:ext cx="2907795" cy="1010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Sensor reading</a:t>
            </a:r>
            <a:br/>
            <a:r>
              <a:t>• Threshold comparison</a:t>
            </a:r>
            <a:br/>
            <a:r>
              <a:t>• Pump control</a:t>
            </a:r>
            <a:br/>
            <a:r>
              <a:t>• Timing &amp; safety checks</a:t>
            </a:r>
            <a:br/>
            <a:r>
              <a:t>• Serial monitoring</a:t>
            </a:r>
          </a:p>
        </p:txBody>
      </p:sp>
      <p:sp>
        <p:nvSpPr>
          <p:cNvPr id="298" name="Rounded Rectangle 8"/>
          <p:cNvSpPr/>
          <p:nvPr/>
        </p:nvSpPr>
        <p:spPr>
          <a:xfrm>
            <a:off x="4389120" y="1554480"/>
            <a:ext cx="3383280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Rectangle 9"/>
          <p:cNvSpPr/>
          <p:nvPr/>
        </p:nvSpPr>
        <p:spPr>
          <a:xfrm>
            <a:off x="4389120" y="1554478"/>
            <a:ext cx="73154" cy="3566162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TextBox 10"/>
          <p:cNvSpPr txBox="1"/>
          <p:nvPr/>
        </p:nvSpPr>
        <p:spPr>
          <a:xfrm>
            <a:off x="4636006" y="1719073"/>
            <a:ext cx="1835767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/ Connectivity</a:t>
            </a:r>
          </a:p>
        </p:txBody>
      </p:sp>
      <p:sp>
        <p:nvSpPr>
          <p:cNvPr id="301" name="TextBox 11"/>
          <p:cNvSpPr txBox="1"/>
          <p:nvPr/>
        </p:nvSpPr>
        <p:spPr>
          <a:xfrm>
            <a:off x="4636008" y="2176272"/>
            <a:ext cx="2907794" cy="1200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Option A: local OLED/LCD</a:t>
            </a:r>
            <a:br/>
            <a:br/>
            <a:r>
              <a:t>Option B: Wi‑Fi dashboard</a:t>
            </a:r>
            <a:br/>
            <a:br/>
            <a:r>
              <a:t>Possible data: moisture %, temperature, humidity, pump status, last watering time</a:t>
            </a:r>
          </a:p>
        </p:txBody>
      </p:sp>
      <p:sp>
        <p:nvSpPr>
          <p:cNvPr id="302" name="Rounded Rectangle 12"/>
          <p:cNvSpPr/>
          <p:nvPr/>
        </p:nvSpPr>
        <p:spPr>
          <a:xfrm>
            <a:off x="8046718" y="1554480"/>
            <a:ext cx="3383282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Rectangle 13"/>
          <p:cNvSpPr/>
          <p:nvPr/>
        </p:nvSpPr>
        <p:spPr>
          <a:xfrm>
            <a:off x="8046718" y="1554478"/>
            <a:ext cx="73154" cy="356616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TextBox 14"/>
          <p:cNvSpPr txBox="1"/>
          <p:nvPr/>
        </p:nvSpPr>
        <p:spPr>
          <a:xfrm>
            <a:off x="8293606" y="1719073"/>
            <a:ext cx="1573904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Alerts &amp; Insights</a:t>
            </a:r>
          </a:p>
        </p:txBody>
      </p:sp>
      <p:sp>
        <p:nvSpPr>
          <p:cNvPr id="305" name="TextBox 15"/>
          <p:cNvSpPr txBox="1"/>
          <p:nvPr/>
        </p:nvSpPr>
        <p:spPr>
          <a:xfrm>
            <a:off x="8293607" y="2176272"/>
            <a:ext cx="2907794" cy="1010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• Low water level</a:t>
            </a:r>
            <a:br/>
            <a:r>
              <a:t>• Very dry soil</a:t>
            </a:r>
            <a:br/>
            <a:r>
              <a:t>• Abnormal sensor values</a:t>
            </a:r>
            <a:br/>
            <a:r>
              <a:t>• Daily watering count</a:t>
            </a:r>
            <a:br/>
            <a:r>
              <a:t>• Historical trends</a:t>
            </a:r>
          </a:p>
        </p:txBody>
      </p:sp>
      <p:sp>
        <p:nvSpPr>
          <p:cNvPr id="306" name="TextBox 16"/>
          <p:cNvSpPr txBox="1"/>
          <p:nvPr/>
        </p:nvSpPr>
        <p:spPr>
          <a:xfrm>
            <a:off x="11242843" y="6446521"/>
            <a:ext cx="232875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TextBox 2"/>
          <p:cNvSpPr txBox="1"/>
          <p:nvPr/>
        </p:nvSpPr>
        <p:spPr>
          <a:xfrm>
            <a:off x="685799" y="411481"/>
            <a:ext cx="6568142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10. What Makes This a Strong MDP Project?</a:t>
            </a:r>
          </a:p>
        </p:txBody>
      </p:sp>
      <p:sp>
        <p:nvSpPr>
          <p:cNvPr id="310" name="TextBox 3"/>
          <p:cNvSpPr txBox="1"/>
          <p:nvPr/>
        </p:nvSpPr>
        <p:spPr>
          <a:xfrm>
            <a:off x="704087" y="1024128"/>
            <a:ext cx="4053963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The project can go beyond a basic automatic plant waterer.</a:t>
            </a:r>
          </a:p>
        </p:txBody>
      </p:sp>
      <p:sp>
        <p:nvSpPr>
          <p:cNvPr id="311" name="Rounded Rectangle 4"/>
          <p:cNvSpPr/>
          <p:nvPr/>
        </p:nvSpPr>
        <p:spPr>
          <a:xfrm>
            <a:off x="594359" y="1508760"/>
            <a:ext cx="3474723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Rectangle 5"/>
          <p:cNvSpPr/>
          <p:nvPr/>
        </p:nvSpPr>
        <p:spPr>
          <a:xfrm>
            <a:off x="594359" y="1508760"/>
            <a:ext cx="73154" cy="1874519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TextBox 6"/>
          <p:cNvSpPr txBox="1"/>
          <p:nvPr/>
        </p:nvSpPr>
        <p:spPr>
          <a:xfrm>
            <a:off x="841247" y="1673350"/>
            <a:ext cx="1840932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Embedded Systems</a:t>
            </a:r>
          </a:p>
        </p:txBody>
      </p:sp>
      <p:sp>
        <p:nvSpPr>
          <p:cNvPr id="314" name="TextBox 7"/>
          <p:cNvSpPr txBox="1"/>
          <p:nvPr/>
        </p:nvSpPr>
        <p:spPr>
          <a:xfrm>
            <a:off x="841246" y="2130551"/>
            <a:ext cx="2999235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Real-time sensor acquisition and actuator control.</a:t>
            </a:r>
          </a:p>
        </p:txBody>
      </p:sp>
      <p:sp>
        <p:nvSpPr>
          <p:cNvPr id="315" name="Rounded Rectangle 8"/>
          <p:cNvSpPr/>
          <p:nvPr/>
        </p:nvSpPr>
        <p:spPr>
          <a:xfrm>
            <a:off x="4434840" y="1508760"/>
            <a:ext cx="3474722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Rectangle 9"/>
          <p:cNvSpPr/>
          <p:nvPr/>
        </p:nvSpPr>
        <p:spPr>
          <a:xfrm>
            <a:off x="4434840" y="1508760"/>
            <a:ext cx="73154" cy="1874519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TextBox 10"/>
          <p:cNvSpPr txBox="1"/>
          <p:nvPr/>
        </p:nvSpPr>
        <p:spPr>
          <a:xfrm>
            <a:off x="4681728" y="1673350"/>
            <a:ext cx="384661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IoT</a:t>
            </a:r>
          </a:p>
        </p:txBody>
      </p:sp>
      <p:sp>
        <p:nvSpPr>
          <p:cNvPr id="318" name="TextBox 11"/>
          <p:cNvSpPr txBox="1"/>
          <p:nvPr/>
        </p:nvSpPr>
        <p:spPr>
          <a:xfrm>
            <a:off x="4681728" y="2130551"/>
            <a:ext cx="2999234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ESP32 enables remote monitoring and data logging.</a:t>
            </a:r>
          </a:p>
        </p:txBody>
      </p:sp>
      <p:sp>
        <p:nvSpPr>
          <p:cNvPr id="319" name="Rounded Rectangle 12"/>
          <p:cNvSpPr/>
          <p:nvPr/>
        </p:nvSpPr>
        <p:spPr>
          <a:xfrm>
            <a:off x="8275318" y="1508760"/>
            <a:ext cx="3474722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Rectangle 13"/>
          <p:cNvSpPr/>
          <p:nvPr/>
        </p:nvSpPr>
        <p:spPr>
          <a:xfrm>
            <a:off x="8275318" y="1508760"/>
            <a:ext cx="73154" cy="1874519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TextBox 14"/>
          <p:cNvSpPr txBox="1"/>
          <p:nvPr/>
        </p:nvSpPr>
        <p:spPr>
          <a:xfrm>
            <a:off x="8522207" y="1673350"/>
            <a:ext cx="1179633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Automation</a:t>
            </a:r>
          </a:p>
        </p:txBody>
      </p:sp>
      <p:sp>
        <p:nvSpPr>
          <p:cNvPr id="322" name="TextBox 15"/>
          <p:cNvSpPr txBox="1"/>
          <p:nvPr/>
        </p:nvSpPr>
        <p:spPr>
          <a:xfrm>
            <a:off x="8522207" y="2130551"/>
            <a:ext cx="2999234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Closed-loop control reduces unnecessary watering.</a:t>
            </a:r>
          </a:p>
        </p:txBody>
      </p:sp>
      <p:sp>
        <p:nvSpPr>
          <p:cNvPr id="323" name="Rounded Rectangle 16"/>
          <p:cNvSpPr/>
          <p:nvPr/>
        </p:nvSpPr>
        <p:spPr>
          <a:xfrm>
            <a:off x="594359" y="3840479"/>
            <a:ext cx="3474723" cy="1874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Rectangle 17"/>
          <p:cNvSpPr/>
          <p:nvPr/>
        </p:nvSpPr>
        <p:spPr>
          <a:xfrm>
            <a:off x="594359" y="3840479"/>
            <a:ext cx="73154" cy="1874519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TextBox 18"/>
          <p:cNvSpPr txBox="1"/>
          <p:nvPr/>
        </p:nvSpPr>
        <p:spPr>
          <a:xfrm>
            <a:off x="841246" y="4005072"/>
            <a:ext cx="130539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Analysis</a:t>
            </a:r>
          </a:p>
        </p:txBody>
      </p:sp>
      <p:sp>
        <p:nvSpPr>
          <p:cNvPr id="326" name="TextBox 19"/>
          <p:cNvSpPr txBox="1"/>
          <p:nvPr/>
        </p:nvSpPr>
        <p:spPr>
          <a:xfrm>
            <a:off x="841246" y="4462272"/>
            <a:ext cx="2999235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Use trends to study plant/environment conditions.</a:t>
            </a:r>
          </a:p>
        </p:txBody>
      </p:sp>
      <p:sp>
        <p:nvSpPr>
          <p:cNvPr id="327" name="Rounded Rectangle 20"/>
          <p:cNvSpPr/>
          <p:nvPr/>
        </p:nvSpPr>
        <p:spPr>
          <a:xfrm>
            <a:off x="4434840" y="3840479"/>
            <a:ext cx="3474722" cy="1874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Rectangle 21"/>
          <p:cNvSpPr/>
          <p:nvPr/>
        </p:nvSpPr>
        <p:spPr>
          <a:xfrm>
            <a:off x="4434840" y="3840479"/>
            <a:ext cx="73154" cy="1874519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TextBox 22"/>
          <p:cNvSpPr txBox="1"/>
          <p:nvPr/>
        </p:nvSpPr>
        <p:spPr>
          <a:xfrm>
            <a:off x="4681728" y="4005072"/>
            <a:ext cx="181289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Engineering Design</a:t>
            </a:r>
          </a:p>
        </p:txBody>
      </p:sp>
      <p:sp>
        <p:nvSpPr>
          <p:cNvPr id="330" name="TextBox 23"/>
          <p:cNvSpPr txBox="1"/>
          <p:nvPr/>
        </p:nvSpPr>
        <p:spPr>
          <a:xfrm>
            <a:off x="4681728" y="4462272"/>
            <a:ext cx="299923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Requires hardware integration, power management and calibration.</a:t>
            </a:r>
          </a:p>
        </p:txBody>
      </p:sp>
      <p:sp>
        <p:nvSpPr>
          <p:cNvPr id="331" name="Rounded Rectangle 24"/>
          <p:cNvSpPr/>
          <p:nvPr/>
        </p:nvSpPr>
        <p:spPr>
          <a:xfrm>
            <a:off x="8275318" y="3840479"/>
            <a:ext cx="3474722" cy="1874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Rectangle 25"/>
          <p:cNvSpPr/>
          <p:nvPr/>
        </p:nvSpPr>
        <p:spPr>
          <a:xfrm>
            <a:off x="8275318" y="3840479"/>
            <a:ext cx="73154" cy="1874519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TextBox 26"/>
          <p:cNvSpPr txBox="1"/>
          <p:nvPr/>
        </p:nvSpPr>
        <p:spPr>
          <a:xfrm>
            <a:off x="8522207" y="4005072"/>
            <a:ext cx="1013491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Scalability</a:t>
            </a:r>
          </a:p>
        </p:txBody>
      </p:sp>
      <p:sp>
        <p:nvSpPr>
          <p:cNvPr id="334" name="TextBox 27"/>
          <p:cNvSpPr txBox="1"/>
          <p:nvPr/>
        </p:nvSpPr>
        <p:spPr>
          <a:xfrm>
            <a:off x="8522207" y="4462272"/>
            <a:ext cx="2999234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Can be extended from one plant to multiple plants/zones.</a:t>
            </a:r>
          </a:p>
        </p:txBody>
      </p:sp>
      <p:sp>
        <p:nvSpPr>
          <p:cNvPr id="335" name="TextBox 28"/>
          <p:cNvSpPr txBox="1"/>
          <p:nvPr/>
        </p:nvSpPr>
        <p:spPr>
          <a:xfrm>
            <a:off x="11242843" y="6446521"/>
            <a:ext cx="232875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TextBox 2"/>
          <p:cNvSpPr txBox="1"/>
          <p:nvPr/>
        </p:nvSpPr>
        <p:spPr>
          <a:xfrm>
            <a:off x="685799" y="411481"/>
            <a:ext cx="4093527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11. Possible Enhancements</a:t>
            </a:r>
          </a:p>
        </p:txBody>
      </p:sp>
      <p:sp>
        <p:nvSpPr>
          <p:cNvPr id="339" name="TextBox 3"/>
          <p:cNvSpPr txBox="1"/>
          <p:nvPr/>
        </p:nvSpPr>
        <p:spPr>
          <a:xfrm>
            <a:off x="704086" y="1024128"/>
            <a:ext cx="4858987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Features that can raise the project from a prototype to a stronger MDP.</a:t>
            </a:r>
          </a:p>
        </p:txBody>
      </p:sp>
      <p:sp>
        <p:nvSpPr>
          <p:cNvPr id="340" name="Rounded Rectangle 4"/>
          <p:cNvSpPr/>
          <p:nvPr/>
        </p:nvSpPr>
        <p:spPr>
          <a:xfrm>
            <a:off x="731519" y="1417319"/>
            <a:ext cx="5257802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Rectangle 5"/>
          <p:cNvSpPr/>
          <p:nvPr/>
        </p:nvSpPr>
        <p:spPr>
          <a:xfrm>
            <a:off x="731519" y="1417319"/>
            <a:ext cx="73154" cy="1143001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TextBox 6"/>
          <p:cNvSpPr txBox="1"/>
          <p:nvPr/>
        </p:nvSpPr>
        <p:spPr>
          <a:xfrm>
            <a:off x="978406" y="1581912"/>
            <a:ext cx="1831234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Water-Level Sensor</a:t>
            </a:r>
          </a:p>
        </p:txBody>
      </p:sp>
      <p:sp>
        <p:nvSpPr>
          <p:cNvPr id="343" name="TextBox 7"/>
          <p:cNvSpPr txBox="1"/>
          <p:nvPr/>
        </p:nvSpPr>
        <p:spPr>
          <a:xfrm>
            <a:off x="978407" y="2039111"/>
            <a:ext cx="478231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Prevent dry-running the pump.</a:t>
            </a:r>
          </a:p>
        </p:txBody>
      </p:sp>
      <p:sp>
        <p:nvSpPr>
          <p:cNvPr id="344" name="Rounded Rectangle 8"/>
          <p:cNvSpPr/>
          <p:nvPr/>
        </p:nvSpPr>
        <p:spPr>
          <a:xfrm>
            <a:off x="6400800" y="1417319"/>
            <a:ext cx="5257800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Rectangle 9"/>
          <p:cNvSpPr/>
          <p:nvPr/>
        </p:nvSpPr>
        <p:spPr>
          <a:xfrm>
            <a:off x="6400798" y="1417319"/>
            <a:ext cx="73155" cy="1143001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TextBox 10"/>
          <p:cNvSpPr txBox="1"/>
          <p:nvPr/>
        </p:nvSpPr>
        <p:spPr>
          <a:xfrm>
            <a:off x="6647688" y="1581912"/>
            <a:ext cx="1193864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Light Sensor</a:t>
            </a:r>
          </a:p>
        </p:txBody>
      </p:sp>
      <p:sp>
        <p:nvSpPr>
          <p:cNvPr id="347" name="TextBox 11"/>
          <p:cNvSpPr txBox="1"/>
          <p:nvPr/>
        </p:nvSpPr>
        <p:spPr>
          <a:xfrm>
            <a:off x="6647687" y="2039111"/>
            <a:ext cx="4782315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Relate plant conditions to available light.</a:t>
            </a:r>
          </a:p>
        </p:txBody>
      </p:sp>
      <p:sp>
        <p:nvSpPr>
          <p:cNvPr id="348" name="Rounded Rectangle 12"/>
          <p:cNvSpPr/>
          <p:nvPr/>
        </p:nvSpPr>
        <p:spPr>
          <a:xfrm>
            <a:off x="731519" y="2834638"/>
            <a:ext cx="5257802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Rectangle 13"/>
          <p:cNvSpPr/>
          <p:nvPr/>
        </p:nvSpPr>
        <p:spPr>
          <a:xfrm>
            <a:off x="731519" y="2834639"/>
            <a:ext cx="73154" cy="1143001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TextBox 14"/>
          <p:cNvSpPr txBox="1"/>
          <p:nvPr/>
        </p:nvSpPr>
        <p:spPr>
          <a:xfrm>
            <a:off x="978407" y="2999233"/>
            <a:ext cx="1155491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Rain Sensor</a:t>
            </a:r>
          </a:p>
        </p:txBody>
      </p:sp>
      <p:sp>
        <p:nvSpPr>
          <p:cNvPr id="351" name="TextBox 15"/>
          <p:cNvSpPr txBox="1"/>
          <p:nvPr/>
        </p:nvSpPr>
        <p:spPr>
          <a:xfrm>
            <a:off x="978407" y="3456433"/>
            <a:ext cx="478231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Avoid unnecessary outdoor watering.</a:t>
            </a:r>
          </a:p>
        </p:txBody>
      </p:sp>
      <p:sp>
        <p:nvSpPr>
          <p:cNvPr id="352" name="Rounded Rectangle 16"/>
          <p:cNvSpPr/>
          <p:nvPr/>
        </p:nvSpPr>
        <p:spPr>
          <a:xfrm>
            <a:off x="6400800" y="2834638"/>
            <a:ext cx="5257800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Rectangle 17"/>
          <p:cNvSpPr/>
          <p:nvPr/>
        </p:nvSpPr>
        <p:spPr>
          <a:xfrm>
            <a:off x="6400798" y="2834639"/>
            <a:ext cx="73155" cy="1143001"/>
          </a:xfrm>
          <a:prstGeom prst="rect">
            <a:avLst/>
          </a:prstGeom>
          <a:solidFill>
            <a:srgbClr val="5A696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TextBox 18"/>
          <p:cNvSpPr txBox="1"/>
          <p:nvPr/>
        </p:nvSpPr>
        <p:spPr>
          <a:xfrm>
            <a:off x="6647688" y="2999233"/>
            <a:ext cx="1955207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Multiple Plant Zones</a:t>
            </a:r>
          </a:p>
        </p:txBody>
      </p:sp>
      <p:sp>
        <p:nvSpPr>
          <p:cNvPr id="355" name="TextBox 19"/>
          <p:cNvSpPr txBox="1"/>
          <p:nvPr/>
        </p:nvSpPr>
        <p:spPr>
          <a:xfrm>
            <a:off x="6647687" y="3456433"/>
            <a:ext cx="4782315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Different moisture thresholds for different plants.</a:t>
            </a:r>
          </a:p>
        </p:txBody>
      </p:sp>
      <p:sp>
        <p:nvSpPr>
          <p:cNvPr id="356" name="Rounded Rectangle 20"/>
          <p:cNvSpPr/>
          <p:nvPr/>
        </p:nvSpPr>
        <p:spPr>
          <a:xfrm>
            <a:off x="731519" y="4251959"/>
            <a:ext cx="5257802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Rectangle 21"/>
          <p:cNvSpPr/>
          <p:nvPr/>
        </p:nvSpPr>
        <p:spPr>
          <a:xfrm>
            <a:off x="731519" y="4251959"/>
            <a:ext cx="73154" cy="1143002"/>
          </a:xfrm>
          <a:prstGeom prst="rect">
            <a:avLst/>
          </a:prstGeom>
          <a:solidFill>
            <a:srgbClr val="3491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TextBox 22"/>
          <p:cNvSpPr txBox="1"/>
          <p:nvPr/>
        </p:nvSpPr>
        <p:spPr>
          <a:xfrm>
            <a:off x="978407" y="4416553"/>
            <a:ext cx="2266723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Mobile/Web Dashboard</a:t>
            </a:r>
          </a:p>
        </p:txBody>
      </p:sp>
      <p:sp>
        <p:nvSpPr>
          <p:cNvPr id="359" name="TextBox 23"/>
          <p:cNvSpPr txBox="1"/>
          <p:nvPr/>
        </p:nvSpPr>
        <p:spPr>
          <a:xfrm>
            <a:off x="978407" y="4873753"/>
            <a:ext cx="478231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View live readings and control modes.</a:t>
            </a:r>
          </a:p>
        </p:txBody>
      </p:sp>
      <p:sp>
        <p:nvSpPr>
          <p:cNvPr id="360" name="Rounded Rectangle 24"/>
          <p:cNvSpPr/>
          <p:nvPr/>
        </p:nvSpPr>
        <p:spPr>
          <a:xfrm>
            <a:off x="6400800" y="4251959"/>
            <a:ext cx="5257800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Rectangle 25"/>
          <p:cNvSpPr/>
          <p:nvPr/>
        </p:nvSpPr>
        <p:spPr>
          <a:xfrm>
            <a:off x="6400798" y="4251959"/>
            <a:ext cx="73155" cy="1143002"/>
          </a:xfrm>
          <a:prstGeom prst="rect">
            <a:avLst/>
          </a:prstGeom>
          <a:solidFill>
            <a:srgbClr val="E791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TextBox 26"/>
          <p:cNvSpPr txBox="1"/>
          <p:nvPr/>
        </p:nvSpPr>
        <p:spPr>
          <a:xfrm>
            <a:off x="6647687" y="4416553"/>
            <a:ext cx="2769050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Prediction / Smart Scheduling</a:t>
            </a:r>
          </a:p>
        </p:txBody>
      </p:sp>
      <p:sp>
        <p:nvSpPr>
          <p:cNvPr id="363" name="TextBox 27"/>
          <p:cNvSpPr txBox="1"/>
          <p:nvPr/>
        </p:nvSpPr>
        <p:spPr>
          <a:xfrm>
            <a:off x="6647687" y="4873753"/>
            <a:ext cx="4782315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Use historical data to improve watering decisions.</a:t>
            </a:r>
          </a:p>
        </p:txBody>
      </p:sp>
      <p:sp>
        <p:nvSpPr>
          <p:cNvPr id="364" name="TextBox 28"/>
          <p:cNvSpPr txBox="1"/>
          <p:nvPr/>
        </p:nvSpPr>
        <p:spPr>
          <a:xfrm>
            <a:off x="11242843" y="6446521"/>
            <a:ext cx="232875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7F9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TextBox 2"/>
          <p:cNvSpPr txBox="1"/>
          <p:nvPr/>
        </p:nvSpPr>
        <p:spPr>
          <a:xfrm>
            <a:off x="685800" y="411481"/>
            <a:ext cx="4121307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8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12. Development Roadmap</a:t>
            </a:r>
          </a:p>
        </p:txBody>
      </p:sp>
      <p:sp>
        <p:nvSpPr>
          <p:cNvPr id="368" name="TextBox 3"/>
          <p:cNvSpPr txBox="1"/>
          <p:nvPr/>
        </p:nvSpPr>
        <p:spPr>
          <a:xfrm>
            <a:off x="704087" y="1024128"/>
            <a:ext cx="4292826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Build the project in stages so a working prototype comes early.</a:t>
            </a:r>
          </a:p>
        </p:txBody>
      </p:sp>
      <p:sp>
        <p:nvSpPr>
          <p:cNvPr id="369" name="Rounded Rectangle 4"/>
          <p:cNvSpPr/>
          <p:nvPr/>
        </p:nvSpPr>
        <p:spPr>
          <a:xfrm>
            <a:off x="731519" y="1325880"/>
            <a:ext cx="10789922" cy="5669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TextBox 5"/>
          <p:cNvSpPr txBox="1"/>
          <p:nvPr/>
        </p:nvSpPr>
        <p:spPr>
          <a:xfrm>
            <a:off x="960119" y="1408175"/>
            <a:ext cx="632089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371" name="TextBox 6"/>
          <p:cNvSpPr txBox="1"/>
          <p:nvPr/>
        </p:nvSpPr>
        <p:spPr>
          <a:xfrm>
            <a:off x="2011678" y="1399033"/>
            <a:ext cx="1898337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ESP32 + soil moisture sensor</a:t>
            </a:r>
          </a:p>
        </p:txBody>
      </p:sp>
      <p:sp>
        <p:nvSpPr>
          <p:cNvPr id="372" name="TextBox 7"/>
          <p:cNvSpPr txBox="1"/>
          <p:nvPr/>
        </p:nvSpPr>
        <p:spPr>
          <a:xfrm>
            <a:off x="5303520" y="1399033"/>
            <a:ext cx="229868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Read and calibrate moisture values.</a:t>
            </a:r>
          </a:p>
        </p:txBody>
      </p:sp>
      <p:sp>
        <p:nvSpPr>
          <p:cNvPr id="373" name="Rounded Rectangle 8"/>
          <p:cNvSpPr/>
          <p:nvPr/>
        </p:nvSpPr>
        <p:spPr>
          <a:xfrm>
            <a:off x="731519" y="2075688"/>
            <a:ext cx="10789922" cy="5669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TextBox 9"/>
          <p:cNvSpPr txBox="1"/>
          <p:nvPr/>
        </p:nvSpPr>
        <p:spPr>
          <a:xfrm>
            <a:off x="960119" y="2157984"/>
            <a:ext cx="63208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375" name="TextBox 10"/>
          <p:cNvSpPr txBox="1"/>
          <p:nvPr/>
        </p:nvSpPr>
        <p:spPr>
          <a:xfrm>
            <a:off x="2011678" y="2148839"/>
            <a:ext cx="128360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Add pump + driver</a:t>
            </a:r>
          </a:p>
        </p:txBody>
      </p:sp>
      <p:sp>
        <p:nvSpPr>
          <p:cNvPr id="376" name="TextBox 11"/>
          <p:cNvSpPr txBox="1"/>
          <p:nvPr/>
        </p:nvSpPr>
        <p:spPr>
          <a:xfrm>
            <a:off x="5303520" y="2148839"/>
            <a:ext cx="2489407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Implement automatic ON/OFF control.</a:t>
            </a:r>
          </a:p>
        </p:txBody>
      </p:sp>
      <p:sp>
        <p:nvSpPr>
          <p:cNvPr id="377" name="Rounded Rectangle 12"/>
          <p:cNvSpPr/>
          <p:nvPr/>
        </p:nvSpPr>
        <p:spPr>
          <a:xfrm>
            <a:off x="731519" y="2825494"/>
            <a:ext cx="10789922" cy="5669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8" name="TextBox 13"/>
          <p:cNvSpPr txBox="1"/>
          <p:nvPr/>
        </p:nvSpPr>
        <p:spPr>
          <a:xfrm>
            <a:off x="960119" y="2907790"/>
            <a:ext cx="632089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379" name="TextBox 14"/>
          <p:cNvSpPr txBox="1"/>
          <p:nvPr/>
        </p:nvSpPr>
        <p:spPr>
          <a:xfrm>
            <a:off x="2011678" y="2898649"/>
            <a:ext cx="182779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Add temperature/humidity</a:t>
            </a:r>
          </a:p>
        </p:txBody>
      </p:sp>
      <p:sp>
        <p:nvSpPr>
          <p:cNvPr id="380" name="TextBox 15"/>
          <p:cNvSpPr txBox="1"/>
          <p:nvPr/>
        </p:nvSpPr>
        <p:spPr>
          <a:xfrm>
            <a:off x="5303520" y="2898649"/>
            <a:ext cx="197409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Log environmental conditions.</a:t>
            </a:r>
          </a:p>
        </p:txBody>
      </p:sp>
      <p:sp>
        <p:nvSpPr>
          <p:cNvPr id="381" name="Rounded Rectangle 16"/>
          <p:cNvSpPr/>
          <p:nvPr/>
        </p:nvSpPr>
        <p:spPr>
          <a:xfrm>
            <a:off x="731519" y="3575303"/>
            <a:ext cx="10789922" cy="5669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2" name="TextBox 17"/>
          <p:cNvSpPr txBox="1"/>
          <p:nvPr/>
        </p:nvSpPr>
        <p:spPr>
          <a:xfrm>
            <a:off x="960119" y="3657599"/>
            <a:ext cx="632089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383" name="TextBox 18"/>
          <p:cNvSpPr txBox="1"/>
          <p:nvPr/>
        </p:nvSpPr>
        <p:spPr>
          <a:xfrm>
            <a:off x="2011678" y="3648455"/>
            <a:ext cx="1369327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Dashboard / display</a:t>
            </a:r>
          </a:p>
        </p:txBody>
      </p:sp>
      <p:sp>
        <p:nvSpPr>
          <p:cNvPr id="384" name="TextBox 19"/>
          <p:cNvSpPr txBox="1"/>
          <p:nvPr/>
        </p:nvSpPr>
        <p:spPr>
          <a:xfrm>
            <a:off x="5303520" y="3648455"/>
            <a:ext cx="2287149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Show live data and watering status.</a:t>
            </a:r>
          </a:p>
        </p:txBody>
      </p:sp>
      <p:sp>
        <p:nvSpPr>
          <p:cNvPr id="385" name="Rounded Rectangle 20"/>
          <p:cNvSpPr/>
          <p:nvPr/>
        </p:nvSpPr>
        <p:spPr>
          <a:xfrm>
            <a:off x="731519" y="4325110"/>
            <a:ext cx="10789922" cy="5669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6" name="TextBox 21"/>
          <p:cNvSpPr txBox="1"/>
          <p:nvPr/>
        </p:nvSpPr>
        <p:spPr>
          <a:xfrm>
            <a:off x="960119" y="4407407"/>
            <a:ext cx="632089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5</a:t>
            </a:r>
          </a:p>
        </p:txBody>
      </p:sp>
      <p:sp>
        <p:nvSpPr>
          <p:cNvPr id="387" name="TextBox 22"/>
          <p:cNvSpPr txBox="1"/>
          <p:nvPr/>
        </p:nvSpPr>
        <p:spPr>
          <a:xfrm>
            <a:off x="2011678" y="4398265"/>
            <a:ext cx="139619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Testing &amp; calibration</a:t>
            </a:r>
          </a:p>
        </p:txBody>
      </p:sp>
      <p:sp>
        <p:nvSpPr>
          <p:cNvPr id="388" name="TextBox 23"/>
          <p:cNvSpPr txBox="1"/>
          <p:nvPr/>
        </p:nvSpPr>
        <p:spPr>
          <a:xfrm>
            <a:off x="5303520" y="4398265"/>
            <a:ext cx="3269043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Compare watering strategies and refine thresholds.</a:t>
            </a:r>
          </a:p>
        </p:txBody>
      </p:sp>
      <p:sp>
        <p:nvSpPr>
          <p:cNvPr id="389" name="Rounded Rectangle 24"/>
          <p:cNvSpPr/>
          <p:nvPr/>
        </p:nvSpPr>
        <p:spPr>
          <a:xfrm>
            <a:off x="731519" y="5074920"/>
            <a:ext cx="10789922" cy="5669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D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0" name="TextBox 25"/>
          <p:cNvSpPr txBox="1"/>
          <p:nvPr/>
        </p:nvSpPr>
        <p:spPr>
          <a:xfrm>
            <a:off x="960119" y="5157216"/>
            <a:ext cx="63208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300">
                <a:solidFill>
                  <a:srgbClr val="34915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6</a:t>
            </a:r>
          </a:p>
        </p:txBody>
      </p:sp>
      <p:sp>
        <p:nvSpPr>
          <p:cNvPr id="391" name="TextBox 26"/>
          <p:cNvSpPr txBox="1"/>
          <p:nvPr/>
        </p:nvSpPr>
        <p:spPr>
          <a:xfrm>
            <a:off x="2011678" y="5148072"/>
            <a:ext cx="80482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18374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Final demo</a:t>
            </a:r>
          </a:p>
        </p:txBody>
      </p:sp>
      <p:sp>
        <p:nvSpPr>
          <p:cNvPr id="392" name="TextBox 27"/>
          <p:cNvSpPr txBox="1"/>
          <p:nvPr/>
        </p:nvSpPr>
        <p:spPr>
          <a:xfrm>
            <a:off x="5303520" y="5148072"/>
            <a:ext cx="3677279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232D2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Package hardware, enclosure, documentation and results.</a:t>
            </a:r>
          </a:p>
        </p:txBody>
      </p:sp>
      <p:sp>
        <p:nvSpPr>
          <p:cNvPr id="393" name="TextBox 28"/>
          <p:cNvSpPr txBox="1"/>
          <p:nvPr/>
        </p:nvSpPr>
        <p:spPr>
          <a:xfrm>
            <a:off x="11242843" y="6446521"/>
            <a:ext cx="232875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837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6" name="TextBox 2"/>
          <p:cNvSpPr txBox="1"/>
          <p:nvPr/>
        </p:nvSpPr>
        <p:spPr>
          <a:xfrm>
            <a:off x="868680" y="1143000"/>
            <a:ext cx="2757595" cy="634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97" name="TextBox 3"/>
          <p:cNvSpPr txBox="1"/>
          <p:nvPr/>
        </p:nvSpPr>
        <p:spPr>
          <a:xfrm>
            <a:off x="914398" y="2514600"/>
            <a:ext cx="6162486" cy="86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400">
                <a:solidFill>
                  <a:srgbClr val="E1F3E7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Smart irrigation is not just about watering plants.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It is about using data to make better decisions.</a:t>
            </a:r>
          </a:p>
        </p:txBody>
      </p:sp>
      <p:sp>
        <p:nvSpPr>
          <p:cNvPr id="398" name="TextBox 5"/>
          <p:cNvSpPr txBox="1"/>
          <p:nvPr/>
        </p:nvSpPr>
        <p:spPr>
          <a:xfrm>
            <a:off x="11242843" y="6446521"/>
            <a:ext cx="232875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1000">
                <a:solidFill>
                  <a:srgbClr val="5A696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