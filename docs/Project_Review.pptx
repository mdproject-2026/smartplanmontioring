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22e3f1ab-6738-90f7-e253-663f1f9b8a48}">
          <p14:sldIdLst>
            <p14:sldId id="256"/>
          </p14:sldIdLst>
        </p14:section>
        <p14:section name="Introduction" id="{6c86651d-c258-f6c5-042e-0bf4d470bc41}">
          <p14:sldIdLst>
            <p14:sldId id="257"/>
          </p14:sldIdLst>
        </p14:section>
        <p14:section name="Literature survey" id="{8ee510a8-a915-dcc3-1828-125e2b6fafa9}">
          <p14:sldIdLst>
            <p14:sldId id="258"/>
            <p14:sldId id="259"/>
            <p14:sldId id="260"/>
          </p14:sldIdLst>
        </p14:section>
        <p14:section name="Problem &amp; objectives" id="{dd532757-59d8-3d66-d2c8-5e208c287e5e}">
          <p14:sldIdLst>
            <p14:sldId id="261"/>
            <p14:sldId id="262"/>
          </p14:sldIdLst>
        </p14:section>
        <p14:section name="System design" id="{f25f24d6-b340-3229-3072-e60122d7c2d6}">
          <p14:sldIdLst>
            <p14:sldId id="263"/>
            <p14:sldId id="264"/>
          </p14:sldIdLst>
        </p14:section>
        <p14:section name="Implementation" id="{a804eb71-8bae-e355-31fc-1c4f4d324a7c}">
          <p14:sldIdLst>
            <p14:sldId id="265"/>
            <p14:sldId id="266"/>
          </p14:sldIdLst>
        </p14:section>
        <p14:section name="Results" id="{9804a768-ac52-0930-b3dd-256abe14b3f4}">
          <p14:sldIdLst>
            <p14:sldId id="267"/>
            <p14:sldId id="268"/>
            <p14:sldId id="269"/>
            <p14:sldId id="270"/>
          </p14:sldIdLst>
        </p14:section>
        <p14:section name="Conclusion" id="{e23d72b3-9580-0fce-5900-f28d90625ec3}">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Closed loop (ours)</c:v>
                </c:pt>
              </c:strCache>
            </c:strRef>
          </c:tx>
          <c:spPr>
            <a:solidFill>
              <a:srgbClr val="6CC08B"/>
            </a:solidFill>
            <a:ln w="25400" cap="flat">
              <a:solidFill>
                <a:srgbClr val="6CC08B"/>
              </a:solidFill>
              <a:prstDash val="solid,solid,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CC08B"/>
              </a:solidFill>
              <a:ln w="9525" cap="flat">
                <a:solidFill>
                  <a:srgbClr val="6CC08B"/>
                </a:solidFill>
                <a:prstDash val="solid"/>
                <a:round/>
              </a:ln>
              <a:effectLst/>
            </c:spPr>
          </c:marker>
          <c:cat>
            <c:multiLvlStrRef>
              <c:f>Sheet1!$A$2:$A$98</c:f>
              <c:multiLvlStrCache>
                <c:ptCount val="97"/>
                <c:lvl>
                  <c:pt idx="0">
                    <c:v>0 h</c:v>
                  </c:pt>
                  <c:pt idx="1">
                    <c:v/>
                  </c:pt>
                  <c:pt idx="2">
                    <c:v/>
                  </c:pt>
                  <c:pt idx="3">
                    <c:v/>
                  </c:pt>
                  <c:pt idx="4">
                    <c:v/>
                  </c:pt>
                  <c:pt idx="5">
                    <c:v/>
                  </c:pt>
                  <c:pt idx="6">
                    <c:v/>
                  </c:pt>
                  <c:pt idx="7">
                    <c:v/>
                  </c:pt>
                  <c:pt idx="8">
                    <c:v/>
                  </c:pt>
                  <c:pt idx="9">
                    <c:v/>
                  </c:pt>
                  <c:pt idx="10">
                    <c:v/>
                  </c:pt>
                  <c:pt idx="11">
                    <c:v/>
                  </c:pt>
                  <c:pt idx="12">
                    <c:v>6 h</c:v>
                  </c:pt>
                  <c:pt idx="13">
                    <c:v/>
                  </c:pt>
                  <c:pt idx="14">
                    <c:v/>
                  </c:pt>
                  <c:pt idx="15">
                    <c:v/>
                  </c:pt>
                  <c:pt idx="16">
                    <c:v/>
                  </c:pt>
                  <c:pt idx="17">
                    <c:v/>
                  </c:pt>
                  <c:pt idx="18">
                    <c:v/>
                  </c:pt>
                  <c:pt idx="19">
                    <c:v/>
                  </c:pt>
                  <c:pt idx="20">
                    <c:v/>
                  </c:pt>
                  <c:pt idx="21">
                    <c:v/>
                  </c:pt>
                  <c:pt idx="22">
                    <c:v/>
                  </c:pt>
                  <c:pt idx="23">
                    <c:v/>
                  </c:pt>
                  <c:pt idx="24">
                    <c:v>12 h</c:v>
                  </c:pt>
                  <c:pt idx="25">
                    <c:v/>
                  </c:pt>
                  <c:pt idx="26">
                    <c:v/>
                  </c:pt>
                  <c:pt idx="27">
                    <c:v/>
                  </c:pt>
                  <c:pt idx="28">
                    <c:v/>
                  </c:pt>
                  <c:pt idx="29">
                    <c:v/>
                  </c:pt>
                  <c:pt idx="30">
                    <c:v/>
                  </c:pt>
                  <c:pt idx="31">
                    <c:v/>
                  </c:pt>
                  <c:pt idx="32">
                    <c:v/>
                  </c:pt>
                  <c:pt idx="33">
                    <c:v/>
                  </c:pt>
                  <c:pt idx="34">
                    <c:v/>
                  </c:pt>
                  <c:pt idx="35">
                    <c:v/>
                  </c:pt>
                  <c:pt idx="36">
                    <c:v>18 h</c:v>
                  </c:pt>
                  <c:pt idx="37">
                    <c:v/>
                  </c:pt>
                  <c:pt idx="38">
                    <c:v/>
                  </c:pt>
                  <c:pt idx="39">
                    <c:v/>
                  </c:pt>
                  <c:pt idx="40">
                    <c:v/>
                  </c:pt>
                  <c:pt idx="41">
                    <c:v/>
                  </c:pt>
                  <c:pt idx="42">
                    <c:v/>
                  </c:pt>
                  <c:pt idx="43">
                    <c:v/>
                  </c:pt>
                  <c:pt idx="44">
                    <c:v/>
                  </c:pt>
                  <c:pt idx="45">
                    <c:v/>
                  </c:pt>
                  <c:pt idx="46">
                    <c:v/>
                  </c:pt>
                  <c:pt idx="47">
                    <c:v/>
                  </c:pt>
                  <c:pt idx="48">
                    <c:v>24 h</c:v>
                  </c:pt>
                  <c:pt idx="49">
                    <c:v/>
                  </c:pt>
                  <c:pt idx="50">
                    <c:v/>
                  </c:pt>
                  <c:pt idx="51">
                    <c:v/>
                  </c:pt>
                  <c:pt idx="52">
                    <c:v/>
                  </c:pt>
                  <c:pt idx="53">
                    <c:v/>
                  </c:pt>
                  <c:pt idx="54">
                    <c:v/>
                  </c:pt>
                  <c:pt idx="55">
                    <c:v/>
                  </c:pt>
                  <c:pt idx="56">
                    <c:v/>
                  </c:pt>
                  <c:pt idx="57">
                    <c:v/>
                  </c:pt>
                  <c:pt idx="58">
                    <c:v/>
                  </c:pt>
                  <c:pt idx="59">
                    <c:v/>
                  </c:pt>
                  <c:pt idx="60">
                    <c:v>30 h</c:v>
                  </c:pt>
                  <c:pt idx="61">
                    <c:v/>
                  </c:pt>
                  <c:pt idx="62">
                    <c:v/>
                  </c:pt>
                  <c:pt idx="63">
                    <c:v/>
                  </c:pt>
                  <c:pt idx="64">
                    <c:v/>
                  </c:pt>
                  <c:pt idx="65">
                    <c:v/>
                  </c:pt>
                  <c:pt idx="66">
                    <c:v/>
                  </c:pt>
                  <c:pt idx="67">
                    <c:v/>
                  </c:pt>
                  <c:pt idx="68">
                    <c:v/>
                  </c:pt>
                  <c:pt idx="69">
                    <c:v/>
                  </c:pt>
                  <c:pt idx="70">
                    <c:v/>
                  </c:pt>
                  <c:pt idx="71">
                    <c:v/>
                  </c:pt>
                  <c:pt idx="72">
                    <c:v>36 h</c:v>
                  </c:pt>
                  <c:pt idx="73">
                    <c:v/>
                  </c:pt>
                  <c:pt idx="74">
                    <c:v/>
                  </c:pt>
                  <c:pt idx="75">
                    <c:v/>
                  </c:pt>
                  <c:pt idx="76">
                    <c:v/>
                  </c:pt>
                  <c:pt idx="77">
                    <c:v/>
                  </c:pt>
                  <c:pt idx="78">
                    <c:v/>
                  </c:pt>
                  <c:pt idx="79">
                    <c:v/>
                  </c:pt>
                  <c:pt idx="80">
                    <c:v/>
                  </c:pt>
                  <c:pt idx="81">
                    <c:v/>
                  </c:pt>
                  <c:pt idx="82">
                    <c:v/>
                  </c:pt>
                  <c:pt idx="83">
                    <c:v/>
                  </c:pt>
                  <c:pt idx="84">
                    <c:v>42 h</c:v>
                  </c:pt>
                  <c:pt idx="85">
                    <c:v/>
                  </c:pt>
                  <c:pt idx="86">
                    <c:v/>
                  </c:pt>
                  <c:pt idx="87">
                    <c:v/>
                  </c:pt>
                  <c:pt idx="88">
                    <c:v/>
                  </c:pt>
                  <c:pt idx="89">
                    <c:v/>
                  </c:pt>
                  <c:pt idx="90">
                    <c:v/>
                  </c:pt>
                  <c:pt idx="91">
                    <c:v/>
                  </c:pt>
                  <c:pt idx="92">
                    <c:v/>
                  </c:pt>
                  <c:pt idx="93">
                    <c:v/>
                  </c:pt>
                  <c:pt idx="94">
                    <c:v/>
                  </c:pt>
                  <c:pt idx="95">
                    <c:v/>
                  </c:pt>
                  <c:pt idx="96">
                    <c:v>48 h</c:v>
                  </c:pt>
                </c:lvl>
              </c:multiLvlStrCache>
            </c:multiLvlStrRef>
          </c:cat>
          <c:val>
            <c:numRef>
              <c:f>Sheet1!$B$2:$B$98</c:f>
              <c:numCache>
                <c:formatCode>General</c:formatCode>
                <c:ptCount val="97"/>
                <c:pt idx="0">
                  <c:v>30.13</c:v>
                </c:pt>
                <c:pt idx="1">
                  <c:v>30.01</c:v>
                </c:pt>
                <c:pt idx="2">
                  <c:v>37.38</c:v>
                </c:pt>
                <c:pt idx="3">
                  <c:v>37.26</c:v>
                </c:pt>
                <c:pt idx="4">
                  <c:v>37.13</c:v>
                </c:pt>
                <c:pt idx="5">
                  <c:v>37.01</c:v>
                </c:pt>
                <c:pt idx="6">
                  <c:v>36.88</c:v>
                </c:pt>
                <c:pt idx="7">
                  <c:v>36.76</c:v>
                </c:pt>
                <c:pt idx="8">
                  <c:v>36.63</c:v>
                </c:pt>
                <c:pt idx="9">
                  <c:v>36.51</c:v>
                </c:pt>
                <c:pt idx="10">
                  <c:v>36.38</c:v>
                </c:pt>
                <c:pt idx="11">
                  <c:v>36.26</c:v>
                </c:pt>
                <c:pt idx="12">
                  <c:v>36.13</c:v>
                </c:pt>
                <c:pt idx="13">
                  <c:v>35.97</c:v>
                </c:pt>
                <c:pt idx="14">
                  <c:v>35.72</c:v>
                </c:pt>
                <c:pt idx="15">
                  <c:v>35.39</c:v>
                </c:pt>
                <c:pt idx="16">
                  <c:v>34.96</c:v>
                </c:pt>
                <c:pt idx="17">
                  <c:v>34.44</c:v>
                </c:pt>
                <c:pt idx="18">
                  <c:v>33.83</c:v>
                </c:pt>
                <c:pt idx="19">
                  <c:v>33.13</c:v>
                </c:pt>
                <c:pt idx="20">
                  <c:v>32.35</c:v>
                </c:pt>
                <c:pt idx="21">
                  <c:v>31.49</c:v>
                </c:pt>
                <c:pt idx="22">
                  <c:v>30.56</c:v>
                </c:pt>
                <c:pt idx="23">
                  <c:v>37.08</c:v>
                </c:pt>
                <c:pt idx="24">
                  <c:v>36.05</c:v>
                </c:pt>
                <c:pt idx="25">
                  <c:v>35.01</c:v>
                </c:pt>
                <c:pt idx="26">
                  <c:v>33.97</c:v>
                </c:pt>
                <c:pt idx="27">
                  <c:v>32.94</c:v>
                </c:pt>
                <c:pt idx="28">
                  <c:v>31.96</c:v>
                </c:pt>
                <c:pt idx="29">
                  <c:v>31.03</c:v>
                </c:pt>
                <c:pt idx="30">
                  <c:v>30.17</c:v>
                </c:pt>
                <c:pt idx="31">
                  <c:v>36.9</c:v>
                </c:pt>
                <c:pt idx="32">
                  <c:v>36.24</c:v>
                </c:pt>
                <c:pt idx="33">
                  <c:v>35.69</c:v>
                </c:pt>
                <c:pt idx="34">
                  <c:v>35.26</c:v>
                </c:pt>
                <c:pt idx="35">
                  <c:v>34.95</c:v>
                </c:pt>
                <c:pt idx="36">
                  <c:v>34.76</c:v>
                </c:pt>
                <c:pt idx="37">
                  <c:v>34.64</c:v>
                </c:pt>
                <c:pt idx="38">
                  <c:v>34.51</c:v>
                </c:pt>
                <c:pt idx="39">
                  <c:v>34.39</c:v>
                </c:pt>
                <c:pt idx="40">
                  <c:v>34.26</c:v>
                </c:pt>
                <c:pt idx="41">
                  <c:v>34.14</c:v>
                </c:pt>
                <c:pt idx="42">
                  <c:v>34.01</c:v>
                </c:pt>
                <c:pt idx="43">
                  <c:v>33.89</c:v>
                </c:pt>
                <c:pt idx="44">
                  <c:v>33.76</c:v>
                </c:pt>
                <c:pt idx="45">
                  <c:v>33.64</c:v>
                </c:pt>
                <c:pt idx="46">
                  <c:v>33.51</c:v>
                </c:pt>
                <c:pt idx="47">
                  <c:v>33.39</c:v>
                </c:pt>
                <c:pt idx="48">
                  <c:v>33.26</c:v>
                </c:pt>
                <c:pt idx="49">
                  <c:v>33.14</c:v>
                </c:pt>
                <c:pt idx="50">
                  <c:v>33.01</c:v>
                </c:pt>
                <c:pt idx="51">
                  <c:v>32.89</c:v>
                </c:pt>
                <c:pt idx="52">
                  <c:v>32.76</c:v>
                </c:pt>
                <c:pt idx="53">
                  <c:v>32.64</c:v>
                </c:pt>
                <c:pt idx="54">
                  <c:v>32.51</c:v>
                </c:pt>
                <c:pt idx="55">
                  <c:v>32.39</c:v>
                </c:pt>
                <c:pt idx="56">
                  <c:v>32.26</c:v>
                </c:pt>
                <c:pt idx="57">
                  <c:v>32.14</c:v>
                </c:pt>
                <c:pt idx="58">
                  <c:v>32.01</c:v>
                </c:pt>
                <c:pt idx="59">
                  <c:v>31.89</c:v>
                </c:pt>
                <c:pt idx="60">
                  <c:v>31.76</c:v>
                </c:pt>
                <c:pt idx="61">
                  <c:v>31.59</c:v>
                </c:pt>
                <c:pt idx="62">
                  <c:v>31.31</c:v>
                </c:pt>
                <c:pt idx="63">
                  <c:v>30.93</c:v>
                </c:pt>
                <c:pt idx="64">
                  <c:v>30.44</c:v>
                </c:pt>
                <c:pt idx="65">
                  <c:v>37.34</c:v>
                </c:pt>
                <c:pt idx="66">
                  <c:v>36.63</c:v>
                </c:pt>
                <c:pt idx="67">
                  <c:v>35.82</c:v>
                </c:pt>
                <c:pt idx="68">
                  <c:v>34.91</c:v>
                </c:pt>
                <c:pt idx="69">
                  <c:v>33.91</c:v>
                </c:pt>
                <c:pt idx="70">
                  <c:v>32.84</c:v>
                </c:pt>
                <c:pt idx="71">
                  <c:v>31.71</c:v>
                </c:pt>
                <c:pt idx="72">
                  <c:v>30.54</c:v>
                </c:pt>
                <c:pt idx="73">
                  <c:v>36.85</c:v>
                </c:pt>
                <c:pt idx="74">
                  <c:v>35.66</c:v>
                </c:pt>
                <c:pt idx="75">
                  <c:v>34.49</c:v>
                </c:pt>
                <c:pt idx="76">
                  <c:v>33.37</c:v>
                </c:pt>
                <c:pt idx="77">
                  <c:v>32.31</c:v>
                </c:pt>
                <c:pt idx="78">
                  <c:v>31.34</c:v>
                </c:pt>
                <c:pt idx="79">
                  <c:v>30.48</c:v>
                </c:pt>
                <c:pt idx="80">
                  <c:v>37.23</c:v>
                </c:pt>
                <c:pt idx="81">
                  <c:v>36.61</c:v>
                </c:pt>
                <c:pt idx="82">
                  <c:v>36.14</c:v>
                </c:pt>
                <c:pt idx="83">
                  <c:v>35.8</c:v>
                </c:pt>
                <c:pt idx="84">
                  <c:v>35.6</c:v>
                </c:pt>
                <c:pt idx="85">
                  <c:v>35.48</c:v>
                </c:pt>
                <c:pt idx="86">
                  <c:v>35.35</c:v>
                </c:pt>
                <c:pt idx="87">
                  <c:v>35.23</c:v>
                </c:pt>
                <c:pt idx="88">
                  <c:v>35.1</c:v>
                </c:pt>
                <c:pt idx="89">
                  <c:v>34.98</c:v>
                </c:pt>
                <c:pt idx="90">
                  <c:v>34.85</c:v>
                </c:pt>
                <c:pt idx="91">
                  <c:v>34.73</c:v>
                </c:pt>
                <c:pt idx="92">
                  <c:v>34.6</c:v>
                </c:pt>
                <c:pt idx="93">
                  <c:v>34.48</c:v>
                </c:pt>
                <c:pt idx="94">
                  <c:v>34.35</c:v>
                </c:pt>
                <c:pt idx="95">
                  <c:v>34.23</c:v>
                </c:pt>
                <c:pt idx="96">
                  <c:v>34.1</c:v>
                </c:pt>
              </c:numCache>
            </c:numRef>
          </c:val>
          <c:smooth val="0"/>
        </c:ser>
        <c:ser>
          <c:idx val="1"/>
          <c:order val="1"/>
          <c:tx>
            <c:strRef>
              <c:f>Sheet1!$C$1</c:f>
              <c:strCache>
                <c:ptCount val="1"/>
                <c:pt idx="0">
                  <c:v>Fixed timer</c:v>
                </c:pt>
              </c:strCache>
            </c:strRef>
          </c:tx>
          <c:spPr>
            <a:solidFill>
              <a:srgbClr val="EDA265"/>
            </a:solidFill>
            <a:ln w="25400" cap="flat">
              <a:solidFill>
                <a:srgbClr val="EDA265"/>
              </a:solidFill>
              <a:prstDash val="solid,solid,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265"/>
              </a:solidFill>
              <a:ln w="9525" cap="flat">
                <a:solidFill>
                  <a:srgbClr val="EDA265"/>
                </a:solidFill>
                <a:prstDash val="solid"/>
                <a:round/>
              </a:ln>
              <a:effectLst/>
            </c:spPr>
          </c:marker>
          <c:cat>
            <c:multiLvlStrRef>
              <c:f>Sheet1!$A$2:$A$98</c:f>
              <c:multiLvlStrCache>
                <c:ptCount val="97"/>
                <c:lvl>
                  <c:pt idx="0">
                    <c:v>0 h</c:v>
                  </c:pt>
                  <c:pt idx="1">
                    <c:v/>
                  </c:pt>
                  <c:pt idx="2">
                    <c:v/>
                  </c:pt>
                  <c:pt idx="3">
                    <c:v/>
                  </c:pt>
                  <c:pt idx="4">
                    <c:v/>
                  </c:pt>
                  <c:pt idx="5">
                    <c:v/>
                  </c:pt>
                  <c:pt idx="6">
                    <c:v/>
                  </c:pt>
                  <c:pt idx="7">
                    <c:v/>
                  </c:pt>
                  <c:pt idx="8">
                    <c:v/>
                  </c:pt>
                  <c:pt idx="9">
                    <c:v/>
                  </c:pt>
                  <c:pt idx="10">
                    <c:v/>
                  </c:pt>
                  <c:pt idx="11">
                    <c:v/>
                  </c:pt>
                  <c:pt idx="12">
                    <c:v>6 h</c:v>
                  </c:pt>
                  <c:pt idx="13">
                    <c:v/>
                  </c:pt>
                  <c:pt idx="14">
                    <c:v/>
                  </c:pt>
                  <c:pt idx="15">
                    <c:v/>
                  </c:pt>
                  <c:pt idx="16">
                    <c:v/>
                  </c:pt>
                  <c:pt idx="17">
                    <c:v/>
                  </c:pt>
                  <c:pt idx="18">
                    <c:v/>
                  </c:pt>
                  <c:pt idx="19">
                    <c:v/>
                  </c:pt>
                  <c:pt idx="20">
                    <c:v/>
                  </c:pt>
                  <c:pt idx="21">
                    <c:v/>
                  </c:pt>
                  <c:pt idx="22">
                    <c:v/>
                  </c:pt>
                  <c:pt idx="23">
                    <c:v/>
                  </c:pt>
                  <c:pt idx="24">
                    <c:v>12 h</c:v>
                  </c:pt>
                  <c:pt idx="25">
                    <c:v/>
                  </c:pt>
                  <c:pt idx="26">
                    <c:v/>
                  </c:pt>
                  <c:pt idx="27">
                    <c:v/>
                  </c:pt>
                  <c:pt idx="28">
                    <c:v/>
                  </c:pt>
                  <c:pt idx="29">
                    <c:v/>
                  </c:pt>
                  <c:pt idx="30">
                    <c:v/>
                  </c:pt>
                  <c:pt idx="31">
                    <c:v/>
                  </c:pt>
                  <c:pt idx="32">
                    <c:v/>
                  </c:pt>
                  <c:pt idx="33">
                    <c:v/>
                  </c:pt>
                  <c:pt idx="34">
                    <c:v/>
                  </c:pt>
                  <c:pt idx="35">
                    <c:v/>
                  </c:pt>
                  <c:pt idx="36">
                    <c:v>18 h</c:v>
                  </c:pt>
                  <c:pt idx="37">
                    <c:v/>
                  </c:pt>
                  <c:pt idx="38">
                    <c:v/>
                  </c:pt>
                  <c:pt idx="39">
                    <c:v/>
                  </c:pt>
                  <c:pt idx="40">
                    <c:v/>
                  </c:pt>
                  <c:pt idx="41">
                    <c:v/>
                  </c:pt>
                  <c:pt idx="42">
                    <c:v/>
                  </c:pt>
                  <c:pt idx="43">
                    <c:v/>
                  </c:pt>
                  <c:pt idx="44">
                    <c:v/>
                  </c:pt>
                  <c:pt idx="45">
                    <c:v/>
                  </c:pt>
                  <c:pt idx="46">
                    <c:v/>
                  </c:pt>
                  <c:pt idx="47">
                    <c:v/>
                  </c:pt>
                  <c:pt idx="48">
                    <c:v>24 h</c:v>
                  </c:pt>
                  <c:pt idx="49">
                    <c:v/>
                  </c:pt>
                  <c:pt idx="50">
                    <c:v/>
                  </c:pt>
                  <c:pt idx="51">
                    <c:v/>
                  </c:pt>
                  <c:pt idx="52">
                    <c:v/>
                  </c:pt>
                  <c:pt idx="53">
                    <c:v/>
                  </c:pt>
                  <c:pt idx="54">
                    <c:v/>
                  </c:pt>
                  <c:pt idx="55">
                    <c:v/>
                  </c:pt>
                  <c:pt idx="56">
                    <c:v/>
                  </c:pt>
                  <c:pt idx="57">
                    <c:v/>
                  </c:pt>
                  <c:pt idx="58">
                    <c:v/>
                  </c:pt>
                  <c:pt idx="59">
                    <c:v/>
                  </c:pt>
                  <c:pt idx="60">
                    <c:v>30 h</c:v>
                  </c:pt>
                  <c:pt idx="61">
                    <c:v/>
                  </c:pt>
                  <c:pt idx="62">
                    <c:v/>
                  </c:pt>
                  <c:pt idx="63">
                    <c:v/>
                  </c:pt>
                  <c:pt idx="64">
                    <c:v/>
                  </c:pt>
                  <c:pt idx="65">
                    <c:v/>
                  </c:pt>
                  <c:pt idx="66">
                    <c:v/>
                  </c:pt>
                  <c:pt idx="67">
                    <c:v/>
                  </c:pt>
                  <c:pt idx="68">
                    <c:v/>
                  </c:pt>
                  <c:pt idx="69">
                    <c:v/>
                  </c:pt>
                  <c:pt idx="70">
                    <c:v/>
                  </c:pt>
                  <c:pt idx="71">
                    <c:v/>
                  </c:pt>
                  <c:pt idx="72">
                    <c:v>36 h</c:v>
                  </c:pt>
                  <c:pt idx="73">
                    <c:v/>
                  </c:pt>
                  <c:pt idx="74">
                    <c:v/>
                  </c:pt>
                  <c:pt idx="75">
                    <c:v/>
                  </c:pt>
                  <c:pt idx="76">
                    <c:v/>
                  </c:pt>
                  <c:pt idx="77">
                    <c:v/>
                  </c:pt>
                  <c:pt idx="78">
                    <c:v/>
                  </c:pt>
                  <c:pt idx="79">
                    <c:v/>
                  </c:pt>
                  <c:pt idx="80">
                    <c:v/>
                  </c:pt>
                  <c:pt idx="81">
                    <c:v/>
                  </c:pt>
                  <c:pt idx="82">
                    <c:v/>
                  </c:pt>
                  <c:pt idx="83">
                    <c:v/>
                  </c:pt>
                  <c:pt idx="84">
                    <c:v>42 h</c:v>
                  </c:pt>
                  <c:pt idx="85">
                    <c:v/>
                  </c:pt>
                  <c:pt idx="86">
                    <c:v/>
                  </c:pt>
                  <c:pt idx="87">
                    <c:v/>
                  </c:pt>
                  <c:pt idx="88">
                    <c:v/>
                  </c:pt>
                  <c:pt idx="89">
                    <c:v/>
                  </c:pt>
                  <c:pt idx="90">
                    <c:v/>
                  </c:pt>
                  <c:pt idx="91">
                    <c:v/>
                  </c:pt>
                  <c:pt idx="92">
                    <c:v/>
                  </c:pt>
                  <c:pt idx="93">
                    <c:v/>
                  </c:pt>
                  <c:pt idx="94">
                    <c:v/>
                  </c:pt>
                  <c:pt idx="95">
                    <c:v/>
                  </c:pt>
                  <c:pt idx="96">
                    <c:v>48 h</c:v>
                  </c:pt>
                </c:lvl>
              </c:multiLvlStrCache>
            </c:multiLvlStrRef>
          </c:cat>
          <c:val>
            <c:numRef>
              <c:f>Sheet1!$C$2:$C$98</c:f>
              <c:numCache>
                <c:formatCode>General</c:formatCode>
                <c:ptCount val="97"/>
                <c:pt idx="0">
                  <c:v>48.73</c:v>
                </c:pt>
                <c:pt idx="1">
                  <c:v>48.6</c:v>
                </c:pt>
                <c:pt idx="2">
                  <c:v>48.48</c:v>
                </c:pt>
                <c:pt idx="3">
                  <c:v>48.35</c:v>
                </c:pt>
                <c:pt idx="4">
                  <c:v>48.23</c:v>
                </c:pt>
                <c:pt idx="5">
                  <c:v>48.1</c:v>
                </c:pt>
                <c:pt idx="6">
                  <c:v>47.98</c:v>
                </c:pt>
                <c:pt idx="7">
                  <c:v>47.85</c:v>
                </c:pt>
                <c:pt idx="8">
                  <c:v>47.73</c:v>
                </c:pt>
                <c:pt idx="9">
                  <c:v>47.6</c:v>
                </c:pt>
                <c:pt idx="10">
                  <c:v>47.48</c:v>
                </c:pt>
                <c:pt idx="11">
                  <c:v>47.35</c:v>
                </c:pt>
                <c:pt idx="12">
                  <c:v>47.23</c:v>
                </c:pt>
                <c:pt idx="13">
                  <c:v>47.06</c:v>
                </c:pt>
                <c:pt idx="14">
                  <c:v>46.82</c:v>
                </c:pt>
                <c:pt idx="15">
                  <c:v>51.83</c:v>
                </c:pt>
                <c:pt idx="16">
                  <c:v>50.06</c:v>
                </c:pt>
                <c:pt idx="17">
                  <c:v>49.53</c:v>
                </c:pt>
                <c:pt idx="18">
                  <c:v>48.92</c:v>
                </c:pt>
                <c:pt idx="19">
                  <c:v>48.22</c:v>
                </c:pt>
                <c:pt idx="20">
                  <c:v>47.44</c:v>
                </c:pt>
                <c:pt idx="21">
                  <c:v>46.58</c:v>
                </c:pt>
                <c:pt idx="22">
                  <c:v>45.65</c:v>
                </c:pt>
                <c:pt idx="23">
                  <c:v>44.67</c:v>
                </c:pt>
                <c:pt idx="24">
                  <c:v>43.65</c:v>
                </c:pt>
                <c:pt idx="25">
                  <c:v>42.6</c:v>
                </c:pt>
                <c:pt idx="26">
                  <c:v>41.56</c:v>
                </c:pt>
                <c:pt idx="27">
                  <c:v>40.54</c:v>
                </c:pt>
                <c:pt idx="28">
                  <c:v>39.55</c:v>
                </c:pt>
                <c:pt idx="29">
                  <c:v>38.62</c:v>
                </c:pt>
                <c:pt idx="30">
                  <c:v>37.76</c:v>
                </c:pt>
                <c:pt idx="31">
                  <c:v>36.99</c:v>
                </c:pt>
                <c:pt idx="32">
                  <c:v>36.33</c:v>
                </c:pt>
                <c:pt idx="33">
                  <c:v>35.78</c:v>
                </c:pt>
                <c:pt idx="34">
                  <c:v>35.35</c:v>
                </c:pt>
                <c:pt idx="35">
                  <c:v>35.04</c:v>
                </c:pt>
                <c:pt idx="36">
                  <c:v>34.85</c:v>
                </c:pt>
                <c:pt idx="37">
                  <c:v>50.28</c:v>
                </c:pt>
                <c:pt idx="38">
                  <c:v>49.98</c:v>
                </c:pt>
                <c:pt idx="39">
                  <c:v>49.86</c:v>
                </c:pt>
                <c:pt idx="40">
                  <c:v>49.73</c:v>
                </c:pt>
                <c:pt idx="41">
                  <c:v>49.61</c:v>
                </c:pt>
                <c:pt idx="42">
                  <c:v>49.48</c:v>
                </c:pt>
                <c:pt idx="43">
                  <c:v>49.36</c:v>
                </c:pt>
                <c:pt idx="44">
                  <c:v>49.23</c:v>
                </c:pt>
                <c:pt idx="45">
                  <c:v>49.11</c:v>
                </c:pt>
                <c:pt idx="46">
                  <c:v>48.98</c:v>
                </c:pt>
                <c:pt idx="47">
                  <c:v>48.86</c:v>
                </c:pt>
                <c:pt idx="48">
                  <c:v>48.73</c:v>
                </c:pt>
                <c:pt idx="49">
                  <c:v>48.61</c:v>
                </c:pt>
                <c:pt idx="50">
                  <c:v>48.48</c:v>
                </c:pt>
                <c:pt idx="51">
                  <c:v>48.36</c:v>
                </c:pt>
                <c:pt idx="52">
                  <c:v>48.23</c:v>
                </c:pt>
                <c:pt idx="53">
                  <c:v>48.11</c:v>
                </c:pt>
                <c:pt idx="54">
                  <c:v>47.98</c:v>
                </c:pt>
                <c:pt idx="55">
                  <c:v>47.86</c:v>
                </c:pt>
                <c:pt idx="56">
                  <c:v>47.73</c:v>
                </c:pt>
                <c:pt idx="57">
                  <c:v>47.61</c:v>
                </c:pt>
                <c:pt idx="58">
                  <c:v>47.48</c:v>
                </c:pt>
                <c:pt idx="59">
                  <c:v>47.36</c:v>
                </c:pt>
                <c:pt idx="60">
                  <c:v>47.23</c:v>
                </c:pt>
                <c:pt idx="61">
                  <c:v>47.06</c:v>
                </c:pt>
                <c:pt idx="62">
                  <c:v>46.78</c:v>
                </c:pt>
                <c:pt idx="63">
                  <c:v>51.8</c:v>
                </c:pt>
                <c:pt idx="64">
                  <c:v>50.02</c:v>
                </c:pt>
                <c:pt idx="65">
                  <c:v>49.42</c:v>
                </c:pt>
                <c:pt idx="66">
                  <c:v>48.71</c:v>
                </c:pt>
                <c:pt idx="67">
                  <c:v>47.9</c:v>
                </c:pt>
                <c:pt idx="68">
                  <c:v>46.99</c:v>
                </c:pt>
                <c:pt idx="69">
                  <c:v>46</c:v>
                </c:pt>
                <c:pt idx="70">
                  <c:v>44.92</c:v>
                </c:pt>
                <c:pt idx="71">
                  <c:v>43.8</c:v>
                </c:pt>
                <c:pt idx="72">
                  <c:v>42.62</c:v>
                </c:pt>
                <c:pt idx="73">
                  <c:v>41.43</c:v>
                </c:pt>
                <c:pt idx="74">
                  <c:v>40.24</c:v>
                </c:pt>
                <c:pt idx="75">
                  <c:v>39.08</c:v>
                </c:pt>
                <c:pt idx="76">
                  <c:v>37.95</c:v>
                </c:pt>
                <c:pt idx="77">
                  <c:v>36.9</c:v>
                </c:pt>
                <c:pt idx="78">
                  <c:v>35.93</c:v>
                </c:pt>
                <c:pt idx="79">
                  <c:v>35.06</c:v>
                </c:pt>
                <c:pt idx="80">
                  <c:v>34.32</c:v>
                </c:pt>
                <c:pt idx="81">
                  <c:v>33.7</c:v>
                </c:pt>
                <c:pt idx="82">
                  <c:v>33.22</c:v>
                </c:pt>
                <c:pt idx="83">
                  <c:v>32.88</c:v>
                </c:pt>
                <c:pt idx="84">
                  <c:v>32.69</c:v>
                </c:pt>
                <c:pt idx="85">
                  <c:v>49.97</c:v>
                </c:pt>
                <c:pt idx="86">
                  <c:v>49.84</c:v>
                </c:pt>
                <c:pt idx="87">
                  <c:v>49.72</c:v>
                </c:pt>
                <c:pt idx="88">
                  <c:v>49.59</c:v>
                </c:pt>
                <c:pt idx="89">
                  <c:v>49.47</c:v>
                </c:pt>
                <c:pt idx="90">
                  <c:v>49.34</c:v>
                </c:pt>
                <c:pt idx="91">
                  <c:v>49.22</c:v>
                </c:pt>
                <c:pt idx="92">
                  <c:v>49.09</c:v>
                </c:pt>
                <c:pt idx="93">
                  <c:v>48.97</c:v>
                </c:pt>
                <c:pt idx="94">
                  <c:v>48.84</c:v>
                </c:pt>
                <c:pt idx="95">
                  <c:v>48.72</c:v>
                </c:pt>
                <c:pt idx="96">
                  <c:v>48.59</c:v>
                </c:pt>
              </c:numCache>
            </c:numRef>
          </c:val>
          <c:smooth val="0"/>
        </c:ser>
        <c:ser>
          <c:idx val="2"/>
          <c:order val="2"/>
          <c:tx>
            <c:strRef>
              <c:f>Sheet1!$D$1</c:f>
              <c:strCache>
                <c:ptCount val="1"/>
                <c:pt idx="0">
                  <c:v>Threshold 30%</c:v>
                </c:pt>
              </c:strCache>
            </c:strRef>
          </c:tx>
          <c:spPr>
            <a:solidFill>
              <a:srgbClr val="B8875A"/>
            </a:solidFill>
            <a:ln w="25400" cap="flat">
              <a:solidFill>
                <a:srgbClr val="B8875A"/>
              </a:solidFill>
              <a:prstDash val="solid,solid,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875A"/>
              </a:solidFill>
              <a:ln w="9525" cap="flat">
                <a:solidFill>
                  <a:srgbClr val="B8875A"/>
                </a:solidFill>
                <a:prstDash val="solid"/>
                <a:round/>
              </a:ln>
              <a:effectLst/>
            </c:spPr>
          </c:marker>
          <c:cat>
            <c:multiLvlStrRef>
              <c:f>Sheet1!$A$2:$A$98</c:f>
              <c:multiLvlStrCache>
                <c:ptCount val="97"/>
                <c:lvl>
                  <c:pt idx="0">
                    <c:v>0 h</c:v>
                  </c:pt>
                  <c:pt idx="1">
                    <c:v/>
                  </c:pt>
                  <c:pt idx="2">
                    <c:v/>
                  </c:pt>
                  <c:pt idx="3">
                    <c:v/>
                  </c:pt>
                  <c:pt idx="4">
                    <c:v/>
                  </c:pt>
                  <c:pt idx="5">
                    <c:v/>
                  </c:pt>
                  <c:pt idx="6">
                    <c:v/>
                  </c:pt>
                  <c:pt idx="7">
                    <c:v/>
                  </c:pt>
                  <c:pt idx="8">
                    <c:v/>
                  </c:pt>
                  <c:pt idx="9">
                    <c:v/>
                  </c:pt>
                  <c:pt idx="10">
                    <c:v/>
                  </c:pt>
                  <c:pt idx="11">
                    <c:v/>
                  </c:pt>
                  <c:pt idx="12">
                    <c:v>6 h</c:v>
                  </c:pt>
                  <c:pt idx="13">
                    <c:v/>
                  </c:pt>
                  <c:pt idx="14">
                    <c:v/>
                  </c:pt>
                  <c:pt idx="15">
                    <c:v/>
                  </c:pt>
                  <c:pt idx="16">
                    <c:v/>
                  </c:pt>
                  <c:pt idx="17">
                    <c:v/>
                  </c:pt>
                  <c:pt idx="18">
                    <c:v/>
                  </c:pt>
                  <c:pt idx="19">
                    <c:v/>
                  </c:pt>
                  <c:pt idx="20">
                    <c:v/>
                  </c:pt>
                  <c:pt idx="21">
                    <c:v/>
                  </c:pt>
                  <c:pt idx="22">
                    <c:v/>
                  </c:pt>
                  <c:pt idx="23">
                    <c:v/>
                  </c:pt>
                  <c:pt idx="24">
                    <c:v>12 h</c:v>
                  </c:pt>
                  <c:pt idx="25">
                    <c:v/>
                  </c:pt>
                  <c:pt idx="26">
                    <c:v/>
                  </c:pt>
                  <c:pt idx="27">
                    <c:v/>
                  </c:pt>
                  <c:pt idx="28">
                    <c:v/>
                  </c:pt>
                  <c:pt idx="29">
                    <c:v/>
                  </c:pt>
                  <c:pt idx="30">
                    <c:v/>
                  </c:pt>
                  <c:pt idx="31">
                    <c:v/>
                  </c:pt>
                  <c:pt idx="32">
                    <c:v/>
                  </c:pt>
                  <c:pt idx="33">
                    <c:v/>
                  </c:pt>
                  <c:pt idx="34">
                    <c:v/>
                  </c:pt>
                  <c:pt idx="35">
                    <c:v/>
                  </c:pt>
                  <c:pt idx="36">
                    <c:v>18 h</c:v>
                  </c:pt>
                  <c:pt idx="37">
                    <c:v/>
                  </c:pt>
                  <c:pt idx="38">
                    <c:v/>
                  </c:pt>
                  <c:pt idx="39">
                    <c:v/>
                  </c:pt>
                  <c:pt idx="40">
                    <c:v/>
                  </c:pt>
                  <c:pt idx="41">
                    <c:v/>
                  </c:pt>
                  <c:pt idx="42">
                    <c:v/>
                  </c:pt>
                  <c:pt idx="43">
                    <c:v/>
                  </c:pt>
                  <c:pt idx="44">
                    <c:v/>
                  </c:pt>
                  <c:pt idx="45">
                    <c:v/>
                  </c:pt>
                  <c:pt idx="46">
                    <c:v/>
                  </c:pt>
                  <c:pt idx="47">
                    <c:v/>
                  </c:pt>
                  <c:pt idx="48">
                    <c:v>24 h</c:v>
                  </c:pt>
                  <c:pt idx="49">
                    <c:v/>
                  </c:pt>
                  <c:pt idx="50">
                    <c:v/>
                  </c:pt>
                  <c:pt idx="51">
                    <c:v/>
                  </c:pt>
                  <c:pt idx="52">
                    <c:v/>
                  </c:pt>
                  <c:pt idx="53">
                    <c:v/>
                  </c:pt>
                  <c:pt idx="54">
                    <c:v/>
                  </c:pt>
                  <c:pt idx="55">
                    <c:v/>
                  </c:pt>
                  <c:pt idx="56">
                    <c:v/>
                  </c:pt>
                  <c:pt idx="57">
                    <c:v/>
                  </c:pt>
                  <c:pt idx="58">
                    <c:v/>
                  </c:pt>
                  <c:pt idx="59">
                    <c:v/>
                  </c:pt>
                  <c:pt idx="60">
                    <c:v>30 h</c:v>
                  </c:pt>
                  <c:pt idx="61">
                    <c:v/>
                  </c:pt>
                  <c:pt idx="62">
                    <c:v/>
                  </c:pt>
                  <c:pt idx="63">
                    <c:v/>
                  </c:pt>
                  <c:pt idx="64">
                    <c:v/>
                  </c:pt>
                  <c:pt idx="65">
                    <c:v/>
                  </c:pt>
                  <c:pt idx="66">
                    <c:v/>
                  </c:pt>
                  <c:pt idx="67">
                    <c:v/>
                  </c:pt>
                  <c:pt idx="68">
                    <c:v/>
                  </c:pt>
                  <c:pt idx="69">
                    <c:v/>
                  </c:pt>
                  <c:pt idx="70">
                    <c:v/>
                  </c:pt>
                  <c:pt idx="71">
                    <c:v/>
                  </c:pt>
                  <c:pt idx="72">
                    <c:v>36 h</c:v>
                  </c:pt>
                  <c:pt idx="73">
                    <c:v/>
                  </c:pt>
                  <c:pt idx="74">
                    <c:v/>
                  </c:pt>
                  <c:pt idx="75">
                    <c:v/>
                  </c:pt>
                  <c:pt idx="76">
                    <c:v/>
                  </c:pt>
                  <c:pt idx="77">
                    <c:v/>
                  </c:pt>
                  <c:pt idx="78">
                    <c:v/>
                  </c:pt>
                  <c:pt idx="79">
                    <c:v/>
                  </c:pt>
                  <c:pt idx="80">
                    <c:v/>
                  </c:pt>
                  <c:pt idx="81">
                    <c:v/>
                  </c:pt>
                  <c:pt idx="82">
                    <c:v/>
                  </c:pt>
                  <c:pt idx="83">
                    <c:v/>
                  </c:pt>
                  <c:pt idx="84">
                    <c:v>42 h</c:v>
                  </c:pt>
                  <c:pt idx="85">
                    <c:v/>
                  </c:pt>
                  <c:pt idx="86">
                    <c:v/>
                  </c:pt>
                  <c:pt idx="87">
                    <c:v/>
                  </c:pt>
                  <c:pt idx="88">
                    <c:v/>
                  </c:pt>
                  <c:pt idx="89">
                    <c:v/>
                  </c:pt>
                  <c:pt idx="90">
                    <c:v/>
                  </c:pt>
                  <c:pt idx="91">
                    <c:v/>
                  </c:pt>
                  <c:pt idx="92">
                    <c:v/>
                  </c:pt>
                  <c:pt idx="93">
                    <c:v/>
                  </c:pt>
                  <c:pt idx="94">
                    <c:v/>
                  </c:pt>
                  <c:pt idx="95">
                    <c:v/>
                  </c:pt>
                  <c:pt idx="96">
                    <c:v>48 h</c:v>
                  </c:pt>
                </c:lvl>
              </c:multiLvlStrCache>
            </c:multiLvlStrRef>
          </c:cat>
          <c:val>
            <c:numRef>
              <c:f>Sheet1!$D$2:$D$98</c:f>
              <c:numCache>
                <c:formatCode>General</c:formatCode>
                <c:ptCount val="97"/>
                <c:pt idx="0">
                  <c:v>30</c:v>
                </c:pt>
                <c:pt idx="1">
                  <c:v>30</c:v>
                </c:pt>
                <c:pt idx="2">
                  <c:v>30</c:v>
                </c:pt>
                <c:pt idx="3">
                  <c:v>30</c:v>
                </c:pt>
                <c:pt idx="4">
                  <c:v>30</c:v>
                </c:pt>
                <c:pt idx="5">
                  <c:v>30</c:v>
                </c:pt>
                <c:pt idx="6">
                  <c:v>30</c:v>
                </c:pt>
                <c:pt idx="7">
                  <c:v>30</c:v>
                </c:pt>
                <c:pt idx="8">
                  <c:v>30</c:v>
                </c:pt>
                <c:pt idx="9">
                  <c:v>30</c:v>
                </c:pt>
                <c:pt idx="10">
                  <c:v>30</c:v>
                </c:pt>
                <c:pt idx="11">
                  <c:v>30</c:v>
                </c:pt>
                <c:pt idx="12">
                  <c:v>30</c:v>
                </c:pt>
                <c:pt idx="13">
                  <c:v>30</c:v>
                </c:pt>
                <c:pt idx="14">
                  <c:v>30</c:v>
                </c:pt>
                <c:pt idx="15">
                  <c:v>30</c:v>
                </c:pt>
                <c:pt idx="16">
                  <c:v>30</c:v>
                </c:pt>
                <c:pt idx="17">
                  <c:v>30</c:v>
                </c:pt>
                <c:pt idx="18">
                  <c:v>30</c:v>
                </c:pt>
                <c:pt idx="19">
                  <c:v>30</c:v>
                </c:pt>
                <c:pt idx="20">
                  <c:v>30</c:v>
                </c:pt>
                <c:pt idx="21">
                  <c:v>30</c:v>
                </c:pt>
                <c:pt idx="22">
                  <c:v>30</c:v>
                </c:pt>
                <c:pt idx="23">
                  <c:v>30</c:v>
                </c:pt>
                <c:pt idx="24">
                  <c:v>30</c:v>
                </c:pt>
                <c:pt idx="25">
                  <c:v>30</c:v>
                </c:pt>
                <c:pt idx="26">
                  <c:v>30</c:v>
                </c:pt>
                <c:pt idx="27">
                  <c:v>30</c:v>
                </c:pt>
                <c:pt idx="28">
                  <c:v>30</c:v>
                </c:pt>
                <c:pt idx="29">
                  <c:v>30</c:v>
                </c:pt>
                <c:pt idx="30">
                  <c:v>30</c:v>
                </c:pt>
                <c:pt idx="31">
                  <c:v>30</c:v>
                </c:pt>
                <c:pt idx="32">
                  <c:v>30</c:v>
                </c:pt>
                <c:pt idx="33">
                  <c:v>30</c:v>
                </c:pt>
                <c:pt idx="34">
                  <c:v>30</c:v>
                </c:pt>
                <c:pt idx="35">
                  <c:v>30</c:v>
                </c:pt>
                <c:pt idx="36">
                  <c:v>30</c:v>
                </c:pt>
                <c:pt idx="37">
                  <c:v>30</c:v>
                </c:pt>
                <c:pt idx="38">
                  <c:v>30</c:v>
                </c:pt>
                <c:pt idx="39">
                  <c:v>30</c:v>
                </c:pt>
                <c:pt idx="40">
                  <c:v>30</c:v>
                </c:pt>
                <c:pt idx="41">
                  <c:v>30</c:v>
                </c:pt>
                <c:pt idx="42">
                  <c:v>30</c:v>
                </c:pt>
                <c:pt idx="43">
                  <c:v>30</c:v>
                </c:pt>
                <c:pt idx="44">
                  <c:v>30</c:v>
                </c:pt>
                <c:pt idx="45">
                  <c:v>30</c:v>
                </c:pt>
                <c:pt idx="46">
                  <c:v>30</c:v>
                </c:pt>
                <c:pt idx="47">
                  <c:v>30</c:v>
                </c:pt>
                <c:pt idx="48">
                  <c:v>30</c:v>
                </c:pt>
                <c:pt idx="49">
                  <c:v>30</c:v>
                </c:pt>
                <c:pt idx="50">
                  <c:v>30</c:v>
                </c:pt>
                <c:pt idx="51">
                  <c:v>30</c:v>
                </c:pt>
                <c:pt idx="52">
                  <c:v>30</c:v>
                </c:pt>
                <c:pt idx="53">
                  <c:v>30</c:v>
                </c:pt>
                <c:pt idx="54">
                  <c:v>30</c:v>
                </c:pt>
                <c:pt idx="55">
                  <c:v>30</c:v>
                </c:pt>
                <c:pt idx="56">
                  <c:v>30</c:v>
                </c:pt>
                <c:pt idx="57">
                  <c:v>30</c:v>
                </c:pt>
                <c:pt idx="58">
                  <c:v>30</c:v>
                </c:pt>
                <c:pt idx="59">
                  <c:v>30</c:v>
                </c:pt>
                <c:pt idx="60">
                  <c:v>30</c:v>
                </c:pt>
                <c:pt idx="61">
                  <c:v>30</c:v>
                </c:pt>
                <c:pt idx="62">
                  <c:v>30</c:v>
                </c:pt>
                <c:pt idx="63">
                  <c:v>30</c:v>
                </c:pt>
                <c:pt idx="64">
                  <c:v>30</c:v>
                </c:pt>
                <c:pt idx="65">
                  <c:v>30</c:v>
                </c:pt>
                <c:pt idx="66">
                  <c:v>30</c:v>
                </c:pt>
                <c:pt idx="67">
                  <c:v>30</c:v>
                </c:pt>
                <c:pt idx="68">
                  <c:v>30</c:v>
                </c:pt>
                <c:pt idx="69">
                  <c:v>30</c:v>
                </c:pt>
                <c:pt idx="70">
                  <c:v>30</c:v>
                </c:pt>
                <c:pt idx="71">
                  <c:v>30</c:v>
                </c:pt>
                <c:pt idx="72">
                  <c:v>30</c:v>
                </c:pt>
                <c:pt idx="73">
                  <c:v>30</c:v>
                </c:pt>
                <c:pt idx="74">
                  <c:v>30</c:v>
                </c:pt>
                <c:pt idx="75">
                  <c:v>30</c:v>
                </c:pt>
                <c:pt idx="76">
                  <c:v>30</c:v>
                </c:pt>
                <c:pt idx="77">
                  <c:v>30</c:v>
                </c:pt>
                <c:pt idx="78">
                  <c:v>30</c:v>
                </c:pt>
                <c:pt idx="79">
                  <c:v>30</c:v>
                </c:pt>
                <c:pt idx="80">
                  <c:v>30</c:v>
                </c:pt>
                <c:pt idx="81">
                  <c:v>30</c:v>
                </c:pt>
                <c:pt idx="82">
                  <c:v>30</c:v>
                </c:pt>
                <c:pt idx="83">
                  <c:v>30</c:v>
                </c:pt>
                <c:pt idx="84">
                  <c:v>30</c:v>
                </c:pt>
                <c:pt idx="85">
                  <c:v>30</c:v>
                </c:pt>
                <c:pt idx="86">
                  <c:v>30</c:v>
                </c:pt>
                <c:pt idx="87">
                  <c:v>30</c:v>
                </c:pt>
                <c:pt idx="88">
                  <c:v>30</c:v>
                </c:pt>
                <c:pt idx="89">
                  <c:v>30</c:v>
                </c:pt>
                <c:pt idx="90">
                  <c:v>30</c:v>
                </c:pt>
                <c:pt idx="91">
                  <c:v>30</c:v>
                </c:pt>
                <c:pt idx="92">
                  <c:v>30</c:v>
                </c:pt>
                <c:pt idx="93">
                  <c:v>30</c:v>
                </c:pt>
                <c:pt idx="94">
                  <c:v>30</c:v>
                </c:pt>
                <c:pt idx="95">
                  <c:v>30</c:v>
                </c:pt>
                <c:pt idx="96">
                  <c:v>30</c:v>
                </c:pt>
              </c:numCache>
            </c:numRef>
          </c:val>
          <c:smooth val="0"/>
        </c:ser>
        <c:ser>
          <c:idx val="3"/>
          <c:order val="3"/>
          <c:tx>
            <c:strRef>
              <c:f>Sheet1!$E$1</c:f>
              <c:strCache>
                <c:ptCount val="1"/>
                <c:pt idx="0">
                  <c:v>Overwatering limit 60%</c:v>
                </c:pt>
              </c:strCache>
            </c:strRef>
          </c:tx>
          <c:spPr>
            <a:solidFill>
              <a:srgbClr val="7CCFC7"/>
            </a:solidFill>
            <a:ln w="25400" cap="flat">
              <a:solidFill>
                <a:srgbClr val="7CCFC7"/>
              </a:solidFill>
              <a:prstDash val="solid,solid,dash,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CCFC7"/>
              </a:solidFill>
              <a:ln w="9525" cap="flat">
                <a:solidFill>
                  <a:srgbClr val="7CCFC7"/>
                </a:solidFill>
                <a:prstDash val="solid"/>
                <a:round/>
              </a:ln>
              <a:effectLst/>
            </c:spPr>
          </c:marker>
          <c:cat>
            <c:multiLvlStrRef>
              <c:f>Sheet1!$A$2:$A$98</c:f>
              <c:multiLvlStrCache>
                <c:ptCount val="97"/>
                <c:lvl>
                  <c:pt idx="0">
                    <c:v>0 h</c:v>
                  </c:pt>
                  <c:pt idx="1">
                    <c:v/>
                  </c:pt>
                  <c:pt idx="2">
                    <c:v/>
                  </c:pt>
                  <c:pt idx="3">
                    <c:v/>
                  </c:pt>
                  <c:pt idx="4">
                    <c:v/>
                  </c:pt>
                  <c:pt idx="5">
                    <c:v/>
                  </c:pt>
                  <c:pt idx="6">
                    <c:v/>
                  </c:pt>
                  <c:pt idx="7">
                    <c:v/>
                  </c:pt>
                  <c:pt idx="8">
                    <c:v/>
                  </c:pt>
                  <c:pt idx="9">
                    <c:v/>
                  </c:pt>
                  <c:pt idx="10">
                    <c:v/>
                  </c:pt>
                  <c:pt idx="11">
                    <c:v/>
                  </c:pt>
                  <c:pt idx="12">
                    <c:v>6 h</c:v>
                  </c:pt>
                  <c:pt idx="13">
                    <c:v/>
                  </c:pt>
                  <c:pt idx="14">
                    <c:v/>
                  </c:pt>
                  <c:pt idx="15">
                    <c:v/>
                  </c:pt>
                  <c:pt idx="16">
                    <c:v/>
                  </c:pt>
                  <c:pt idx="17">
                    <c:v/>
                  </c:pt>
                  <c:pt idx="18">
                    <c:v/>
                  </c:pt>
                  <c:pt idx="19">
                    <c:v/>
                  </c:pt>
                  <c:pt idx="20">
                    <c:v/>
                  </c:pt>
                  <c:pt idx="21">
                    <c:v/>
                  </c:pt>
                  <c:pt idx="22">
                    <c:v/>
                  </c:pt>
                  <c:pt idx="23">
                    <c:v/>
                  </c:pt>
                  <c:pt idx="24">
                    <c:v>12 h</c:v>
                  </c:pt>
                  <c:pt idx="25">
                    <c:v/>
                  </c:pt>
                  <c:pt idx="26">
                    <c:v/>
                  </c:pt>
                  <c:pt idx="27">
                    <c:v/>
                  </c:pt>
                  <c:pt idx="28">
                    <c:v/>
                  </c:pt>
                  <c:pt idx="29">
                    <c:v/>
                  </c:pt>
                  <c:pt idx="30">
                    <c:v/>
                  </c:pt>
                  <c:pt idx="31">
                    <c:v/>
                  </c:pt>
                  <c:pt idx="32">
                    <c:v/>
                  </c:pt>
                  <c:pt idx="33">
                    <c:v/>
                  </c:pt>
                  <c:pt idx="34">
                    <c:v/>
                  </c:pt>
                  <c:pt idx="35">
                    <c:v/>
                  </c:pt>
                  <c:pt idx="36">
                    <c:v>18 h</c:v>
                  </c:pt>
                  <c:pt idx="37">
                    <c:v/>
                  </c:pt>
                  <c:pt idx="38">
                    <c:v/>
                  </c:pt>
                  <c:pt idx="39">
                    <c:v/>
                  </c:pt>
                  <c:pt idx="40">
                    <c:v/>
                  </c:pt>
                  <c:pt idx="41">
                    <c:v/>
                  </c:pt>
                  <c:pt idx="42">
                    <c:v/>
                  </c:pt>
                  <c:pt idx="43">
                    <c:v/>
                  </c:pt>
                  <c:pt idx="44">
                    <c:v/>
                  </c:pt>
                  <c:pt idx="45">
                    <c:v/>
                  </c:pt>
                  <c:pt idx="46">
                    <c:v/>
                  </c:pt>
                  <c:pt idx="47">
                    <c:v/>
                  </c:pt>
                  <c:pt idx="48">
                    <c:v>24 h</c:v>
                  </c:pt>
                  <c:pt idx="49">
                    <c:v/>
                  </c:pt>
                  <c:pt idx="50">
                    <c:v/>
                  </c:pt>
                  <c:pt idx="51">
                    <c:v/>
                  </c:pt>
                  <c:pt idx="52">
                    <c:v/>
                  </c:pt>
                  <c:pt idx="53">
                    <c:v/>
                  </c:pt>
                  <c:pt idx="54">
                    <c:v/>
                  </c:pt>
                  <c:pt idx="55">
                    <c:v/>
                  </c:pt>
                  <c:pt idx="56">
                    <c:v/>
                  </c:pt>
                  <c:pt idx="57">
                    <c:v/>
                  </c:pt>
                  <c:pt idx="58">
                    <c:v/>
                  </c:pt>
                  <c:pt idx="59">
                    <c:v/>
                  </c:pt>
                  <c:pt idx="60">
                    <c:v>30 h</c:v>
                  </c:pt>
                  <c:pt idx="61">
                    <c:v/>
                  </c:pt>
                  <c:pt idx="62">
                    <c:v/>
                  </c:pt>
                  <c:pt idx="63">
                    <c:v/>
                  </c:pt>
                  <c:pt idx="64">
                    <c:v/>
                  </c:pt>
                  <c:pt idx="65">
                    <c:v/>
                  </c:pt>
                  <c:pt idx="66">
                    <c:v/>
                  </c:pt>
                  <c:pt idx="67">
                    <c:v/>
                  </c:pt>
                  <c:pt idx="68">
                    <c:v/>
                  </c:pt>
                  <c:pt idx="69">
                    <c:v/>
                  </c:pt>
                  <c:pt idx="70">
                    <c:v/>
                  </c:pt>
                  <c:pt idx="71">
                    <c:v/>
                  </c:pt>
                  <c:pt idx="72">
                    <c:v>36 h</c:v>
                  </c:pt>
                  <c:pt idx="73">
                    <c:v/>
                  </c:pt>
                  <c:pt idx="74">
                    <c:v/>
                  </c:pt>
                  <c:pt idx="75">
                    <c:v/>
                  </c:pt>
                  <c:pt idx="76">
                    <c:v/>
                  </c:pt>
                  <c:pt idx="77">
                    <c:v/>
                  </c:pt>
                  <c:pt idx="78">
                    <c:v/>
                  </c:pt>
                  <c:pt idx="79">
                    <c:v/>
                  </c:pt>
                  <c:pt idx="80">
                    <c:v/>
                  </c:pt>
                  <c:pt idx="81">
                    <c:v/>
                  </c:pt>
                  <c:pt idx="82">
                    <c:v/>
                  </c:pt>
                  <c:pt idx="83">
                    <c:v/>
                  </c:pt>
                  <c:pt idx="84">
                    <c:v>42 h</c:v>
                  </c:pt>
                  <c:pt idx="85">
                    <c:v/>
                  </c:pt>
                  <c:pt idx="86">
                    <c:v/>
                  </c:pt>
                  <c:pt idx="87">
                    <c:v/>
                  </c:pt>
                  <c:pt idx="88">
                    <c:v/>
                  </c:pt>
                  <c:pt idx="89">
                    <c:v/>
                  </c:pt>
                  <c:pt idx="90">
                    <c:v/>
                  </c:pt>
                  <c:pt idx="91">
                    <c:v/>
                  </c:pt>
                  <c:pt idx="92">
                    <c:v/>
                  </c:pt>
                  <c:pt idx="93">
                    <c:v/>
                  </c:pt>
                  <c:pt idx="94">
                    <c:v/>
                  </c:pt>
                  <c:pt idx="95">
                    <c:v/>
                  </c:pt>
                  <c:pt idx="96">
                    <c:v>48 h</c:v>
                  </c:pt>
                </c:lvl>
              </c:multiLvlStrCache>
            </c:multiLvlStrRef>
          </c:cat>
          <c:val>
            <c:numRef>
              <c:f>Sheet1!$E$2:$E$98</c:f>
              <c:numCache>
                <c:formatCode>General</c:formatCode>
                <c:ptCount val="97"/>
                <c:pt idx="0">
                  <c:v>60</c:v>
                </c:pt>
                <c:pt idx="1">
                  <c:v>60</c:v>
                </c:pt>
                <c:pt idx="2">
                  <c:v>60</c:v>
                </c:pt>
                <c:pt idx="3">
                  <c:v>60</c:v>
                </c:pt>
                <c:pt idx="4">
                  <c:v>60</c:v>
                </c:pt>
                <c:pt idx="5">
                  <c:v>60</c:v>
                </c:pt>
                <c:pt idx="6">
                  <c:v>60</c:v>
                </c:pt>
                <c:pt idx="7">
                  <c:v>60</c:v>
                </c:pt>
                <c:pt idx="8">
                  <c:v>60</c:v>
                </c:pt>
                <c:pt idx="9">
                  <c:v>60</c:v>
                </c:pt>
                <c:pt idx="10">
                  <c:v>60</c:v>
                </c:pt>
                <c:pt idx="11">
                  <c:v>60</c:v>
                </c:pt>
                <c:pt idx="12">
                  <c:v>60</c:v>
                </c:pt>
                <c:pt idx="13">
                  <c:v>60</c:v>
                </c:pt>
                <c:pt idx="14">
                  <c:v>60</c:v>
                </c:pt>
                <c:pt idx="15">
                  <c:v>60</c:v>
                </c:pt>
                <c:pt idx="16">
                  <c:v>60</c:v>
                </c:pt>
                <c:pt idx="17">
                  <c:v>60</c:v>
                </c:pt>
                <c:pt idx="18">
                  <c:v>60</c:v>
                </c:pt>
                <c:pt idx="19">
                  <c:v>60</c:v>
                </c:pt>
                <c:pt idx="20">
                  <c:v>60</c:v>
                </c:pt>
                <c:pt idx="21">
                  <c:v>60</c:v>
                </c:pt>
                <c:pt idx="22">
                  <c:v>60</c:v>
                </c:pt>
                <c:pt idx="23">
                  <c:v>60</c:v>
                </c:pt>
                <c:pt idx="24">
                  <c:v>60</c:v>
                </c:pt>
                <c:pt idx="25">
                  <c:v>60</c:v>
                </c:pt>
                <c:pt idx="26">
                  <c:v>60</c:v>
                </c:pt>
                <c:pt idx="27">
                  <c:v>60</c:v>
                </c:pt>
                <c:pt idx="28">
                  <c:v>60</c:v>
                </c:pt>
                <c:pt idx="29">
                  <c:v>60</c:v>
                </c:pt>
                <c:pt idx="30">
                  <c:v>60</c:v>
                </c:pt>
                <c:pt idx="31">
                  <c:v>60</c:v>
                </c:pt>
                <c:pt idx="32">
                  <c:v>60</c:v>
                </c:pt>
                <c:pt idx="33">
                  <c:v>60</c:v>
                </c:pt>
                <c:pt idx="34">
                  <c:v>60</c:v>
                </c:pt>
                <c:pt idx="35">
                  <c:v>60</c:v>
                </c:pt>
                <c:pt idx="36">
                  <c:v>60</c:v>
                </c:pt>
                <c:pt idx="37">
                  <c:v>60</c:v>
                </c:pt>
                <c:pt idx="38">
                  <c:v>60</c:v>
                </c:pt>
                <c:pt idx="39">
                  <c:v>60</c:v>
                </c:pt>
                <c:pt idx="40">
                  <c:v>60</c:v>
                </c:pt>
                <c:pt idx="41">
                  <c:v>60</c:v>
                </c:pt>
                <c:pt idx="42">
                  <c:v>60</c:v>
                </c:pt>
                <c:pt idx="43">
                  <c:v>60</c:v>
                </c:pt>
                <c:pt idx="44">
                  <c:v>60</c:v>
                </c:pt>
                <c:pt idx="45">
                  <c:v>60</c:v>
                </c:pt>
                <c:pt idx="46">
                  <c:v>60</c:v>
                </c:pt>
                <c:pt idx="47">
                  <c:v>60</c:v>
                </c:pt>
                <c:pt idx="48">
                  <c:v>60</c:v>
                </c:pt>
                <c:pt idx="49">
                  <c:v>60</c:v>
                </c:pt>
                <c:pt idx="50">
                  <c:v>60</c:v>
                </c:pt>
                <c:pt idx="51">
                  <c:v>60</c:v>
                </c:pt>
                <c:pt idx="52">
                  <c:v>60</c:v>
                </c:pt>
                <c:pt idx="53">
                  <c:v>60</c:v>
                </c:pt>
                <c:pt idx="54">
                  <c:v>60</c:v>
                </c:pt>
                <c:pt idx="55">
                  <c:v>60</c:v>
                </c:pt>
                <c:pt idx="56">
                  <c:v>60</c:v>
                </c:pt>
                <c:pt idx="57">
                  <c:v>60</c:v>
                </c:pt>
                <c:pt idx="58">
                  <c:v>60</c:v>
                </c:pt>
                <c:pt idx="59">
                  <c:v>60</c:v>
                </c:pt>
                <c:pt idx="60">
                  <c:v>60</c:v>
                </c:pt>
                <c:pt idx="61">
                  <c:v>60</c:v>
                </c:pt>
                <c:pt idx="62">
                  <c:v>60</c:v>
                </c:pt>
                <c:pt idx="63">
                  <c:v>60</c:v>
                </c:pt>
                <c:pt idx="64">
                  <c:v>60</c:v>
                </c:pt>
                <c:pt idx="65">
                  <c:v>60</c:v>
                </c:pt>
                <c:pt idx="66">
                  <c:v>60</c:v>
                </c:pt>
                <c:pt idx="67">
                  <c:v>60</c:v>
                </c:pt>
                <c:pt idx="68">
                  <c:v>60</c:v>
                </c:pt>
                <c:pt idx="69">
                  <c:v>60</c:v>
                </c:pt>
                <c:pt idx="70">
                  <c:v>60</c:v>
                </c:pt>
                <c:pt idx="71">
                  <c:v>60</c:v>
                </c:pt>
                <c:pt idx="72">
                  <c:v>60</c:v>
                </c:pt>
                <c:pt idx="73">
                  <c:v>60</c:v>
                </c:pt>
                <c:pt idx="74">
                  <c:v>60</c:v>
                </c:pt>
                <c:pt idx="75">
                  <c:v>60</c:v>
                </c:pt>
                <c:pt idx="76">
                  <c:v>60</c:v>
                </c:pt>
                <c:pt idx="77">
                  <c:v>60</c:v>
                </c:pt>
                <c:pt idx="78">
                  <c:v>60</c:v>
                </c:pt>
                <c:pt idx="79">
                  <c:v>60</c:v>
                </c:pt>
                <c:pt idx="80">
                  <c:v>60</c:v>
                </c:pt>
                <c:pt idx="81">
                  <c:v>60</c:v>
                </c:pt>
                <c:pt idx="82">
                  <c:v>60</c:v>
                </c:pt>
                <c:pt idx="83">
                  <c:v>60</c:v>
                </c:pt>
                <c:pt idx="84">
                  <c:v>60</c:v>
                </c:pt>
                <c:pt idx="85">
                  <c:v>60</c:v>
                </c:pt>
                <c:pt idx="86">
                  <c:v>60</c:v>
                </c:pt>
                <c:pt idx="87">
                  <c:v>60</c:v>
                </c:pt>
                <c:pt idx="88">
                  <c:v>60</c:v>
                </c:pt>
                <c:pt idx="89">
                  <c:v>60</c:v>
                </c:pt>
                <c:pt idx="90">
                  <c:v>60</c:v>
                </c:pt>
                <c:pt idx="91">
                  <c:v>60</c:v>
                </c:pt>
                <c:pt idx="92">
                  <c:v>60</c:v>
                </c:pt>
                <c:pt idx="93">
                  <c:v>60</c:v>
                </c:pt>
                <c:pt idx="94">
                  <c:v>60</c:v>
                </c:pt>
                <c:pt idx="95">
                  <c:v>60</c:v>
                </c:pt>
                <c:pt idx="96">
                  <c:v>60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3B8B3"/>
                </a:solidFill>
                <a:latin typeface="+mn-lt"/>
              </a:defRPr>
            </a:pPr>
            <a:endParaRPr lang="en-US"/>
          </a:p>
        </c:txPr>
        <c:crossAx val="2094734552"/>
        <c:crosses val="autoZero"/>
        <c:auto val="1"/>
        <c:lblAlgn val="ctr"/>
        <c:noMultiLvlLbl val="1"/>
      </c:catAx>
      <c:valAx>
        <c:axId val="2094734552"/>
        <c:scaling>
          <c:orientation val="minMax"/>
          <c:max val="70"/>
          <c:min val="20"/>
        </c:scaling>
        <c:delete val="0"/>
        <c:axPos val="l"/>
        <c:majorGridlines>
          <c:spPr>
            <a:ln w="6350" cap="flat">
              <a:solidFill>
                <a:srgbClr val="35505A"/>
              </a:solidFill>
              <a:prstDash val="solid"/>
              <a:round/>
            </a:ln>
          </c:spPr>
        </c:majorGridlines>
        <c:title>
          <c:tx>
            <c:rich>
              <a:bodyPr/>
              <a:lstStyle/>
              <a:p>
                <a:pPr>
                  <a:defRPr sz="1000" b="0" i="0" u="none" strike="noStrike">
                    <a:solidFill>
                      <a:srgbClr val="A3B8B3"/>
                    </a:solidFill>
                    <a:latin typeface="Arial"/>
                  </a:defRPr>
                </a:pPr>
                <a:r>
                  <a:rPr sz="1000" b="0" i="0" u="none" strike="noStrike">
                    <a:solidFill>
                      <a:srgbClr val="A3B8B3"/>
                    </a:solidFill>
                    <a:latin typeface="Arial"/>
                  </a:rPr>
                  <a:t>Soil moisture (%)</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A3B8B3"/>
                </a:solidFill>
                <a:latin typeface="+mn-lt"/>
              </a:defRPr>
            </a:pPr>
            <a:endParaRPr lang="en-US"/>
          </a:p>
        </c:txPr>
        <c:crossAx val="2094734554"/>
        <c:crosses val="autoZero"/>
        <c:crossBetween val="between"/>
        <c:majorUnit val="10"/>
      </c:valAx>
      <c:spPr>
        <a:solidFill>
          <a:srgbClr val="1C2F36"/>
        </a:solidFill>
        <a:ln>
          <a:noFill/>
        </a:ln>
        <a:effectLst/>
      </c:spPr>
    </c:plotArea>
    <c:legend>
      <c:legendPos val="b"/>
      <c:overlay val="0"/>
      <c:txPr>
        <a:bodyPr/>
        <a:lstStyle/>
        <a:p>
          <a:pPr>
            <a:defRPr sz="1000">
              <a:solidFill>
                <a:srgbClr val="E8F1EE"/>
              </a:solidFill>
              <a:latin typeface="+mn-lt"/>
              <a:cs typeface="+mn-lt"/>
            </a:defRPr>
          </a:pPr>
          <a:endParaRPr lang="en-US"/>
        </a:p>
      </c:txPr>
    </c:legend>
    <c:plotVisOnly val="1"/>
    <c:dispBlanksAs val="span"/>
  </c:chart>
  <c:spPr>
    <a:solidFill>
      <a:srgbClr val="1C2F3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A3B8B3"/>
                </a:solidFill>
                <a:latin typeface="+mn-lt"/>
              </a:defRPr>
            </a:pPr>
            <a:r>
              <a:rPr sz="1100" b="0" i="0" u="none" strike="noStrike">
                <a:solidFill>
                  <a:srgbClr val="A3B8B3"/>
                </a:solidFill>
                <a:latin typeface="+mn-lt"/>
              </a:rPr>
              <a:t>Water used over 7 days (simulated)</a:t>
            </a:r>
          </a:p>
        </c:rich>
      </c:tx>
      <c:layout/>
      <c:overlay val="0"/>
    </c:title>
    <c:autoTitleDeleted val="0"/>
    <c:plotArea>
      <c:layout/>
      <c:barChart>
        <c:barDir val="bar"/>
        <c:grouping val="clustered"/>
        <c:varyColors val="0"/>
        <c:ser>
          <c:idx val="0"/>
          <c:order val="0"/>
          <c:tx>
            <c:strRef>
              <c:f>Sheet1!$B$1</c:f>
              <c:strCache>
                <c:ptCount val="1"/>
                <c:pt idx="0">
                  <c:v>Water used (L)</c:v>
                </c:pt>
              </c:strCache>
            </c:strRef>
          </c:tx>
          <c:spPr>
            <a:solidFill>
              <a:srgbClr val="6CC08B"/>
            </a:solidFill>
            <a:effectLst/>
          </c:spPr>
          <c:invertIfNegative val="0"/>
          <c:dLbls>
            <c:numFmt formatCode="0.0&quot; L&quot;" sourceLinked="0"/>
            <c:txPr>
              <a:bodyPr/>
              <a:lstStyle/>
              <a:p>
                <a:pPr>
                  <a:defRPr b="0" i="0" strike="noStrike" sz="1100" u="none">
                    <a:solidFill>
                      <a:srgbClr val="E8F1EE"/>
                    </a:solidFill>
                    <a:latin typeface="+mn-lt"/>
                  </a:defRPr>
                </a:pPr>
              </a:p>
            </c:txPr>
            <c:showLegendKey val="0"/>
            <c:showVal val="1"/>
            <c:showCatName val="0"/>
            <c:showSerName val="0"/>
            <c:showPercent val="0"/>
            <c:showBubbleSize val="0"/>
            <c:showLeaderLines val="0"/>
          </c:dLbls>
          <c:dPt>
            <c:idx val="0"/>
            <c:invertIfNegative val="0"/>
            <c:bubble3D val="0"/>
            <c:spPr>
              <a:solidFill>
                <a:srgbClr val="6CC08B"/>
              </a:solidFill>
              <a:effectLst/>
            </c:spPr>
          </c:dPt>
          <c:dPt>
            <c:idx val="1"/>
            <c:invertIfNegative val="0"/>
            <c:bubble3D val="0"/>
            <c:spPr>
              <a:solidFill>
                <a:srgbClr val="EDA265"/>
              </a:solidFill>
              <a:effectLst/>
            </c:spPr>
          </c:dPt>
          <c:cat>
            <c:multiLvlStrRef>
              <c:f>Sheet1!$A$2:$A$3</c:f>
              <c:multiLvlStrCache>
                <c:ptCount val="2"/>
                <c:lvl>
                  <c:pt idx="0">
                    <c:v>Closed loop</c:v>
                  </c:pt>
                  <c:pt idx="1">
                    <c:v>Fixed timer</c:v>
                  </c:pt>
                </c:lvl>
              </c:multiLvlStrCache>
            </c:multiLvlStrRef>
          </c:cat>
          <c:val>
            <c:numRef>
              <c:f>Sheet1!$B$2:$B$3</c:f>
              <c:numCache>
                <c:formatCode>General</c:formatCode>
                <c:ptCount val="2"/>
                <c:pt idx="0">
                  <c:v>2.7</c:v>
                </c:pt>
                <c:pt idx="1">
                  <c:v>4.9</c:v>
                </c:pt>
              </c:numCache>
            </c:numRef>
          </c:val>
        </c:ser>
        <c:dLbls>
          <c:numFmt formatCode="0.0&quot; L&quot;" sourceLinked="0"/>
          <c:txPr>
            <a:bodyPr/>
            <a:lstStyle/>
            <a:p>
              <a:pPr>
                <a:defRPr b="0" i="0" strike="noStrike" sz="1100" u="none">
                  <a:solidFill>
                    <a:srgbClr val="E8F1E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E8F1EE"/>
                </a:solidFill>
                <a:latin typeface="+mn-lt"/>
              </a:defRPr>
            </a:pPr>
            <a:endParaRPr lang="en-US"/>
          </a:p>
        </c:txPr>
        <c:crossAx val="2094734552"/>
        <c:crosses val="autoZero"/>
        <c:auto val="1"/>
        <c:lblAlgn val="ctr"/>
        <c:noMultiLvlLbl val="1"/>
      </c:catAx>
      <c:valAx>
        <c:axId val="2094734552"/>
        <c:scaling>
          <c:orientation val="minMax"/>
          <c:max val="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C2F36"/>
        </a:solidFill>
        <a:ln>
          <a:noFill/>
        </a:ln>
        <a:effectLst/>
      </c:spPr>
    </c:plotArea>
    <c:plotVisOnly val="1"/>
    <c:dispBlanksAs val="span"/>
  </c:chart>
  <c:spPr>
    <a:solidFill>
      <a:srgbClr val="1C2F3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Print this slide, get the guide's signature in the box, scan it, and replace this slide with the scanned image before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Agriculture is the largest user of freshwater. Fixed timers and manual watering ignore the actual soil state. Our system closes the loop: sense, decide, act, and show the user what is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1 to 6: reviews establish the motivation; Puig and Pereira show low-cost platforms, and Pereira uses the same ESP32 as us but relies on the Blynk cloud app. Schwamback tells us how far to trust a cheap capacitive probe. Nsoh flags energy savings and the security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7 to 12: Abdelmoneim gives the accuracy we can expect after calibration. ML work (Padhy, Kunt, Das, Lokesh) shows where the logged data can lead. Boukri 2026 is the closest baseline: 33% water saving versus a fixed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confirms feedback control saves water and the ESP32 is the right hardware. The gaps: dependence on Blynk, fragility when Wi-Fi or sensors fail, and unused environmental data. Our concept answers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watering by the clock wastes water and stresses plants; existing low-cost systems only react to the current reading and are fragile when hardware or the network fails. Our goal answers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objectives. 1 Real-time monitoring of soil moisture, temperature, humidity and water level. 2 AI-based prediction of future soil moisture and irrigation needs. 3 Adaptive irrigation combining sensor data, predictions and safety limits. 4 Anomaly detection for abnormal readings and unexpected irrigation. 5 Feedback verification: measure moisture after watering to improve decisions. 6 Smart dashboard. 7 Water optimisation against conventional methods. 8 System safety: no dry-running, over-watering or unsafe pump runs. Monitoring, dashboard and safety are built; prediction, anomaly detection and feedback verification are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three sensors feed the ESP32. The ESP32 runs the control loop itself and drives the pump through a relay, so watering never depends on the network. It posts readings to our Flask server every 2 seconds and polls for commands. The dashboard only talks to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2 seconds the ESP32 reads its sensors. Two safety checks come first: an empty tank or moisture above the overwatering limit stops the pump immediately. Only in automatic mode, after the settle time and below 30 percent, does it run a 6-second burst, then waits 20 seconds and rechecks. Defaults will be calibrated on the real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modules. The firmware makes every watering decision. The backend only stores and relays, which keeps the safety logic in one place. The simulator runs the same control logic so we could test the full system before the ESP32 arrives. The code excerpt shows the order of the checks: safety first, watering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finished. It clearly labels simulated data. Show the gauge with both limits marked, the pump card and the live control steps; then the history page with watering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simulated, and we say so. Over 48 hours including hot days, our loop holds moisture between 30 and 42 percent. A typical fixed timer pushes the pot towards waterlogging. Real sensor results come after the hardware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seven simulated days the closed loop used 2.7 litres against 4.9 for a fixed timer, 45 percent less, and never approached waterlogging. Boukri et al. 2026 measured 25 to 35 percent savings in the field, so the direction matches; our exact figure depends on the timer setting we chose. On the right, the integration tests passed; firmware testing waits for the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challenge: no ESP32 yet, so we built a simulator with the same logic. The other challenges are handled by design: local decisions, failsafes, a fixed API contract across the three disciplines, and clear labelling of simulated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CSE side for this review is complete: survey, design, dashboard, backend, simulator and tests. The firmware is written; the hardware rig is being assembled by ECE and Mechatronics. Next: calibrate and collect real data, then train the prediction model and add anomaly detection and feedback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lines,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for the literature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1223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rtlCol="0"/>
          <a:lstStyle>
            <a:lvl1pPr indent="0" marL="0">
              <a:buNone/>
              <a:defRPr lang="en-US" sz="2600" b="1" dirty="0">
                <a:solidFill>
                  <a:srgbClr val="E8F1EE"/>
                </a:solidFill>
                <a:latin typeface="Arial" pitchFamily="34" charset="0"/>
                <a:ea typeface="Arial" pitchFamily="34" charset="-122"/>
                <a:cs typeface="Arial" pitchFamily="34" charset="-120"/>
              </a:defRPr>
            </a:lvl1pPr>
          </a:lstStyle>
          <a:p>
            <a:pPr indent="0" marL="0">
              <a:buNone/>
            </a:pPr>
            <a:endParaRPr lang="en-US" sz="2600" dirty="0"/>
          </a:p>
        </p:txBody>
      </p:sp>
      <p:sp>
        <p:nvSpPr>
          <p:cNvPr id="3"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900" dirty="0">
                <a:solidFill>
                  <a:srgbClr val="A3B8B3"/>
                </a:solidFill>
                <a:latin typeface="Calibri" pitchFamily="34" charset="0"/>
                <a:ea typeface="Calibri" pitchFamily="34" charset="-122"/>
                <a:cs typeface="Calibri" pitchFamily="34" charset="-120"/>
              </a:rPr>
              <a:t>Smart Plant Health Monitoring &amp; Automatic Irrigation  ·  MDP Review II</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BLANK">
    <p:bg>
      <p:bgPr>
        <a:solidFill>
          <a:srgbClr val="12232A"/>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84048" cy="384048"/>
          </a:xfrm>
          <a:prstGeom prst="rect">
            <a:avLst/>
          </a:prstGeom>
        </p:spPr>
      </p:pic>
      <p:sp>
        <p:nvSpPr>
          <p:cNvPr id="3" name="Text 0"/>
          <p:cNvSpPr txBox="1"/>
          <p:nvPr/>
        </p:nvSpPr>
        <p:spPr>
          <a:xfrm>
            <a:off x="960120" y="411480"/>
            <a:ext cx="6858000" cy="329184"/>
          </a:xfrm>
          <a:prstGeom prst="rect">
            <a:avLst/>
          </a:prstGeom>
          <a:noFill/>
          <a:ln/>
        </p:spPr>
        <p:txBody>
          <a:bodyPr wrap="square" lIns="0" tIns="0" rIns="0" bIns="0" rtlCol="0" anchor="ctr"/>
          <a:lstStyle/>
          <a:p>
            <a:pPr indent="0" marL="0">
              <a:buNone/>
            </a:pPr>
            <a:r>
              <a:rPr lang="en-US" sz="1300" b="1" dirty="0">
                <a:solidFill>
                  <a:srgbClr val="4A6B66"/>
                </a:solidFill>
                <a:latin typeface="Calibri" pitchFamily="34" charset="0"/>
                <a:ea typeface="Calibri" pitchFamily="34" charset="-122"/>
                <a:cs typeface="Calibri" pitchFamily="34" charset="-120"/>
              </a:rPr>
              <a:t>VIT Chennai  ·  Multidisciplinary Project (MDP)  ·  Review II</a:t>
            </a:r>
            <a:endParaRPr lang="en-US" sz="1300" dirty="0"/>
          </a:p>
        </p:txBody>
      </p:sp>
      <p:sp>
        <p:nvSpPr>
          <p:cNvPr id="4" name="Text 1"/>
          <p:cNvSpPr txBox="1"/>
          <p:nvPr/>
        </p:nvSpPr>
        <p:spPr>
          <a:xfrm>
            <a:off x="457200" y="914400"/>
            <a:ext cx="8229600" cy="868680"/>
          </a:xfrm>
          <a:prstGeom prst="rect">
            <a:avLst/>
          </a:prstGeom>
          <a:noFill/>
          <a:ln/>
        </p:spPr>
        <p:txBody>
          <a:bodyPr wrap="square" lIns="0" tIns="0" rIns="0" bIns="0" rtlCol="0" anchor="t"/>
          <a:lstStyle/>
          <a:p>
            <a:pPr indent="0" marL="0">
              <a:buNone/>
            </a:pPr>
            <a:r>
              <a:rPr lang="en-US" sz="3000" b="1" dirty="0">
                <a:solidFill>
                  <a:srgbClr val="17323A"/>
                </a:solidFill>
                <a:latin typeface="Arial" pitchFamily="34" charset="0"/>
                <a:ea typeface="Arial" pitchFamily="34" charset="-122"/>
                <a:cs typeface="Arial" pitchFamily="34" charset="-120"/>
              </a:rPr>
              <a:t>Smart Plant Health Monitoring &amp; Automatic Irrigation System</a:t>
            </a:r>
            <a:endParaRPr lang="en-US" sz="3000" dirty="0"/>
          </a:p>
        </p:txBody>
      </p:sp>
      <p:sp>
        <p:nvSpPr>
          <p:cNvPr id="5" name="Text 2"/>
          <p:cNvSpPr txBox="1"/>
          <p:nvPr/>
        </p:nvSpPr>
        <p:spPr>
          <a:xfrm>
            <a:off x="457200" y="1828800"/>
            <a:ext cx="7863840" cy="457200"/>
          </a:xfrm>
          <a:prstGeom prst="rect">
            <a:avLst/>
          </a:prstGeom>
          <a:noFill/>
          <a:ln/>
        </p:spPr>
        <p:txBody>
          <a:bodyPr wrap="square" lIns="0" tIns="0" rIns="0" bIns="0" rtlCol="0" anchor="t"/>
          <a:lstStyle/>
          <a:p>
            <a:pPr indent="0" marL="0">
              <a:buNone/>
            </a:pPr>
            <a:r>
              <a:rPr lang="en-US" sz="1400" i="1" dirty="0">
                <a:solidFill>
                  <a:srgbClr val="4A6B66"/>
                </a:solidFill>
                <a:latin typeface="Calibri" pitchFamily="34" charset="0"/>
                <a:ea typeface="Calibri" pitchFamily="34" charset="-122"/>
                <a:cs typeface="Calibri" pitchFamily="34" charset="-120"/>
              </a:rPr>
              <a:t>A closed-loop ESP32 system that measures the soil, waters only when needed, and lets you watch and take over from a web dashboard</a:t>
            </a:r>
            <a:endParaRPr lang="en-US" sz="14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4754880" cy="914400"/>
        </p:xfrm>
        <a:graphic>
          <a:graphicData uri="http://schemas.openxmlformats.org/drawingml/2006/table">
            <a:tbl>
              <a:tblPr/>
              <a:tblGrid>
                <a:gridCol w="1280160"/>
                <a:gridCol w="2194560"/>
                <a:gridCol w="1280160"/>
              </a:tblGrid>
              <a:tr h="26517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Discipline</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solidFill>
                      <a:srgbClr val="2E6B5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solidFill>
                      <a:srgbClr val="2E6B5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Reg. No.</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solidFill>
                      <a:srgbClr val="2E6B5A"/>
                    </a:solidFill>
                  </a:tcPr>
                </a:tc>
              </a:tr>
              <a:tr h="265176">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CSE</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Jeevan Kruthik G B</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26BCE1581</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r>
              <a:tr h="265176">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CSE</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Ram Arusiya</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26BCE1582</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r>
              <a:tr h="265176">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CSE</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Saunak Ghosh</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26BCE5517</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r>
              <a:tr h="265176">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ECE</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Sri Hasini B</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26BEC1231</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r>
              <a:tr h="265176">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Mechatronics</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Mann Hemang Shah</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c>
                  <a:txBody>
                    <a:bodyPr/>
                    <a:lstStyle/>
                    <a:p>
                      <a:pPr indent="0" marL="0">
                        <a:buNone/>
                      </a:pPr>
                      <a:r>
                        <a:rPr lang="en-US" sz="1100" dirty="0">
                          <a:solidFill>
                            <a:srgbClr val="17323A"/>
                          </a:solidFill>
                          <a:latin typeface="Calibri" pitchFamily="34" charset="0"/>
                          <a:ea typeface="Calibri" pitchFamily="34" charset="-122"/>
                          <a:cs typeface="Calibri" pitchFamily="34" charset="-120"/>
                        </a:rPr>
                        <a:t>26BMH1193</a:t>
                      </a:r>
                      <a:endParaRPr lang="en-US" sz="1100" dirty="0">
                        <a:latin typeface="Calibri" charset="0"/>
                        <a:ea typeface="Calibri" charset="0"/>
                        <a:cs typeface="Calibri" charset="0"/>
                      </a:endParaRPr>
                    </a:p>
                  </a:txBody>
                  <a:tcPr marL="76200" marR="76200" marT="38100" marB="38100" anchor="ctr">
                    <a:lnL w="9525" cap="flat" cmpd="sng" algn="ctr">
                      <a:solidFill>
                        <a:srgbClr val="B9CCC7"/>
                      </a:solidFill>
                      <a:prstDash val="solid"/>
                      <a:round/>
                      <a:headEnd type="none" w="med" len="med"/>
                      <a:tailEnd type="none" w="med" len="med"/>
                    </a:lnL>
                    <a:lnR w="9525" cap="flat" cmpd="sng" algn="ctr">
                      <a:solidFill>
                        <a:srgbClr val="B9CCC7"/>
                      </a:solidFill>
                      <a:prstDash val="solid"/>
                      <a:round/>
                      <a:headEnd type="none" w="med" len="med"/>
                      <a:tailEnd type="none" w="med" len="med"/>
                    </a:lnR>
                    <a:lnT w="9525" cap="flat" cmpd="sng" algn="ctr">
                      <a:solidFill>
                        <a:srgbClr val="B9CCC7"/>
                      </a:solidFill>
                      <a:prstDash val="solid"/>
                      <a:round/>
                      <a:headEnd type="none" w="med" len="med"/>
                      <a:tailEnd type="none" w="med" len="med"/>
                    </a:lnT>
                    <a:lnB w="9525" cap="flat" cmpd="sng" algn="ctr">
                      <a:solidFill>
                        <a:srgbClr val="B9CCC7"/>
                      </a:solidFill>
                      <a:prstDash val="solid"/>
                      <a:round/>
                      <a:headEnd type="none" w="med" len="med"/>
                      <a:tailEnd type="none" w="med" len="med"/>
                    </a:lnB>
                  </a:tcPr>
                </a:tc>
              </a:tr>
            </a:tbl>
          </a:graphicData>
        </a:graphic>
      </p:graphicFrame>
      <p:sp>
        <p:nvSpPr>
          <p:cNvPr id="7" name="Text 3"/>
          <p:cNvSpPr txBox="1"/>
          <p:nvPr/>
        </p:nvSpPr>
        <p:spPr>
          <a:xfrm>
            <a:off x="457200" y="4224528"/>
            <a:ext cx="4754880" cy="256032"/>
          </a:xfrm>
          <a:prstGeom prst="rect">
            <a:avLst/>
          </a:prstGeom>
          <a:noFill/>
          <a:ln/>
        </p:spPr>
        <p:txBody>
          <a:bodyPr wrap="square" lIns="0" tIns="0" rIns="0" bIns="0" rtlCol="0" anchor="t"/>
          <a:lstStyle/>
          <a:p>
            <a:pPr indent="0" marL="0">
              <a:buNone/>
            </a:pPr>
            <a:r>
              <a:rPr lang="en-US" sz="1200" b="1" dirty="0">
                <a:solidFill>
                  <a:srgbClr val="17323A"/>
                </a:solidFill>
                <a:latin typeface="Calibri" pitchFamily="34" charset="0"/>
                <a:ea typeface="Calibri" pitchFamily="34" charset="-122"/>
                <a:cs typeface="Calibri" pitchFamily="34" charset="-120"/>
              </a:rPr>
              <a:t>Guide: [Guide name], [Designation], [School]</a:t>
            </a:r>
            <a:endParaRPr lang="en-US" sz="1200" dirty="0"/>
          </a:p>
        </p:txBody>
      </p:sp>
      <p:sp>
        <p:nvSpPr>
          <p:cNvPr id="8" name="Text 4"/>
          <p:cNvSpPr txBox="1"/>
          <p:nvPr/>
        </p:nvSpPr>
        <p:spPr>
          <a:xfrm>
            <a:off x="457200" y="4498848"/>
            <a:ext cx="4754880" cy="274320"/>
          </a:xfrm>
          <a:prstGeom prst="rect">
            <a:avLst/>
          </a:prstGeom>
          <a:noFill/>
          <a:ln/>
        </p:spPr>
        <p:txBody>
          <a:bodyPr wrap="square" lIns="0" tIns="0" rIns="0" bIns="0" rtlCol="0" anchor="t"/>
          <a:lstStyle/>
          <a:p>
            <a:pPr indent="0" marL="0">
              <a:buNone/>
            </a:pPr>
            <a:r>
              <a:rPr lang="en-US" sz="1200" dirty="0">
                <a:solidFill>
                  <a:srgbClr val="4A6B66"/>
                </a:solidFill>
                <a:latin typeface="Calibri" pitchFamily="34" charset="0"/>
                <a:ea typeface="Calibri" pitchFamily="34" charset="-122"/>
                <a:cs typeface="Calibri" pitchFamily="34" charset="-120"/>
              </a:rPr>
              <a:t>Review date: 14 October 2026</a:t>
            </a:r>
            <a:endParaRPr lang="en-US" sz="1200" dirty="0"/>
          </a:p>
        </p:txBody>
      </p:sp>
      <p:sp>
        <p:nvSpPr>
          <p:cNvPr id="9" name="Shape 5"/>
          <p:cNvSpPr/>
          <p:nvPr/>
        </p:nvSpPr>
        <p:spPr>
          <a:xfrm>
            <a:off x="5760720" y="2514600"/>
            <a:ext cx="2926080" cy="2057400"/>
          </a:xfrm>
          <a:prstGeom prst="rect">
            <a:avLst/>
          </a:prstGeom>
          <a:solidFill>
            <a:srgbClr val="F4F8F7"/>
          </a:solidFill>
          <a:ln w="12700">
            <a:solidFill>
              <a:srgbClr val="7F9C96"/>
            </a:solidFill>
            <a:prstDash val="dash"/>
          </a:ln>
        </p:spPr>
      </p:sp>
      <p:sp>
        <p:nvSpPr>
          <p:cNvPr id="10" name="Text 6"/>
          <p:cNvSpPr txBox="1"/>
          <p:nvPr/>
        </p:nvSpPr>
        <p:spPr>
          <a:xfrm>
            <a:off x="5760720" y="4206240"/>
            <a:ext cx="2926080" cy="274320"/>
          </a:xfrm>
          <a:prstGeom prst="rect">
            <a:avLst/>
          </a:prstGeom>
          <a:noFill/>
          <a:ln/>
        </p:spPr>
        <p:txBody>
          <a:bodyPr wrap="square" lIns="0" tIns="0" rIns="0" bIns="0" rtlCol="0" anchor="t"/>
          <a:lstStyle/>
          <a:p>
            <a:pPr algn="ctr" indent="0" marL="0">
              <a:buNone/>
            </a:pPr>
            <a:r>
              <a:rPr lang="en-US" sz="1100" dirty="0">
                <a:solidFill>
                  <a:srgbClr val="4A6B66"/>
                </a:solidFill>
                <a:latin typeface="Calibri" pitchFamily="34" charset="0"/>
                <a:ea typeface="Calibri" pitchFamily="34" charset="-122"/>
                <a:cs typeface="Calibri" pitchFamily="34" charset="-120"/>
              </a:rPr>
              <a:t>Guide signature &amp; date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Introduction: why smart irrigation</a:t>
            </a:r>
            <a:endParaRPr lang="en-US" sz="2600" dirty="0"/>
          </a:p>
        </p:txBody>
      </p:sp>
      <p:sp>
        <p:nvSpPr>
          <p:cNvPr id="3" name="a1_card_0"/>
          <p:cNvSpPr/>
          <p:nvPr/>
        </p:nvSpPr>
        <p:spPr>
          <a:xfrm>
            <a:off x="457200" y="1005840"/>
            <a:ext cx="3108960" cy="3520440"/>
          </a:xfrm>
          <a:prstGeom prst="roundRect">
            <a:avLst>
              <a:gd name="adj" fmla="val 2353"/>
            </a:avLst>
          </a:prstGeom>
          <a:solidFill>
            <a:srgbClr val="233A42"/>
          </a:solidFill>
          <a:ln w="9525">
            <a:solidFill>
              <a:srgbClr val="35505A"/>
            </a:solidFill>
            <a:prstDash val="solid"/>
          </a:ln>
        </p:spPr>
      </p:sp>
      <p:sp>
        <p:nvSpPr>
          <p:cNvPr id="4" name="a1_txt_1"/>
          <p:cNvSpPr txBox="1"/>
          <p:nvPr/>
        </p:nvSpPr>
        <p:spPr>
          <a:xfrm>
            <a:off x="685800" y="1234440"/>
            <a:ext cx="2743200" cy="914400"/>
          </a:xfrm>
          <a:prstGeom prst="rect">
            <a:avLst/>
          </a:prstGeom>
          <a:noFill/>
          <a:ln/>
        </p:spPr>
        <p:txBody>
          <a:bodyPr wrap="square" lIns="0" tIns="0" rIns="0" bIns="0" rtlCol="0" anchor="t"/>
          <a:lstStyle/>
          <a:p>
            <a:pPr indent="0" marL="0">
              <a:buNone/>
            </a:pPr>
            <a:r>
              <a:rPr lang="en-US" sz="6000" b="1" dirty="0">
                <a:solidFill>
                  <a:srgbClr val="6CC08B"/>
                </a:solidFill>
                <a:latin typeface="Arial" pitchFamily="34" charset="0"/>
                <a:ea typeface="Arial" pitchFamily="34" charset="-122"/>
                <a:cs typeface="Arial" pitchFamily="34" charset="-120"/>
              </a:rPr>
              <a:t>~70%</a:t>
            </a:r>
            <a:endParaRPr lang="en-US" sz="6000" dirty="0"/>
          </a:p>
        </p:txBody>
      </p:sp>
      <p:sp>
        <p:nvSpPr>
          <p:cNvPr id="5" name="a1_txt_2"/>
          <p:cNvSpPr txBox="1"/>
          <p:nvPr/>
        </p:nvSpPr>
        <p:spPr>
          <a:xfrm>
            <a:off x="685800" y="2194560"/>
            <a:ext cx="2697480" cy="685800"/>
          </a:xfrm>
          <a:prstGeom prst="rect">
            <a:avLst/>
          </a:prstGeom>
          <a:noFill/>
          <a:ln/>
        </p:spPr>
        <p:txBody>
          <a:bodyPr wrap="square" lIns="0" tIns="0" rIns="0" bIns="0" rtlCol="0" anchor="t"/>
          <a:lstStyle/>
          <a:p>
            <a:pPr indent="0" marL="0">
              <a:buNone/>
            </a:pPr>
            <a:r>
              <a:rPr lang="en-US" sz="1400" dirty="0">
                <a:solidFill>
                  <a:srgbClr val="E8F1EE"/>
                </a:solidFill>
                <a:latin typeface="Calibri" pitchFamily="34" charset="0"/>
                <a:ea typeface="Calibri" pitchFamily="34" charset="-122"/>
                <a:cs typeface="Calibri" pitchFamily="34" charset="-120"/>
              </a:rPr>
              <a:t>of global freshwater withdrawals go to agriculture (FAO AQUASTAT)</a:t>
            </a:r>
            <a:endParaRPr lang="en-US" sz="1400" dirty="0"/>
          </a:p>
        </p:txBody>
      </p:sp>
      <p:sp>
        <p:nvSpPr>
          <p:cNvPr id="6" name="a2_txt_3"/>
          <p:cNvSpPr txBox="1"/>
          <p:nvPr/>
        </p:nvSpPr>
        <p:spPr>
          <a:xfrm>
            <a:off x="685800" y="2971800"/>
            <a:ext cx="2697480" cy="1371600"/>
          </a:xfrm>
          <a:prstGeom prst="rect">
            <a:avLst/>
          </a:prstGeom>
          <a:noFill/>
          <a:ln/>
        </p:spPr>
        <p:txBody>
          <a:bodyPr wrap="square" lIns="0" tIns="0" rIns="0" bIns="0" rtlCol="0" anchor="t"/>
          <a:lstStyle/>
          <a:p>
            <a:pPr indent="0" marL="0">
              <a:buNone/>
            </a:pPr>
            <a:r>
              <a:rPr lang="en-US" sz="1300" dirty="0">
                <a:solidFill>
                  <a:srgbClr val="A3B8B3"/>
                </a:solidFill>
                <a:latin typeface="Calibri" pitchFamily="34" charset="0"/>
                <a:ea typeface="Calibri" pitchFamily="34" charset="-122"/>
                <a:cs typeface="Calibri" pitchFamily="34" charset="-120"/>
              </a:rPr>
              <a:t>Most small-scale watering still runs on a fixed timer or by hand, so it ignores what the soil actually needs: some days the plant is stressed, other days the roots sit in water.</a:t>
            </a:r>
            <a:endParaRPr lang="en-US" sz="1300" dirty="0"/>
          </a:p>
        </p:txBody>
      </p:sp>
      <p:sp>
        <p:nvSpPr>
          <p:cNvPr id="7" name="a3_card_4"/>
          <p:cNvSpPr/>
          <p:nvPr/>
        </p:nvSpPr>
        <p:spPr>
          <a:xfrm>
            <a:off x="3840480" y="1005840"/>
            <a:ext cx="4846320" cy="768096"/>
          </a:xfrm>
          <a:prstGeom prst="roundRect">
            <a:avLst>
              <a:gd name="adj" fmla="val 9524"/>
            </a:avLst>
          </a:prstGeom>
          <a:solidFill>
            <a:srgbClr val="1C2F36"/>
          </a:solidFill>
          <a:ln w="9525">
            <a:solidFill>
              <a:srgbClr val="35505A"/>
            </a:solidFill>
            <a:prstDash val="solid"/>
          </a:ln>
        </p:spPr>
      </p:sp>
      <p:sp>
        <p:nvSpPr>
          <p:cNvPr id="8" name="a3_ic_5"/>
          <p:cNvSpPr/>
          <p:nvPr/>
        </p:nvSpPr>
        <p:spPr>
          <a:xfrm>
            <a:off x="3995928" y="1143000"/>
            <a:ext cx="493776" cy="493776"/>
          </a:xfrm>
          <a:prstGeom prst="ellipse">
            <a:avLst/>
          </a:prstGeom>
          <a:solidFill>
            <a:srgbClr val="12232A"/>
          </a:solidFill>
          <a:ln/>
        </p:spPr>
      </p:sp>
      <p:pic>
        <p:nvPicPr>
          <p:cNvPr id="9" name="a3_icimg_6" descr="preencoded.png">    </p:cNvPr>
          <p:cNvPicPr>
            <a:picLocks noChangeAspect="1"/>
          </p:cNvPicPr>
          <p:nvPr/>
        </p:nvPicPr>
        <p:blipFill>
          <a:blip r:embed="rId1"/>
          <a:stretch>
            <a:fillRect/>
          </a:stretch>
        </p:blipFill>
        <p:spPr>
          <a:xfrm>
            <a:off x="4114434" y="1261506"/>
            <a:ext cx="256764" cy="256764"/>
          </a:xfrm>
          <a:prstGeom prst="rect">
            <a:avLst/>
          </a:prstGeom>
        </p:spPr>
      </p:pic>
      <p:sp>
        <p:nvSpPr>
          <p:cNvPr id="10" name="a3_txt_7"/>
          <p:cNvSpPr txBox="1"/>
          <p:nvPr/>
        </p:nvSpPr>
        <p:spPr>
          <a:xfrm>
            <a:off x="4645152" y="1097280"/>
            <a:ext cx="3840480" cy="274320"/>
          </a:xfrm>
          <a:prstGeom prst="rect">
            <a:avLst/>
          </a:prstGeom>
          <a:noFill/>
          <a:ln/>
        </p:spPr>
        <p:txBody>
          <a:bodyPr wrap="square" lIns="0" tIns="0" rIns="0" bIns="0" rtlCol="0" anchor="t"/>
          <a:lstStyle/>
          <a:p>
            <a:pPr indent="0" marL="0">
              <a:buNone/>
            </a:pPr>
            <a:r>
              <a:rPr lang="en-US" sz="1600" b="1" dirty="0">
                <a:solidFill>
                  <a:srgbClr val="7CCFC7"/>
                </a:solidFill>
                <a:latin typeface="Calibri" pitchFamily="34" charset="0"/>
                <a:ea typeface="Calibri" pitchFamily="34" charset="-122"/>
                <a:cs typeface="Calibri" pitchFamily="34" charset="-120"/>
              </a:rPr>
              <a:t>Sense</a:t>
            </a:r>
            <a:endParaRPr lang="en-US" sz="1600" dirty="0"/>
          </a:p>
        </p:txBody>
      </p:sp>
      <p:sp>
        <p:nvSpPr>
          <p:cNvPr id="11" name="a3_txt_8"/>
          <p:cNvSpPr txBox="1"/>
          <p:nvPr/>
        </p:nvSpPr>
        <p:spPr>
          <a:xfrm>
            <a:off x="4645152" y="1389888"/>
            <a:ext cx="3931920" cy="320040"/>
          </a:xfrm>
          <a:prstGeom prst="rect">
            <a:avLst/>
          </a:prstGeom>
          <a:noFill/>
          <a:ln/>
        </p:spPr>
        <p:txBody>
          <a:bodyPr wrap="square" lIns="0" tIns="0" rIns="0" bIns="0" rtlCol="0" anchor="t"/>
          <a:lstStyle/>
          <a:p>
            <a:pPr indent="0" marL="0">
              <a:buNone/>
            </a:pPr>
            <a:r>
              <a:rPr lang="en-US" sz="1300" dirty="0">
                <a:solidFill>
                  <a:srgbClr val="E8F1EE"/>
                </a:solidFill>
                <a:latin typeface="Calibri" pitchFamily="34" charset="0"/>
                <a:ea typeface="Calibri" pitchFamily="34" charset="-122"/>
                <a:cs typeface="Calibri" pitchFamily="34" charset="-120"/>
              </a:rPr>
              <a:t>Soil moisture, temperature and humidity, read every 2 s</a:t>
            </a:r>
            <a:endParaRPr lang="en-US" sz="1300" dirty="0"/>
          </a:p>
        </p:txBody>
      </p:sp>
      <p:sp>
        <p:nvSpPr>
          <p:cNvPr id="12" name="a4_card_9"/>
          <p:cNvSpPr/>
          <p:nvPr/>
        </p:nvSpPr>
        <p:spPr>
          <a:xfrm>
            <a:off x="3840480" y="1901952"/>
            <a:ext cx="4846320" cy="768096"/>
          </a:xfrm>
          <a:prstGeom prst="roundRect">
            <a:avLst>
              <a:gd name="adj" fmla="val 9524"/>
            </a:avLst>
          </a:prstGeom>
          <a:solidFill>
            <a:srgbClr val="1C2F36"/>
          </a:solidFill>
          <a:ln w="9525">
            <a:solidFill>
              <a:srgbClr val="35505A"/>
            </a:solidFill>
            <a:prstDash val="solid"/>
          </a:ln>
        </p:spPr>
      </p:sp>
      <p:sp>
        <p:nvSpPr>
          <p:cNvPr id="13" name="a4_ic_10"/>
          <p:cNvSpPr/>
          <p:nvPr/>
        </p:nvSpPr>
        <p:spPr>
          <a:xfrm>
            <a:off x="3995928" y="2039112"/>
            <a:ext cx="493776" cy="493776"/>
          </a:xfrm>
          <a:prstGeom prst="ellipse">
            <a:avLst/>
          </a:prstGeom>
          <a:solidFill>
            <a:srgbClr val="12232A"/>
          </a:solidFill>
          <a:ln/>
        </p:spPr>
      </p:sp>
      <p:pic>
        <p:nvPicPr>
          <p:cNvPr id="14" name="a4_icimg_11" descr="preencoded.png">    </p:cNvPr>
          <p:cNvPicPr>
            <a:picLocks noChangeAspect="1"/>
          </p:cNvPicPr>
          <p:nvPr/>
        </p:nvPicPr>
        <p:blipFill>
          <a:blip r:embed="rId2"/>
          <a:stretch>
            <a:fillRect/>
          </a:stretch>
        </p:blipFill>
        <p:spPr>
          <a:xfrm>
            <a:off x="4114434" y="2157618"/>
            <a:ext cx="256764" cy="256764"/>
          </a:xfrm>
          <a:prstGeom prst="rect">
            <a:avLst/>
          </a:prstGeom>
        </p:spPr>
      </p:pic>
      <p:sp>
        <p:nvSpPr>
          <p:cNvPr id="15" name="a4_txt_12"/>
          <p:cNvSpPr txBox="1"/>
          <p:nvPr/>
        </p:nvSpPr>
        <p:spPr>
          <a:xfrm>
            <a:off x="4645152" y="1993392"/>
            <a:ext cx="3840480" cy="274320"/>
          </a:xfrm>
          <a:prstGeom prst="rect">
            <a:avLst/>
          </a:prstGeom>
          <a:noFill/>
          <a:ln/>
        </p:spPr>
        <p:txBody>
          <a:bodyPr wrap="square" lIns="0" tIns="0" rIns="0" bIns="0" rtlCol="0" anchor="t"/>
          <a:lstStyle/>
          <a:p>
            <a:pPr indent="0" marL="0">
              <a:buNone/>
            </a:pPr>
            <a:r>
              <a:rPr lang="en-US" sz="1600" b="1" dirty="0">
                <a:solidFill>
                  <a:srgbClr val="6CC08B"/>
                </a:solidFill>
                <a:latin typeface="Calibri" pitchFamily="34" charset="0"/>
                <a:ea typeface="Calibri" pitchFamily="34" charset="-122"/>
                <a:cs typeface="Calibri" pitchFamily="34" charset="-120"/>
              </a:rPr>
              <a:t>Decide</a:t>
            </a:r>
            <a:endParaRPr lang="en-US" sz="1600" dirty="0"/>
          </a:p>
        </p:txBody>
      </p:sp>
      <p:sp>
        <p:nvSpPr>
          <p:cNvPr id="16" name="a4_txt_13"/>
          <p:cNvSpPr txBox="1"/>
          <p:nvPr/>
        </p:nvSpPr>
        <p:spPr>
          <a:xfrm>
            <a:off x="4645152" y="2286000"/>
            <a:ext cx="3931920" cy="320040"/>
          </a:xfrm>
          <a:prstGeom prst="rect">
            <a:avLst/>
          </a:prstGeom>
          <a:noFill/>
          <a:ln/>
        </p:spPr>
        <p:txBody>
          <a:bodyPr wrap="square" lIns="0" tIns="0" rIns="0" bIns="0" rtlCol="0" anchor="t"/>
          <a:lstStyle/>
          <a:p>
            <a:pPr indent="0" marL="0">
              <a:buNone/>
            </a:pPr>
            <a:r>
              <a:rPr lang="en-US" sz="1300" dirty="0">
                <a:solidFill>
                  <a:srgbClr val="E8F1EE"/>
                </a:solidFill>
                <a:latin typeface="Calibri" pitchFamily="34" charset="0"/>
                <a:ea typeface="Calibri" pitchFamily="34" charset="-122"/>
                <a:cs typeface="Calibri" pitchFamily="34" charset="-120"/>
              </a:rPr>
              <a:t>ESP32 compares readings with calibrated thresholds</a:t>
            </a:r>
            <a:endParaRPr lang="en-US" sz="1300" dirty="0"/>
          </a:p>
        </p:txBody>
      </p:sp>
      <p:sp>
        <p:nvSpPr>
          <p:cNvPr id="17" name="a5_card_14"/>
          <p:cNvSpPr/>
          <p:nvPr/>
        </p:nvSpPr>
        <p:spPr>
          <a:xfrm>
            <a:off x="3840480" y="2798064"/>
            <a:ext cx="4846320" cy="768096"/>
          </a:xfrm>
          <a:prstGeom prst="roundRect">
            <a:avLst>
              <a:gd name="adj" fmla="val 9524"/>
            </a:avLst>
          </a:prstGeom>
          <a:solidFill>
            <a:srgbClr val="1C2F36"/>
          </a:solidFill>
          <a:ln w="9525">
            <a:solidFill>
              <a:srgbClr val="35505A"/>
            </a:solidFill>
            <a:prstDash val="solid"/>
          </a:ln>
        </p:spPr>
      </p:sp>
      <p:sp>
        <p:nvSpPr>
          <p:cNvPr id="18" name="a5_ic_15"/>
          <p:cNvSpPr/>
          <p:nvPr/>
        </p:nvSpPr>
        <p:spPr>
          <a:xfrm>
            <a:off x="3995928" y="2935224"/>
            <a:ext cx="493776" cy="493776"/>
          </a:xfrm>
          <a:prstGeom prst="ellipse">
            <a:avLst/>
          </a:prstGeom>
          <a:solidFill>
            <a:srgbClr val="12232A"/>
          </a:solidFill>
          <a:ln/>
        </p:spPr>
      </p:sp>
      <p:pic>
        <p:nvPicPr>
          <p:cNvPr id="19" name="a5_icimg_16" descr="preencoded.png">    </p:cNvPr>
          <p:cNvPicPr>
            <a:picLocks noChangeAspect="1"/>
          </p:cNvPicPr>
          <p:nvPr/>
        </p:nvPicPr>
        <p:blipFill>
          <a:blip r:embed="rId3"/>
          <a:stretch>
            <a:fillRect/>
          </a:stretch>
        </p:blipFill>
        <p:spPr>
          <a:xfrm>
            <a:off x="4114434" y="3053730"/>
            <a:ext cx="256764" cy="256764"/>
          </a:xfrm>
          <a:prstGeom prst="rect">
            <a:avLst/>
          </a:prstGeom>
        </p:spPr>
      </p:pic>
      <p:sp>
        <p:nvSpPr>
          <p:cNvPr id="20" name="a5_txt_17"/>
          <p:cNvSpPr txBox="1"/>
          <p:nvPr/>
        </p:nvSpPr>
        <p:spPr>
          <a:xfrm>
            <a:off x="4645152" y="2889504"/>
            <a:ext cx="3840480" cy="274320"/>
          </a:xfrm>
          <a:prstGeom prst="rect">
            <a:avLst/>
          </a:prstGeom>
          <a:noFill/>
          <a:ln/>
        </p:spPr>
        <p:txBody>
          <a:bodyPr wrap="square" lIns="0" tIns="0" rIns="0" bIns="0" rtlCol="0" anchor="t"/>
          <a:lstStyle/>
          <a:p>
            <a:pPr indent="0" marL="0">
              <a:buNone/>
            </a:pPr>
            <a:r>
              <a:rPr lang="en-US" sz="1600" b="1" dirty="0">
                <a:solidFill>
                  <a:srgbClr val="EDA265"/>
                </a:solidFill>
                <a:latin typeface="Calibri" pitchFamily="34" charset="0"/>
                <a:ea typeface="Calibri" pitchFamily="34" charset="-122"/>
                <a:cs typeface="Calibri" pitchFamily="34" charset="-120"/>
              </a:rPr>
              <a:t>Act</a:t>
            </a:r>
            <a:endParaRPr lang="en-US" sz="1600" dirty="0"/>
          </a:p>
        </p:txBody>
      </p:sp>
      <p:sp>
        <p:nvSpPr>
          <p:cNvPr id="21" name="a5_txt_18"/>
          <p:cNvSpPr txBox="1"/>
          <p:nvPr/>
        </p:nvSpPr>
        <p:spPr>
          <a:xfrm>
            <a:off x="4645152" y="3182112"/>
            <a:ext cx="3931920" cy="320040"/>
          </a:xfrm>
          <a:prstGeom prst="rect">
            <a:avLst/>
          </a:prstGeom>
          <a:noFill/>
          <a:ln/>
        </p:spPr>
        <p:txBody>
          <a:bodyPr wrap="square" lIns="0" tIns="0" rIns="0" bIns="0" rtlCol="0" anchor="t"/>
          <a:lstStyle/>
          <a:p>
            <a:pPr indent="0" marL="0">
              <a:buNone/>
            </a:pPr>
            <a:r>
              <a:rPr lang="en-US" sz="1300" dirty="0">
                <a:solidFill>
                  <a:srgbClr val="E8F1EE"/>
                </a:solidFill>
                <a:latin typeface="Calibri" pitchFamily="34" charset="0"/>
                <a:ea typeface="Calibri" pitchFamily="34" charset="-122"/>
                <a:cs typeface="Calibri" pitchFamily="34" charset="-120"/>
              </a:rPr>
              <a:t>Relay-driven pump waters in short bursts, then rechecks</a:t>
            </a:r>
            <a:endParaRPr lang="en-US" sz="1300" dirty="0"/>
          </a:p>
        </p:txBody>
      </p:sp>
      <p:sp>
        <p:nvSpPr>
          <p:cNvPr id="22" name="a6_card_19"/>
          <p:cNvSpPr/>
          <p:nvPr/>
        </p:nvSpPr>
        <p:spPr>
          <a:xfrm>
            <a:off x="3840480" y="3694176"/>
            <a:ext cx="4846320" cy="768096"/>
          </a:xfrm>
          <a:prstGeom prst="roundRect">
            <a:avLst>
              <a:gd name="adj" fmla="val 9524"/>
            </a:avLst>
          </a:prstGeom>
          <a:solidFill>
            <a:srgbClr val="1C2F36"/>
          </a:solidFill>
          <a:ln w="9525">
            <a:solidFill>
              <a:srgbClr val="35505A"/>
            </a:solidFill>
            <a:prstDash val="solid"/>
          </a:ln>
        </p:spPr>
      </p:sp>
      <p:sp>
        <p:nvSpPr>
          <p:cNvPr id="23" name="a6_ic_20"/>
          <p:cNvSpPr/>
          <p:nvPr/>
        </p:nvSpPr>
        <p:spPr>
          <a:xfrm>
            <a:off x="3995928" y="3831336"/>
            <a:ext cx="493776" cy="493776"/>
          </a:xfrm>
          <a:prstGeom prst="ellipse">
            <a:avLst/>
          </a:prstGeom>
          <a:solidFill>
            <a:srgbClr val="12232A"/>
          </a:solidFill>
          <a:ln/>
        </p:spPr>
      </p:sp>
      <p:pic>
        <p:nvPicPr>
          <p:cNvPr id="24" name="a6_icimg_21" descr="preencoded.png">    </p:cNvPr>
          <p:cNvPicPr>
            <a:picLocks noChangeAspect="1"/>
          </p:cNvPicPr>
          <p:nvPr/>
        </p:nvPicPr>
        <p:blipFill>
          <a:blip r:embed="rId4"/>
          <a:stretch>
            <a:fillRect/>
          </a:stretch>
        </p:blipFill>
        <p:spPr>
          <a:xfrm>
            <a:off x="4114434" y="3949842"/>
            <a:ext cx="256764" cy="256764"/>
          </a:xfrm>
          <a:prstGeom prst="rect">
            <a:avLst/>
          </a:prstGeom>
        </p:spPr>
      </p:pic>
      <p:sp>
        <p:nvSpPr>
          <p:cNvPr id="25" name="a6_txt_22"/>
          <p:cNvSpPr txBox="1"/>
          <p:nvPr/>
        </p:nvSpPr>
        <p:spPr>
          <a:xfrm>
            <a:off x="4645152" y="3785616"/>
            <a:ext cx="3840480" cy="274320"/>
          </a:xfrm>
          <a:prstGeom prst="rect">
            <a:avLst/>
          </a:prstGeom>
          <a:noFill/>
          <a:ln/>
        </p:spPr>
        <p:txBody>
          <a:bodyPr wrap="square" lIns="0" tIns="0" rIns="0" bIns="0" rtlCol="0" anchor="t"/>
          <a:lstStyle/>
          <a:p>
            <a:pPr indent="0" marL="0">
              <a:buNone/>
            </a:pPr>
            <a:r>
              <a:rPr lang="en-US" sz="1600" b="1" dirty="0">
                <a:solidFill>
                  <a:srgbClr val="9BE7C4"/>
                </a:solidFill>
                <a:latin typeface="Calibri" pitchFamily="34" charset="0"/>
                <a:ea typeface="Calibri" pitchFamily="34" charset="-122"/>
                <a:cs typeface="Calibri" pitchFamily="34" charset="-120"/>
              </a:rPr>
              <a:t>Show</a:t>
            </a:r>
            <a:endParaRPr lang="en-US" sz="1600" dirty="0"/>
          </a:p>
        </p:txBody>
      </p:sp>
      <p:sp>
        <p:nvSpPr>
          <p:cNvPr id="26" name="a6_txt_23"/>
          <p:cNvSpPr txBox="1"/>
          <p:nvPr/>
        </p:nvSpPr>
        <p:spPr>
          <a:xfrm>
            <a:off x="4645152" y="4078224"/>
            <a:ext cx="3931920" cy="320040"/>
          </a:xfrm>
          <a:prstGeom prst="rect">
            <a:avLst/>
          </a:prstGeom>
          <a:noFill/>
          <a:ln/>
        </p:spPr>
        <p:txBody>
          <a:bodyPr wrap="square" lIns="0" tIns="0" rIns="0" bIns="0" rtlCol="0" anchor="t"/>
          <a:lstStyle/>
          <a:p>
            <a:pPr indent="0" marL="0">
              <a:buNone/>
            </a:pPr>
            <a:r>
              <a:rPr lang="en-US" sz="1300" dirty="0">
                <a:solidFill>
                  <a:srgbClr val="E8F1EE"/>
                </a:solidFill>
                <a:latin typeface="Calibri" pitchFamily="34" charset="0"/>
                <a:ea typeface="Calibri" pitchFamily="34" charset="-122"/>
                <a:cs typeface="Calibri" pitchFamily="34" charset="-120"/>
              </a:rPr>
              <a:t>Live web dashboard, history, alerts and manual override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par>
                          <p:cTn id="14" fill="hold">
                            <p:stCondLst>
                              <p:cond delay="350"/>
                            </p:stCondLst>
                            <p:childTnLst>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par>
                          <p:cTn id="18" fill="hold">
                            <p:stCondLst>
                              <p:cond delay="700"/>
                            </p:stCondLst>
                            <p:childTnLst>
                              <p:par>
                                <p:cTn id="19" presetID="10"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par>
                          <p:cTn id="34" fill="hold">
                            <p:stCondLst>
                              <p:cond delay="1050"/>
                            </p:stCondLst>
                            <p:childTnLst>
                              <p:par>
                                <p:cTn id="35" presetID="10" presetClass="entr" presetSubtype="0"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childTnLst>
                          </p:cTn>
                        </p:par>
                        <p:par>
                          <p:cTn id="50" fill="hold">
                            <p:stCondLst>
                              <p:cond delay="1400"/>
                            </p:stCondLst>
                            <p:childTnLst>
                              <p:par>
                                <p:cTn id="51" presetID="10" presetClass="entr" presetSubtype="0" fill="hold"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par>
                                <p:cTn id="60" presetID="10" presetClass="entr" presetSubtype="0" fill="hold"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500"/>
                                        <p:tgtEl>
                                          <p:spTgt spid="21"/>
                                        </p:tgtEl>
                                      </p:cBhvr>
                                    </p:animEffect>
                                  </p:childTnLst>
                                </p:cTn>
                              </p:par>
                            </p:childTnLst>
                          </p:cTn>
                        </p:par>
                        <p:par>
                          <p:cTn id="66" fill="hold">
                            <p:stCondLst>
                              <p:cond delay="1750"/>
                            </p:stCondLst>
                            <p:childTnLst>
                              <p:par>
                                <p:cTn id="67" presetID="10" presetClass="entr" presetSubtype="0" fill="hold" nodeType="after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Literature survey (1/2)</a:t>
            </a:r>
            <a:endParaRPr lang="en-US" sz="2600" dirty="0"/>
          </a:p>
        </p:txBody>
      </p:sp>
      <p:graphicFrame>
        <p:nvGraphicFramePr>
          <p:cNvPr id="4" name="a1_littable_24"/>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320040"/>
                <a:gridCol w="1965960"/>
                <a:gridCol w="2103120"/>
                <a:gridCol w="2148840"/>
                <a:gridCol w="1691640"/>
              </a:tblGrid>
              <a:tr h="274320">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Paper</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Approach</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Key finding</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Relevance to us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Obaideen et al., 2022</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Energy Nexus 7</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Review: IoT + sensor-based irrigation and UN SDG 6</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Smart irrigation raises water-use efficiency; cost and connectivity are main barriers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Frames the motivation</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Puig, Rodríguez Díaz &amp; Soriano, 2022</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Agronomy 12(12)</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Low-cost open-source smart irrigation platform using LoRa</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Long-range telemetry suited to large farms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We use Wi-Fi: one pot, lower cost</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Pereira, Chaari &amp; Daroge, 2023</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IoT (MDPI) 4(3)</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ESP32 drip irrigation: soil, temp, humidity, flow sensors; Blynk app</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Field-tested, grew green onions; manual override via app</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Same MCU; we replace Blynk with our own server</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Schwamback et al., 2023</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Sensors 23(5)</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Lab + field test of 63 low-cost capacitive probes vs commercial sensors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Track daily changes well, accuracy moderate; single-point dry calibration proposed</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Guides how we calibrate our probe</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Morchid et al., 2024</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Ain Shams Eng. J. 15(3)</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Review: IoT and sensors for food security</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Perception → network → cloud → application layers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We follow this layered design</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Nsoh et al., 2024</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Sensors 24</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Systematic review: IoT + machine learning for irrigation</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Optimised pump scheduling can cut energy 30–40%; flags security and interoperability gaps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API key + open JSON API</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3</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Literature survey (2/2)</a:t>
            </a:r>
            <a:endParaRPr lang="en-US" sz="2600" dirty="0"/>
          </a:p>
        </p:txBody>
      </p:sp>
      <p:graphicFrame>
        <p:nvGraphicFramePr>
          <p:cNvPr id="5" name="a1_littable_25"/>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320040"/>
                <a:gridCol w="1965960"/>
                <a:gridCol w="2103120"/>
                <a:gridCol w="2148840"/>
                <a:gridCol w="1691640"/>
              </a:tblGrid>
              <a:tr h="274320">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Paper</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Approach</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Key finding</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c>
                  <a:txBody>
                    <a:bodyPr/>
                    <a:lstStyle/>
                    <a:p>
                      <a:pPr indent="0" marL="0">
                        <a:buNone/>
                      </a:pPr>
                      <a:r>
                        <a:rPr lang="en-US" sz="1000" b="1" dirty="0">
                          <a:solidFill>
                            <a:srgbClr val="12232A"/>
                          </a:solidFill>
                          <a:latin typeface="Calibri" pitchFamily="34" charset="0"/>
                          <a:ea typeface="Calibri" pitchFamily="34" charset="-122"/>
                          <a:cs typeface="Calibri" pitchFamily="34" charset="-120"/>
                        </a:rPr>
                        <a:t>Relevance to us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6CC08B"/>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Padhy et al., 2024</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ASEC (MDPI Proc.)</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IoT sensors + DT, NB, KNN to predict plant growth; LoRa</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ML on moisture, temperature, humidity predicts growth</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Our logs can train such models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Abdelmoneim et al., 2025</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Sensors 25(2)</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Calibration of 12 capacitive probes at 5 moisture levels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Generalised calibration: R² 0.85–0.87, RMSE 4.5–4.9%</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Sets the accuracy we can expect</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Kunt, 2025</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arXiv 2506.11835</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ESP32 + per-pot LSTM; AI / Auto / Manual modes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Test MAE 0.014; halts irrigation on sensor failure</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Same mode split; fault handling</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Das, George &amp; Kumar, 2025</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ICTCT 2025 (IEEE)</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IoT sensor data + 5 ML models for disease detection</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LightGBM best at 93.4% accuracy</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Plant-health insight from sensor data</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Lokesh et al., 2025</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EPJ Web of Conf. 343</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Review: AI + computer vision + IoT for crop health</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CNN disease detection reported at ~92% accuracy</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Camera module as an extension</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233A42"/>
                    </a:solidFill>
                  </a:tcPr>
                </a:tc>
              </a:tr>
              <a:tr h="585216">
                <a:tc>
                  <a:txBody>
                    <a:bodyPr/>
                    <a:lstStyle/>
                    <a:p>
                      <a:pPr indent="0" marL="0">
                        <a:buNone/>
                      </a:pPr>
                      <a:r>
                        <a:rPr lang="en-US" sz="1000" b="1" dirty="0">
                          <a:solidFill>
                            <a:srgbClr val="E8F1EE"/>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Boukri et al., 2026</a:t>
                      </a:r>
                      <a:endParaRPr lang="en-US" sz="1000" dirty="0">
                        <a:latin typeface="Calibri" charset="0"/>
                        <a:ea typeface="Calibri" charset="0"/>
                        <a:cs typeface="Calibri" charset="0"/>
                      </a:endParaRPr>
                    </a:p>
                    <a:p>
                      <a:pPr indent="0" marL="0">
                        <a:buNone/>
                      </a:pPr>
                      <a:r>
                        <a:rPr lang="en-US" sz="1000" dirty="0">
                          <a:solidFill>
                            <a:srgbClr val="E8F1EE"/>
                          </a:solidFill>
                          <a:latin typeface="Calibri" pitchFamily="34" charset="0"/>
                          <a:ea typeface="Calibri" pitchFamily="34" charset="-122"/>
                          <a:cs typeface="Calibri" pitchFamily="34" charset="-120"/>
                        </a:rPr>
                        <a:t>Applied Water Science 16</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ESP32 + capacitive sensor + DHT11 + Blynk; on at 20%, off at 80%</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E8F1EE"/>
                          </a:solidFill>
                          <a:latin typeface="Calibri" pitchFamily="34" charset="0"/>
                          <a:ea typeface="Calibri" pitchFamily="34" charset="-122"/>
                          <a:cs typeface="Calibri" pitchFamily="34" charset="-120"/>
                        </a:rPr>
                        <a:t>33% less water than fixed schedule over 30 days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000" dirty="0">
                          <a:solidFill>
                            <a:srgbClr val="9BE7C4"/>
                          </a:solidFill>
                          <a:latin typeface="Calibri" pitchFamily="34" charset="0"/>
                          <a:ea typeface="Calibri" pitchFamily="34" charset="-122"/>
                          <a:cs typeface="Calibri" pitchFamily="34" charset="-120"/>
                        </a:rPr>
                        <a:t>Closest baseline; they note Wi-Fi drops</a:t>
                      </a:r>
                      <a:endParaRPr lang="en-US" sz="1000" dirty="0">
                        <a:latin typeface="Calibri" charset="0"/>
                        <a:ea typeface="Calibri" charset="0"/>
                        <a:cs typeface="Calibri" charset="0"/>
                      </a:endParaRPr>
                    </a:p>
                  </a:txBody>
                  <a:tcPr marL="63500" marR="63500" marT="25400" marB="254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4</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From the literature to our concept</a:t>
            </a:r>
            <a:endParaRPr lang="en-US" sz="2600" dirty="0"/>
          </a:p>
        </p:txBody>
      </p:sp>
      <p:sp>
        <p:nvSpPr>
          <p:cNvPr id="3" name="a1_card_26"/>
          <p:cNvSpPr/>
          <p:nvPr/>
        </p:nvSpPr>
        <p:spPr>
          <a:xfrm>
            <a:off x="457200" y="960120"/>
            <a:ext cx="2514600" cy="3611880"/>
          </a:xfrm>
          <a:prstGeom prst="roundRect">
            <a:avLst>
              <a:gd name="adj" fmla="val 2909"/>
            </a:avLst>
          </a:prstGeom>
          <a:solidFill>
            <a:srgbClr val="1C2F36"/>
          </a:solidFill>
          <a:ln w="9525">
            <a:solidFill>
              <a:srgbClr val="35505A"/>
            </a:solidFill>
            <a:prstDash val="solid"/>
          </a:ln>
        </p:spPr>
      </p:sp>
      <p:sp>
        <p:nvSpPr>
          <p:cNvPr id="4" name="a1_ic_27"/>
          <p:cNvSpPr/>
          <p:nvPr/>
        </p:nvSpPr>
        <p:spPr>
          <a:xfrm>
            <a:off x="640080" y="1115568"/>
            <a:ext cx="457200" cy="457200"/>
          </a:xfrm>
          <a:prstGeom prst="ellipse">
            <a:avLst/>
          </a:prstGeom>
          <a:solidFill>
            <a:srgbClr val="12232A"/>
          </a:solidFill>
          <a:ln/>
        </p:spPr>
      </p:sp>
      <p:pic>
        <p:nvPicPr>
          <p:cNvPr id="5" name="a1_icimg_28" descr="preencoded.png">    </p:cNvPr>
          <p:cNvPicPr>
            <a:picLocks noChangeAspect="1"/>
          </p:cNvPicPr>
          <p:nvPr/>
        </p:nvPicPr>
        <p:blipFill>
          <a:blip r:embed="rId1"/>
          <a:stretch>
            <a:fillRect/>
          </a:stretch>
        </p:blipFill>
        <p:spPr>
          <a:xfrm>
            <a:off x="749808" y="1225296"/>
            <a:ext cx="237744" cy="237744"/>
          </a:xfrm>
          <a:prstGeom prst="rect">
            <a:avLst/>
          </a:prstGeom>
        </p:spPr>
      </p:pic>
      <p:sp>
        <p:nvSpPr>
          <p:cNvPr id="6" name="a1_txt_29"/>
          <p:cNvSpPr txBox="1"/>
          <p:nvPr/>
        </p:nvSpPr>
        <p:spPr>
          <a:xfrm>
            <a:off x="1188720" y="1115568"/>
            <a:ext cx="1691640" cy="457200"/>
          </a:xfrm>
          <a:prstGeom prst="rect">
            <a:avLst/>
          </a:prstGeom>
          <a:noFill/>
          <a:ln/>
        </p:spPr>
        <p:txBody>
          <a:bodyPr wrap="square" lIns="0" tIns="0" rIns="0" bIns="0" rtlCol="0" anchor="ctr"/>
          <a:lstStyle/>
          <a:p>
            <a:pPr indent="0" marL="0">
              <a:buNone/>
            </a:pPr>
            <a:r>
              <a:rPr lang="en-US" sz="1500" b="1" dirty="0">
                <a:solidFill>
                  <a:srgbClr val="7CCFC7"/>
                </a:solidFill>
                <a:latin typeface="Calibri" pitchFamily="34" charset="0"/>
                <a:ea typeface="Calibri" pitchFamily="34" charset="-122"/>
                <a:cs typeface="Calibri" pitchFamily="34" charset="-120"/>
              </a:rPr>
              <a:t>What the papers show</a:t>
            </a:r>
            <a:endParaRPr lang="en-US" sz="1500" dirty="0"/>
          </a:p>
        </p:txBody>
      </p:sp>
      <p:sp>
        <p:nvSpPr>
          <p:cNvPr id="7" name="a1_txt_30"/>
          <p:cNvSpPr txBox="1"/>
          <p:nvPr/>
        </p:nvSpPr>
        <p:spPr>
          <a:xfrm>
            <a:off x="640080" y="1737360"/>
            <a:ext cx="2194560" cy="2697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Soil-moisture feedback saves 25–35% water vs fixed timers [12]</a:t>
            </a:r>
            <a:endParaRPr lang="en-US" sz="1300" dirty="0"/>
          </a:p>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ESP32 + capacitive probe is the low-cost standard, after calibration [3][4][8][12]</a:t>
            </a:r>
            <a:endParaRPr lang="en-US" sz="1300" dirty="0"/>
          </a:p>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Logged sensor data enables ML health insight [7][9][10]</a:t>
            </a:r>
            <a:endParaRPr lang="en-US" sz="1300" dirty="0"/>
          </a:p>
        </p:txBody>
      </p:sp>
      <p:sp>
        <p:nvSpPr>
          <p:cNvPr id="8" name="w2_arr_31"/>
          <p:cNvSpPr/>
          <p:nvPr/>
        </p:nvSpPr>
        <p:spPr>
          <a:xfrm>
            <a:off x="2999232" y="2743200"/>
            <a:ext cx="292608" cy="914"/>
          </a:xfrm>
          <a:prstGeom prst="line">
            <a:avLst/>
          </a:prstGeom>
          <a:noFill/>
          <a:ln w="22225">
            <a:solidFill>
              <a:srgbClr val="EDA265"/>
            </a:solidFill>
            <a:prstDash val="solid"/>
            <a:tailEnd type="triangle"/>
          </a:ln>
        </p:spPr>
      </p:sp>
      <p:sp>
        <p:nvSpPr>
          <p:cNvPr id="9" name="a3_card_32"/>
          <p:cNvSpPr/>
          <p:nvPr/>
        </p:nvSpPr>
        <p:spPr>
          <a:xfrm>
            <a:off x="3319272" y="960120"/>
            <a:ext cx="2514600" cy="3611880"/>
          </a:xfrm>
          <a:prstGeom prst="roundRect">
            <a:avLst>
              <a:gd name="adj" fmla="val 2909"/>
            </a:avLst>
          </a:prstGeom>
          <a:solidFill>
            <a:srgbClr val="1C2F36"/>
          </a:solidFill>
          <a:ln w="9525">
            <a:solidFill>
              <a:srgbClr val="35505A"/>
            </a:solidFill>
            <a:prstDash val="solid"/>
          </a:ln>
        </p:spPr>
      </p:sp>
      <p:sp>
        <p:nvSpPr>
          <p:cNvPr id="10" name="a3_ic_33"/>
          <p:cNvSpPr/>
          <p:nvPr/>
        </p:nvSpPr>
        <p:spPr>
          <a:xfrm>
            <a:off x="3502152" y="1115568"/>
            <a:ext cx="457200" cy="457200"/>
          </a:xfrm>
          <a:prstGeom prst="ellipse">
            <a:avLst/>
          </a:prstGeom>
          <a:solidFill>
            <a:srgbClr val="12232A"/>
          </a:solidFill>
          <a:ln/>
        </p:spPr>
      </p:sp>
      <p:pic>
        <p:nvPicPr>
          <p:cNvPr id="11" name="a3_icimg_34" descr="preencoded.png">    </p:cNvPr>
          <p:cNvPicPr>
            <a:picLocks noChangeAspect="1"/>
          </p:cNvPicPr>
          <p:nvPr/>
        </p:nvPicPr>
        <p:blipFill>
          <a:blip r:embed="rId2"/>
          <a:stretch>
            <a:fillRect/>
          </a:stretch>
        </p:blipFill>
        <p:spPr>
          <a:xfrm>
            <a:off x="3611880" y="1225296"/>
            <a:ext cx="237744" cy="237744"/>
          </a:xfrm>
          <a:prstGeom prst="rect">
            <a:avLst/>
          </a:prstGeom>
        </p:spPr>
      </p:pic>
      <p:sp>
        <p:nvSpPr>
          <p:cNvPr id="12" name="a3_txt_35"/>
          <p:cNvSpPr txBox="1"/>
          <p:nvPr/>
        </p:nvSpPr>
        <p:spPr>
          <a:xfrm>
            <a:off x="4050792" y="1115568"/>
            <a:ext cx="1691640" cy="457200"/>
          </a:xfrm>
          <a:prstGeom prst="rect">
            <a:avLst/>
          </a:prstGeom>
          <a:noFill/>
          <a:ln/>
        </p:spPr>
        <p:txBody>
          <a:bodyPr wrap="square" lIns="0" tIns="0" rIns="0" bIns="0" rtlCol="0" anchor="ctr"/>
          <a:lstStyle/>
          <a:p>
            <a:pPr indent="0" marL="0">
              <a:buNone/>
            </a:pPr>
            <a:r>
              <a:rPr lang="en-US" sz="1500" b="1" dirty="0">
                <a:solidFill>
                  <a:srgbClr val="EDA265"/>
                </a:solidFill>
                <a:latin typeface="Calibri" pitchFamily="34" charset="0"/>
                <a:ea typeface="Calibri" pitchFamily="34" charset="-122"/>
                <a:cs typeface="Calibri" pitchFamily="34" charset="-120"/>
              </a:rPr>
              <a:t>Gaps we target</a:t>
            </a:r>
            <a:endParaRPr lang="en-US" sz="1500" dirty="0"/>
          </a:p>
        </p:txBody>
      </p:sp>
      <p:sp>
        <p:nvSpPr>
          <p:cNvPr id="13" name="a3_txt_36"/>
          <p:cNvSpPr txBox="1"/>
          <p:nvPr/>
        </p:nvSpPr>
        <p:spPr>
          <a:xfrm>
            <a:off x="3502152" y="1737360"/>
            <a:ext cx="2194560" cy="2697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Monitoring often tied to a third-party cloud app (Blynk) [3][9][12]</a:t>
            </a:r>
            <a:endParaRPr lang="en-US" sz="1300" dirty="0"/>
          </a:p>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Wi-Fi drops and sensor faults reported as limitations [9][12]</a:t>
            </a:r>
            <a:endParaRPr lang="en-US" sz="1300" dirty="0"/>
          </a:p>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Temp and humidity logged but not used in decisions [12]</a:t>
            </a:r>
            <a:endParaRPr lang="en-US" sz="1300" dirty="0"/>
          </a:p>
        </p:txBody>
      </p:sp>
      <p:sp>
        <p:nvSpPr>
          <p:cNvPr id="14" name="w4_arr_37"/>
          <p:cNvSpPr/>
          <p:nvPr/>
        </p:nvSpPr>
        <p:spPr>
          <a:xfrm>
            <a:off x="5861304" y="2743200"/>
            <a:ext cx="292608" cy="914"/>
          </a:xfrm>
          <a:prstGeom prst="line">
            <a:avLst/>
          </a:prstGeom>
          <a:noFill/>
          <a:ln w="22225">
            <a:solidFill>
              <a:srgbClr val="6CC08B"/>
            </a:solidFill>
            <a:prstDash val="solid"/>
            <a:tailEnd type="triangle"/>
          </a:ln>
        </p:spPr>
      </p:sp>
      <p:sp>
        <p:nvSpPr>
          <p:cNvPr id="15" name="a5_card_38"/>
          <p:cNvSpPr/>
          <p:nvPr/>
        </p:nvSpPr>
        <p:spPr>
          <a:xfrm>
            <a:off x="6181344" y="960120"/>
            <a:ext cx="2514600" cy="3611880"/>
          </a:xfrm>
          <a:prstGeom prst="roundRect">
            <a:avLst>
              <a:gd name="adj" fmla="val 2909"/>
            </a:avLst>
          </a:prstGeom>
          <a:solidFill>
            <a:srgbClr val="1C2F36"/>
          </a:solidFill>
          <a:ln w="9525">
            <a:solidFill>
              <a:srgbClr val="35505A"/>
            </a:solidFill>
            <a:prstDash val="solid"/>
          </a:ln>
        </p:spPr>
      </p:sp>
      <p:sp>
        <p:nvSpPr>
          <p:cNvPr id="16" name="a5_ic_39"/>
          <p:cNvSpPr/>
          <p:nvPr/>
        </p:nvSpPr>
        <p:spPr>
          <a:xfrm>
            <a:off x="6364224" y="1115568"/>
            <a:ext cx="457200" cy="457200"/>
          </a:xfrm>
          <a:prstGeom prst="ellipse">
            <a:avLst/>
          </a:prstGeom>
          <a:solidFill>
            <a:srgbClr val="12232A"/>
          </a:solidFill>
          <a:ln/>
        </p:spPr>
      </p:sp>
      <p:pic>
        <p:nvPicPr>
          <p:cNvPr id="17" name="a5_icimg_40" descr="preencoded.png">    </p:cNvPr>
          <p:cNvPicPr>
            <a:picLocks noChangeAspect="1"/>
          </p:cNvPicPr>
          <p:nvPr/>
        </p:nvPicPr>
        <p:blipFill>
          <a:blip r:embed="rId3"/>
          <a:stretch>
            <a:fillRect/>
          </a:stretch>
        </p:blipFill>
        <p:spPr>
          <a:xfrm>
            <a:off x="6473952" y="1225296"/>
            <a:ext cx="237744" cy="237744"/>
          </a:xfrm>
          <a:prstGeom prst="rect">
            <a:avLst/>
          </a:prstGeom>
        </p:spPr>
      </p:pic>
      <p:sp>
        <p:nvSpPr>
          <p:cNvPr id="18" name="a5_txt_41"/>
          <p:cNvSpPr txBox="1"/>
          <p:nvPr/>
        </p:nvSpPr>
        <p:spPr>
          <a:xfrm>
            <a:off x="6912864" y="1115568"/>
            <a:ext cx="1691640" cy="457200"/>
          </a:xfrm>
          <a:prstGeom prst="rect">
            <a:avLst/>
          </a:prstGeom>
          <a:noFill/>
          <a:ln/>
        </p:spPr>
        <p:txBody>
          <a:bodyPr wrap="square" lIns="0" tIns="0" rIns="0" bIns="0" rtlCol="0" anchor="ctr"/>
          <a:lstStyle/>
          <a:p>
            <a:pPr indent="0" marL="0">
              <a:buNone/>
            </a:pPr>
            <a:r>
              <a:rPr lang="en-US" sz="1500" b="1" dirty="0">
                <a:solidFill>
                  <a:srgbClr val="6CC08B"/>
                </a:solidFill>
                <a:latin typeface="Calibri" pitchFamily="34" charset="0"/>
                <a:ea typeface="Calibri" pitchFamily="34" charset="-122"/>
                <a:cs typeface="Calibri" pitchFamily="34" charset="-120"/>
              </a:rPr>
              <a:t>Our concept</a:t>
            </a:r>
            <a:endParaRPr lang="en-US" sz="1500" dirty="0"/>
          </a:p>
        </p:txBody>
      </p:sp>
      <p:sp>
        <p:nvSpPr>
          <p:cNvPr id="19" name="a5_txt_42"/>
          <p:cNvSpPr txBox="1"/>
          <p:nvPr/>
        </p:nvSpPr>
        <p:spPr>
          <a:xfrm>
            <a:off x="6364224" y="1737360"/>
            <a:ext cx="2194560" cy="2697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Self-hosted Flask + SQLite server and web dashboard</a:t>
            </a:r>
            <a:endParaRPr lang="en-US" sz="1300" dirty="0"/>
          </a:p>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Control loop runs on the ESP32 with five safety locks</a:t>
            </a:r>
            <a:endParaRPr lang="en-US" sz="1300" dirty="0"/>
          </a:p>
          <a:p>
            <a:pPr marL="342900" indent="-342900">
              <a:spcAft>
                <a:spcPts val="800"/>
              </a:spcAft>
              <a:buSzPct val="100000"/>
              <a:buChar char="•"/>
            </a:pPr>
            <a:r>
              <a:rPr lang="en-US" sz="1300" dirty="0">
                <a:solidFill>
                  <a:srgbClr val="E8F1EE"/>
                </a:solidFill>
                <a:latin typeface="Calibri" pitchFamily="34" charset="0"/>
                <a:ea typeface="Calibri" pitchFamily="34" charset="-122"/>
                <a:cs typeface="Calibri" pitchFamily="34" charset="-120"/>
              </a:rPr>
              <a:t>Every reading stored, ready for analysis and ML</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5</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
                            </p:stCondLst>
                            <p:childTnLst>
                              <p:par>
                                <p:cTn id="21" presetID="22" presetClass="entr" presetSubtype="8"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par>
                          <p:cTn id="24" fill="hold">
                            <p:stCondLst>
                              <p:cond delay="70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par>
                          <p:cTn id="40" fill="hold">
                            <p:stCondLst>
                              <p:cond delay="1050"/>
                            </p:stCondLst>
                            <p:childTnLst>
                              <p:par>
                                <p:cTn id="41" presetID="22" presetClass="entr" presetSubtype="8"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par>
                          <p:cTn id="44" fill="hold">
                            <p:stCondLst>
                              <p:cond delay="1400"/>
                            </p:stCondLst>
                            <p:childTnLst>
                              <p:par>
                                <p:cTn id="45" presetID="10" presetClass="entr" presetSubtype="0"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par>
                                <p:cTn id="48" presetID="10"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par>
                                <p:cTn id="54" presetID="10" presetClass="entr" presetSubtype="0"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Problem statement</a:t>
            </a:r>
            <a:endParaRPr lang="en-US" sz="2600" dirty="0"/>
          </a:p>
        </p:txBody>
      </p:sp>
      <p:sp>
        <p:nvSpPr>
          <p:cNvPr id="3" name="a1_card_43"/>
          <p:cNvSpPr/>
          <p:nvPr/>
        </p:nvSpPr>
        <p:spPr>
          <a:xfrm>
            <a:off x="457200" y="914400"/>
            <a:ext cx="8229600" cy="1417320"/>
          </a:xfrm>
          <a:prstGeom prst="roundRect">
            <a:avLst>
              <a:gd name="adj" fmla="val 5161"/>
            </a:avLst>
          </a:prstGeom>
          <a:solidFill>
            <a:srgbClr val="233A42"/>
          </a:solidFill>
          <a:ln w="9525">
            <a:solidFill>
              <a:srgbClr val="35505A"/>
            </a:solidFill>
            <a:prstDash val="solid"/>
          </a:ln>
        </p:spPr>
      </p:sp>
      <p:sp>
        <p:nvSpPr>
          <p:cNvPr id="4" name="a1_ic_44"/>
          <p:cNvSpPr/>
          <p:nvPr/>
        </p:nvSpPr>
        <p:spPr>
          <a:xfrm>
            <a:off x="658368" y="1325880"/>
            <a:ext cx="603504" cy="603504"/>
          </a:xfrm>
          <a:prstGeom prst="ellipse">
            <a:avLst/>
          </a:prstGeom>
          <a:solidFill>
            <a:srgbClr val="12232A"/>
          </a:solidFill>
          <a:ln/>
        </p:spPr>
      </p:sp>
      <p:pic>
        <p:nvPicPr>
          <p:cNvPr id="5" name="a1_icimg_45" descr="preencoded.png">    </p:cNvPr>
          <p:cNvPicPr>
            <a:picLocks noChangeAspect="1"/>
          </p:cNvPicPr>
          <p:nvPr/>
        </p:nvPicPr>
        <p:blipFill>
          <a:blip r:embed="rId1"/>
          <a:stretch>
            <a:fillRect/>
          </a:stretch>
        </p:blipFill>
        <p:spPr>
          <a:xfrm>
            <a:off x="803209" y="1470721"/>
            <a:ext cx="313822" cy="313822"/>
          </a:xfrm>
          <a:prstGeom prst="rect">
            <a:avLst/>
          </a:prstGeom>
        </p:spPr>
      </p:pic>
      <p:sp>
        <p:nvSpPr>
          <p:cNvPr id="6" name="a1_txt_46"/>
          <p:cNvSpPr txBox="1"/>
          <p:nvPr/>
        </p:nvSpPr>
        <p:spPr>
          <a:xfrm>
            <a:off x="1463040" y="1024128"/>
            <a:ext cx="7086600" cy="1188720"/>
          </a:xfrm>
          <a:prstGeom prst="rect">
            <a:avLst/>
          </a:prstGeom>
          <a:noFill/>
          <a:ln/>
        </p:spPr>
        <p:txBody>
          <a:bodyPr wrap="square" lIns="0" tIns="0" rIns="0" bIns="0" rtlCol="0" anchor="ctr"/>
          <a:lstStyle/>
          <a:p>
            <a:pPr indent="0" marL="0">
              <a:buNone/>
            </a:pPr>
            <a:r>
              <a:rPr lang="en-US" sz="1500" dirty="0">
                <a:solidFill>
                  <a:srgbClr val="E8F1EE"/>
                </a:solidFill>
                <a:latin typeface="Calibri" pitchFamily="34" charset="0"/>
                <a:ea typeface="Calibri" pitchFamily="34" charset="-122"/>
                <a:cs typeface="Calibri" pitchFamily="34" charset="-120"/>
              </a:rPr>
              <a:t>Timer-based or manual watering ignores the real state of the soil, causing both water stress and waterlogging. Low-cost automated systems react only to the current reading, depend on a third-party cloud app, and misbehave when the network or a sensor fails.</a:t>
            </a:r>
            <a:endParaRPr lang="en-US" sz="1500" dirty="0"/>
          </a:p>
        </p:txBody>
      </p:sp>
      <p:sp>
        <p:nvSpPr>
          <p:cNvPr id="7" name="a2_card_47"/>
          <p:cNvSpPr/>
          <p:nvPr/>
        </p:nvSpPr>
        <p:spPr>
          <a:xfrm>
            <a:off x="457200" y="2560320"/>
            <a:ext cx="2615184" cy="1463040"/>
          </a:xfrm>
          <a:prstGeom prst="roundRect">
            <a:avLst>
              <a:gd name="adj" fmla="val 5000"/>
            </a:avLst>
          </a:prstGeom>
          <a:solidFill>
            <a:srgbClr val="1C2F36"/>
          </a:solidFill>
          <a:ln w="9525">
            <a:solidFill>
              <a:srgbClr val="35505A"/>
            </a:solidFill>
            <a:prstDash val="solid"/>
          </a:ln>
        </p:spPr>
      </p:sp>
      <p:sp>
        <p:nvSpPr>
          <p:cNvPr id="8" name="a2_ic_48"/>
          <p:cNvSpPr/>
          <p:nvPr/>
        </p:nvSpPr>
        <p:spPr>
          <a:xfrm>
            <a:off x="621792" y="2724912"/>
            <a:ext cx="475488" cy="475488"/>
          </a:xfrm>
          <a:prstGeom prst="ellipse">
            <a:avLst/>
          </a:prstGeom>
          <a:solidFill>
            <a:srgbClr val="12232A"/>
          </a:solidFill>
          <a:ln/>
        </p:spPr>
      </p:sp>
      <p:pic>
        <p:nvPicPr>
          <p:cNvPr id="9" name="a2_icimg_49" descr="preencoded.png">    </p:cNvPr>
          <p:cNvPicPr>
            <a:picLocks noChangeAspect="1"/>
          </p:cNvPicPr>
          <p:nvPr/>
        </p:nvPicPr>
        <p:blipFill>
          <a:blip r:embed="rId2"/>
          <a:stretch>
            <a:fillRect/>
          </a:stretch>
        </p:blipFill>
        <p:spPr>
          <a:xfrm>
            <a:off x="735909" y="2839029"/>
            <a:ext cx="247254" cy="247254"/>
          </a:xfrm>
          <a:prstGeom prst="rect">
            <a:avLst/>
          </a:prstGeom>
        </p:spPr>
      </p:pic>
      <p:sp>
        <p:nvSpPr>
          <p:cNvPr id="10" name="a2_txt_50"/>
          <p:cNvSpPr txBox="1"/>
          <p:nvPr/>
        </p:nvSpPr>
        <p:spPr>
          <a:xfrm>
            <a:off x="1207008" y="2724912"/>
            <a:ext cx="1783080" cy="475488"/>
          </a:xfrm>
          <a:prstGeom prst="rect">
            <a:avLst/>
          </a:prstGeom>
          <a:noFill/>
          <a:ln/>
        </p:spPr>
        <p:txBody>
          <a:bodyPr wrap="square" lIns="0" tIns="0" rIns="0" bIns="0" rtlCol="0" anchor="ctr"/>
          <a:lstStyle/>
          <a:p>
            <a:pPr indent="0" marL="0">
              <a:buNone/>
            </a:pPr>
            <a:r>
              <a:rPr lang="en-US" sz="1400" b="1" dirty="0">
                <a:solidFill>
                  <a:srgbClr val="7CCFC7"/>
                </a:solidFill>
                <a:latin typeface="Calibri" pitchFamily="34" charset="0"/>
                <a:ea typeface="Calibri" pitchFamily="34" charset="-122"/>
                <a:cs typeface="Calibri" pitchFamily="34" charset="-120"/>
              </a:rPr>
              <a:t>Over- and under-watering</a:t>
            </a:r>
            <a:endParaRPr lang="en-US" sz="1400" dirty="0"/>
          </a:p>
        </p:txBody>
      </p:sp>
      <p:sp>
        <p:nvSpPr>
          <p:cNvPr id="11" name="a2_txt_51"/>
          <p:cNvSpPr txBox="1"/>
          <p:nvPr/>
        </p:nvSpPr>
        <p:spPr>
          <a:xfrm>
            <a:off x="621792" y="3291840"/>
            <a:ext cx="2331720" cy="685800"/>
          </a:xfrm>
          <a:prstGeom prst="rect">
            <a:avLst/>
          </a:prstGeom>
          <a:noFill/>
          <a:ln/>
        </p:spPr>
        <p:txBody>
          <a:bodyPr wrap="square" lIns="0" tIns="0" rIns="0" bIns="0" rtlCol="0" anchor="t"/>
          <a:lstStyle/>
          <a:p>
            <a:pPr indent="0" marL="0">
              <a:buNone/>
            </a:pPr>
            <a:r>
              <a:rPr lang="en-US" sz="1300" dirty="0">
                <a:solidFill>
                  <a:srgbClr val="E8F1EE"/>
                </a:solidFill>
                <a:latin typeface="Calibri" pitchFamily="34" charset="0"/>
                <a:ea typeface="Calibri" pitchFamily="34" charset="-122"/>
                <a:cs typeface="Calibri" pitchFamily="34" charset="-120"/>
              </a:rPr>
              <a:t>Fixed schedules water by the clock, not by what the soil needs</a:t>
            </a:r>
            <a:endParaRPr lang="en-US" sz="1300" dirty="0"/>
          </a:p>
        </p:txBody>
      </p:sp>
      <p:sp>
        <p:nvSpPr>
          <p:cNvPr id="12" name="a3_card_52"/>
          <p:cNvSpPr/>
          <p:nvPr/>
        </p:nvSpPr>
        <p:spPr>
          <a:xfrm>
            <a:off x="3264408" y="2560320"/>
            <a:ext cx="2615184" cy="1463040"/>
          </a:xfrm>
          <a:prstGeom prst="roundRect">
            <a:avLst>
              <a:gd name="adj" fmla="val 5000"/>
            </a:avLst>
          </a:prstGeom>
          <a:solidFill>
            <a:srgbClr val="1C2F36"/>
          </a:solidFill>
          <a:ln w="9525">
            <a:solidFill>
              <a:srgbClr val="35505A"/>
            </a:solidFill>
            <a:prstDash val="solid"/>
          </a:ln>
        </p:spPr>
      </p:sp>
      <p:sp>
        <p:nvSpPr>
          <p:cNvPr id="13" name="a3_ic_53"/>
          <p:cNvSpPr/>
          <p:nvPr/>
        </p:nvSpPr>
        <p:spPr>
          <a:xfrm>
            <a:off x="3429000" y="2724912"/>
            <a:ext cx="475488" cy="475488"/>
          </a:xfrm>
          <a:prstGeom prst="ellipse">
            <a:avLst/>
          </a:prstGeom>
          <a:solidFill>
            <a:srgbClr val="12232A"/>
          </a:solidFill>
          <a:ln/>
        </p:spPr>
      </p:sp>
      <p:pic>
        <p:nvPicPr>
          <p:cNvPr id="14" name="a3_icimg_54" descr="preencoded.png">    </p:cNvPr>
          <p:cNvPicPr>
            <a:picLocks noChangeAspect="1"/>
          </p:cNvPicPr>
          <p:nvPr/>
        </p:nvPicPr>
        <p:blipFill>
          <a:blip r:embed="rId3"/>
          <a:stretch>
            <a:fillRect/>
          </a:stretch>
        </p:blipFill>
        <p:spPr>
          <a:xfrm>
            <a:off x="3543117" y="2839029"/>
            <a:ext cx="247254" cy="247254"/>
          </a:xfrm>
          <a:prstGeom prst="rect">
            <a:avLst/>
          </a:prstGeom>
        </p:spPr>
      </p:pic>
      <p:sp>
        <p:nvSpPr>
          <p:cNvPr id="15" name="a3_txt_55"/>
          <p:cNvSpPr txBox="1"/>
          <p:nvPr/>
        </p:nvSpPr>
        <p:spPr>
          <a:xfrm>
            <a:off x="4014216" y="2724912"/>
            <a:ext cx="1783080" cy="475488"/>
          </a:xfrm>
          <a:prstGeom prst="rect">
            <a:avLst/>
          </a:prstGeom>
          <a:noFill/>
          <a:ln/>
        </p:spPr>
        <p:txBody>
          <a:bodyPr wrap="square" lIns="0" tIns="0" rIns="0" bIns="0" rtlCol="0" anchor="ctr"/>
          <a:lstStyle/>
          <a:p>
            <a:pPr indent="0" marL="0">
              <a:buNone/>
            </a:pPr>
            <a:r>
              <a:rPr lang="en-US" sz="1400" b="1" dirty="0">
                <a:solidFill>
                  <a:srgbClr val="EDA265"/>
                </a:solidFill>
                <a:latin typeface="Calibri" pitchFamily="34" charset="0"/>
                <a:ea typeface="Calibri" pitchFamily="34" charset="-122"/>
                <a:cs typeface="Calibri" pitchFamily="34" charset="-120"/>
              </a:rPr>
              <a:t>Reactive, not predictive</a:t>
            </a:r>
            <a:endParaRPr lang="en-US" sz="1400" dirty="0"/>
          </a:p>
        </p:txBody>
      </p:sp>
      <p:sp>
        <p:nvSpPr>
          <p:cNvPr id="16" name="a3_txt_56"/>
          <p:cNvSpPr txBox="1"/>
          <p:nvPr/>
        </p:nvSpPr>
        <p:spPr>
          <a:xfrm>
            <a:off x="3429000" y="3291840"/>
            <a:ext cx="2331720" cy="685800"/>
          </a:xfrm>
          <a:prstGeom prst="rect">
            <a:avLst/>
          </a:prstGeom>
          <a:noFill/>
          <a:ln/>
        </p:spPr>
        <p:txBody>
          <a:bodyPr wrap="square" lIns="0" tIns="0" rIns="0" bIns="0" rtlCol="0" anchor="t"/>
          <a:lstStyle/>
          <a:p>
            <a:pPr indent="0" marL="0">
              <a:buNone/>
            </a:pPr>
            <a:r>
              <a:rPr lang="en-US" sz="1300" dirty="0">
                <a:solidFill>
                  <a:srgbClr val="E8F1EE"/>
                </a:solidFill>
                <a:latin typeface="Calibri" pitchFamily="34" charset="0"/>
                <a:ea typeface="Calibri" pitchFamily="34" charset="-122"/>
                <a:cs typeface="Calibri" pitchFamily="34" charset="-120"/>
              </a:rPr>
              <a:t>Systems wait until the soil is already dry instead of planning ahead</a:t>
            </a:r>
            <a:endParaRPr lang="en-US" sz="1300" dirty="0"/>
          </a:p>
        </p:txBody>
      </p:sp>
      <p:sp>
        <p:nvSpPr>
          <p:cNvPr id="17" name="a4_card_57"/>
          <p:cNvSpPr/>
          <p:nvPr/>
        </p:nvSpPr>
        <p:spPr>
          <a:xfrm>
            <a:off x="6071616" y="2560320"/>
            <a:ext cx="2615184" cy="1463040"/>
          </a:xfrm>
          <a:prstGeom prst="roundRect">
            <a:avLst>
              <a:gd name="adj" fmla="val 5000"/>
            </a:avLst>
          </a:prstGeom>
          <a:solidFill>
            <a:srgbClr val="1C2F36"/>
          </a:solidFill>
          <a:ln w="9525">
            <a:solidFill>
              <a:srgbClr val="35505A"/>
            </a:solidFill>
            <a:prstDash val="solid"/>
          </a:ln>
        </p:spPr>
      </p:sp>
      <p:sp>
        <p:nvSpPr>
          <p:cNvPr id="18" name="a4_ic_58"/>
          <p:cNvSpPr/>
          <p:nvPr/>
        </p:nvSpPr>
        <p:spPr>
          <a:xfrm>
            <a:off x="6236208" y="2724912"/>
            <a:ext cx="475488" cy="475488"/>
          </a:xfrm>
          <a:prstGeom prst="ellipse">
            <a:avLst/>
          </a:prstGeom>
          <a:solidFill>
            <a:srgbClr val="12232A"/>
          </a:solidFill>
          <a:ln/>
        </p:spPr>
      </p:sp>
      <p:pic>
        <p:nvPicPr>
          <p:cNvPr id="19" name="a4_icimg_59" descr="preencoded.png">    </p:cNvPr>
          <p:cNvPicPr>
            <a:picLocks noChangeAspect="1"/>
          </p:cNvPicPr>
          <p:nvPr/>
        </p:nvPicPr>
        <p:blipFill>
          <a:blip r:embed="rId4"/>
          <a:stretch>
            <a:fillRect/>
          </a:stretch>
        </p:blipFill>
        <p:spPr>
          <a:xfrm>
            <a:off x="6350325" y="2839029"/>
            <a:ext cx="247254" cy="247254"/>
          </a:xfrm>
          <a:prstGeom prst="rect">
            <a:avLst/>
          </a:prstGeom>
        </p:spPr>
      </p:pic>
      <p:sp>
        <p:nvSpPr>
          <p:cNvPr id="20" name="a4_txt_60"/>
          <p:cNvSpPr txBox="1"/>
          <p:nvPr/>
        </p:nvSpPr>
        <p:spPr>
          <a:xfrm>
            <a:off x="6821424" y="2724912"/>
            <a:ext cx="1783080" cy="475488"/>
          </a:xfrm>
          <a:prstGeom prst="rect">
            <a:avLst/>
          </a:prstGeom>
          <a:noFill/>
          <a:ln/>
        </p:spPr>
        <p:txBody>
          <a:bodyPr wrap="square" lIns="0" tIns="0" rIns="0" bIns="0" rtlCol="0" anchor="ctr"/>
          <a:lstStyle/>
          <a:p>
            <a:pPr indent="0" marL="0">
              <a:buNone/>
            </a:pPr>
            <a:r>
              <a:rPr lang="en-US" sz="1400" b="1" dirty="0">
                <a:solidFill>
                  <a:srgbClr val="E5736B"/>
                </a:solidFill>
                <a:latin typeface="Calibri" pitchFamily="34" charset="0"/>
                <a:ea typeface="Calibri" pitchFamily="34" charset="-122"/>
                <a:cs typeface="Calibri" pitchFamily="34" charset="-120"/>
              </a:rPr>
              <a:t>Unsafe on faults</a:t>
            </a:r>
            <a:endParaRPr lang="en-US" sz="1400" dirty="0"/>
          </a:p>
        </p:txBody>
      </p:sp>
      <p:sp>
        <p:nvSpPr>
          <p:cNvPr id="21" name="a4_txt_61"/>
          <p:cNvSpPr txBox="1"/>
          <p:nvPr/>
        </p:nvSpPr>
        <p:spPr>
          <a:xfrm>
            <a:off x="6236208" y="3291840"/>
            <a:ext cx="2331720" cy="685800"/>
          </a:xfrm>
          <a:prstGeom prst="rect">
            <a:avLst/>
          </a:prstGeom>
          <a:noFill/>
          <a:ln/>
        </p:spPr>
        <p:txBody>
          <a:bodyPr wrap="square" lIns="0" tIns="0" rIns="0" bIns="0" rtlCol="0" anchor="t"/>
          <a:lstStyle/>
          <a:p>
            <a:pPr indent="0" marL="0">
              <a:buNone/>
            </a:pPr>
            <a:r>
              <a:rPr lang="en-US" sz="1300" dirty="0">
                <a:solidFill>
                  <a:srgbClr val="E8F1EE"/>
                </a:solidFill>
                <a:latin typeface="Calibri" pitchFamily="34" charset="0"/>
                <a:ea typeface="Calibri" pitchFamily="34" charset="-122"/>
                <a:cs typeface="Calibri" pitchFamily="34" charset="-120"/>
              </a:rPr>
              <a:t>Bad sensor values, dry-running pumps and lost Wi-Fi go undetected</a:t>
            </a:r>
            <a:endParaRPr lang="en-US" sz="1300" dirty="0"/>
          </a:p>
        </p:txBody>
      </p:sp>
      <p:sp>
        <p:nvSpPr>
          <p:cNvPr id="22" name="a5_txt_62"/>
          <p:cNvSpPr txBox="1"/>
          <p:nvPr/>
        </p:nvSpPr>
        <p:spPr>
          <a:xfrm>
            <a:off x="457200" y="4206240"/>
            <a:ext cx="8229600" cy="411480"/>
          </a:xfrm>
          <a:prstGeom prst="rect">
            <a:avLst/>
          </a:prstGeom>
          <a:noFill/>
          <a:ln/>
        </p:spPr>
        <p:txBody>
          <a:bodyPr wrap="square" lIns="0" tIns="0" rIns="0" bIns="0" rtlCol="0" anchor="ctr"/>
          <a:lstStyle/>
          <a:p>
            <a:pPr indent="0" marL="0">
              <a:buNone/>
            </a:pPr>
            <a:r>
              <a:rPr lang="en-US" sz="1500" b="1" dirty="0">
                <a:solidFill>
                  <a:srgbClr val="9BE7C4"/>
                </a:solidFill>
                <a:latin typeface="Calibri" pitchFamily="34" charset="0"/>
                <a:ea typeface="Calibri" pitchFamily="34" charset="-122"/>
                <a:cs typeface="Calibri" pitchFamily="34" charset="-120"/>
              </a:rPr>
              <a:t>Goal: </a:t>
            </a:r>
            <a:pPr indent="0" marL="0">
              <a:buNone/>
            </a:pPr>
            <a:r>
              <a:rPr lang="en-US" sz="1500" dirty="0">
                <a:solidFill>
                  <a:srgbClr val="E8F1EE"/>
                </a:solidFill>
                <a:latin typeface="Calibri" pitchFamily="34" charset="0"/>
                <a:ea typeface="Calibri" pitchFamily="34" charset="-122"/>
                <a:cs typeface="Calibri" pitchFamily="34" charset="-120"/>
              </a:rPr>
              <a:t>a low-cost, AI-assisted irrigation system that predicts water needs, waters safely, verifies the result, and keeps the user informed.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35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par>
                          <p:cTn id="33" fill="hold">
                            <p:stCondLst>
                              <p:cond delay="700"/>
                            </p:stCondLst>
                            <p:childTnLst>
                              <p:par>
                                <p:cTn id="34" presetID="10" presetClass="entr" presetSubtype="0"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par>
                          <p:cTn id="49" fill="hold">
                            <p:stCondLst>
                              <p:cond delay="1050"/>
                            </p:stCondLst>
                            <p:childTnLst>
                              <p:par>
                                <p:cTn id="50" presetID="10" presetClass="entr" presetSubtype="0" fill="hold"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par>
                          <p:cTn id="65" fill="hold">
                            <p:stCondLst>
                              <p:cond delay="1400"/>
                            </p:stCondLst>
                            <p:childTnLst>
                              <p:par>
                                <p:cTn id="66" presetID="10" presetClass="entr" presetSubtype="0" fill="hold" nodeType="after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Project objectives</a:t>
            </a:r>
            <a:endParaRPr lang="en-US" sz="2600" dirty="0"/>
          </a:p>
        </p:txBody>
      </p:sp>
      <p:sp>
        <p:nvSpPr>
          <p:cNvPr id="3" name="a1_card_63"/>
          <p:cNvSpPr/>
          <p:nvPr/>
        </p:nvSpPr>
        <p:spPr>
          <a:xfrm>
            <a:off x="457200" y="914400"/>
            <a:ext cx="1920240" cy="1755648"/>
          </a:xfrm>
          <a:prstGeom prst="roundRect">
            <a:avLst>
              <a:gd name="adj" fmla="val 4167"/>
            </a:avLst>
          </a:prstGeom>
          <a:solidFill>
            <a:srgbClr val="1C2F36"/>
          </a:solidFill>
          <a:ln w="9525">
            <a:solidFill>
              <a:srgbClr val="35505A"/>
            </a:solidFill>
            <a:prstDash val="solid"/>
          </a:ln>
        </p:spPr>
      </p:sp>
      <p:sp>
        <p:nvSpPr>
          <p:cNvPr id="4" name="a1_ic_64"/>
          <p:cNvSpPr/>
          <p:nvPr/>
        </p:nvSpPr>
        <p:spPr>
          <a:xfrm>
            <a:off x="594360" y="1051560"/>
            <a:ext cx="457200" cy="457200"/>
          </a:xfrm>
          <a:prstGeom prst="ellipse">
            <a:avLst/>
          </a:prstGeom>
          <a:solidFill>
            <a:srgbClr val="12232A"/>
          </a:solidFill>
          <a:ln/>
        </p:spPr>
      </p:sp>
      <p:pic>
        <p:nvPicPr>
          <p:cNvPr id="5" name="a1_icimg_65" descr="preencoded.png">    </p:cNvPr>
          <p:cNvPicPr>
            <a:picLocks noChangeAspect="1"/>
          </p:cNvPicPr>
          <p:nvPr/>
        </p:nvPicPr>
        <p:blipFill>
          <a:blip r:embed="rId1"/>
          <a:stretch>
            <a:fillRect/>
          </a:stretch>
        </p:blipFill>
        <p:spPr>
          <a:xfrm>
            <a:off x="704088" y="1161288"/>
            <a:ext cx="237744" cy="237744"/>
          </a:xfrm>
          <a:prstGeom prst="rect">
            <a:avLst/>
          </a:prstGeom>
        </p:spPr>
      </p:pic>
      <p:sp>
        <p:nvSpPr>
          <p:cNvPr id="6" name="a1_txt_66"/>
          <p:cNvSpPr txBox="1"/>
          <p:nvPr/>
        </p:nvSpPr>
        <p:spPr>
          <a:xfrm>
            <a:off x="1828800" y="1051560"/>
            <a:ext cx="411480" cy="274320"/>
          </a:xfrm>
          <a:prstGeom prst="rect">
            <a:avLst/>
          </a:prstGeom>
          <a:noFill/>
          <a:ln/>
        </p:spPr>
        <p:txBody>
          <a:bodyPr wrap="square" lIns="0" tIns="0" rIns="0" bIns="0" rtlCol="0" anchor="t"/>
          <a:lstStyle/>
          <a:p>
            <a:pPr algn="r" indent="0" marL="0">
              <a:buNone/>
            </a:pPr>
            <a:r>
              <a:rPr lang="en-US" sz="1400" b="1" dirty="0">
                <a:solidFill>
                  <a:srgbClr val="35505A"/>
                </a:solidFill>
                <a:latin typeface="Arial" pitchFamily="34" charset="0"/>
                <a:ea typeface="Arial" pitchFamily="34" charset="-122"/>
                <a:cs typeface="Arial" pitchFamily="34" charset="-120"/>
              </a:rPr>
              <a:t>01</a:t>
            </a:r>
            <a:endParaRPr lang="en-US" sz="1400" dirty="0"/>
          </a:p>
        </p:txBody>
      </p:sp>
      <p:sp>
        <p:nvSpPr>
          <p:cNvPr id="7" name="a1_txt_67"/>
          <p:cNvSpPr txBox="1"/>
          <p:nvPr/>
        </p:nvSpPr>
        <p:spPr>
          <a:xfrm>
            <a:off x="594360" y="1600200"/>
            <a:ext cx="1645920" cy="274320"/>
          </a:xfrm>
          <a:prstGeom prst="rect">
            <a:avLst/>
          </a:prstGeom>
          <a:noFill/>
          <a:ln/>
        </p:spPr>
        <p:txBody>
          <a:bodyPr wrap="square" lIns="0" tIns="0" rIns="0" bIns="0" rtlCol="0" anchor="t"/>
          <a:lstStyle/>
          <a:p>
            <a:pPr indent="0" marL="0">
              <a:buNone/>
            </a:pPr>
            <a:r>
              <a:rPr lang="en-US" sz="1400" b="1" dirty="0">
                <a:solidFill>
                  <a:srgbClr val="7CCFC7"/>
                </a:solidFill>
                <a:latin typeface="Calibri" pitchFamily="34" charset="0"/>
                <a:ea typeface="Calibri" pitchFamily="34" charset="-122"/>
                <a:cs typeface="Calibri" pitchFamily="34" charset="-120"/>
              </a:rPr>
              <a:t>Real-time monitoring</a:t>
            </a:r>
            <a:endParaRPr lang="en-US" sz="1400" dirty="0"/>
          </a:p>
        </p:txBody>
      </p:sp>
      <p:sp>
        <p:nvSpPr>
          <p:cNvPr id="8" name="a1_txt_68"/>
          <p:cNvSpPr txBox="1"/>
          <p:nvPr/>
        </p:nvSpPr>
        <p:spPr>
          <a:xfrm>
            <a:off x="594360" y="1892808"/>
            <a:ext cx="1664208" cy="731520"/>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Soil moisture, temperature, humidity and water level on the ESP32</a:t>
            </a:r>
            <a:endParaRPr lang="en-US" sz="1200" dirty="0"/>
          </a:p>
        </p:txBody>
      </p:sp>
      <p:sp>
        <p:nvSpPr>
          <p:cNvPr id="9" name="a2_card_69"/>
          <p:cNvSpPr/>
          <p:nvPr/>
        </p:nvSpPr>
        <p:spPr>
          <a:xfrm>
            <a:off x="2560320" y="914400"/>
            <a:ext cx="1920240" cy="1755648"/>
          </a:xfrm>
          <a:prstGeom prst="roundRect">
            <a:avLst>
              <a:gd name="adj" fmla="val 4167"/>
            </a:avLst>
          </a:prstGeom>
          <a:solidFill>
            <a:srgbClr val="1C2F36"/>
          </a:solidFill>
          <a:ln w="9525">
            <a:solidFill>
              <a:srgbClr val="35505A"/>
            </a:solidFill>
            <a:prstDash val="solid"/>
          </a:ln>
        </p:spPr>
      </p:sp>
      <p:sp>
        <p:nvSpPr>
          <p:cNvPr id="10" name="a2_ic_70"/>
          <p:cNvSpPr/>
          <p:nvPr/>
        </p:nvSpPr>
        <p:spPr>
          <a:xfrm>
            <a:off x="2697480" y="1051560"/>
            <a:ext cx="457200" cy="457200"/>
          </a:xfrm>
          <a:prstGeom prst="ellipse">
            <a:avLst/>
          </a:prstGeom>
          <a:solidFill>
            <a:srgbClr val="12232A"/>
          </a:solidFill>
          <a:ln/>
        </p:spPr>
      </p:sp>
      <p:pic>
        <p:nvPicPr>
          <p:cNvPr id="11" name="a2_icimg_71" descr="preencoded.png">    </p:cNvPr>
          <p:cNvPicPr>
            <a:picLocks noChangeAspect="1"/>
          </p:cNvPicPr>
          <p:nvPr/>
        </p:nvPicPr>
        <p:blipFill>
          <a:blip r:embed="rId2"/>
          <a:stretch>
            <a:fillRect/>
          </a:stretch>
        </p:blipFill>
        <p:spPr>
          <a:xfrm>
            <a:off x="2807208" y="1161288"/>
            <a:ext cx="237744" cy="237744"/>
          </a:xfrm>
          <a:prstGeom prst="rect">
            <a:avLst/>
          </a:prstGeom>
        </p:spPr>
      </p:pic>
      <p:sp>
        <p:nvSpPr>
          <p:cNvPr id="12" name="a2_txt_72"/>
          <p:cNvSpPr txBox="1"/>
          <p:nvPr/>
        </p:nvSpPr>
        <p:spPr>
          <a:xfrm>
            <a:off x="3931920" y="1051560"/>
            <a:ext cx="411480" cy="274320"/>
          </a:xfrm>
          <a:prstGeom prst="rect">
            <a:avLst/>
          </a:prstGeom>
          <a:noFill/>
          <a:ln/>
        </p:spPr>
        <p:txBody>
          <a:bodyPr wrap="square" lIns="0" tIns="0" rIns="0" bIns="0" rtlCol="0" anchor="t"/>
          <a:lstStyle/>
          <a:p>
            <a:pPr algn="r" indent="0" marL="0">
              <a:buNone/>
            </a:pPr>
            <a:r>
              <a:rPr lang="en-US" sz="1400" b="1" dirty="0">
                <a:solidFill>
                  <a:srgbClr val="35505A"/>
                </a:solidFill>
                <a:latin typeface="Arial" pitchFamily="34" charset="0"/>
                <a:ea typeface="Arial" pitchFamily="34" charset="-122"/>
                <a:cs typeface="Arial" pitchFamily="34" charset="-120"/>
              </a:rPr>
              <a:t>02</a:t>
            </a:r>
            <a:endParaRPr lang="en-US" sz="1400" dirty="0"/>
          </a:p>
        </p:txBody>
      </p:sp>
      <p:sp>
        <p:nvSpPr>
          <p:cNvPr id="13" name="a2_txt_73"/>
          <p:cNvSpPr txBox="1"/>
          <p:nvPr/>
        </p:nvSpPr>
        <p:spPr>
          <a:xfrm>
            <a:off x="2697480" y="1600200"/>
            <a:ext cx="1645920" cy="274320"/>
          </a:xfrm>
          <a:prstGeom prst="rect">
            <a:avLst/>
          </a:prstGeom>
          <a:noFill/>
          <a:ln/>
        </p:spPr>
        <p:txBody>
          <a:bodyPr wrap="square" lIns="0" tIns="0" rIns="0" bIns="0" rtlCol="0" anchor="t"/>
          <a:lstStyle/>
          <a:p>
            <a:pPr indent="0" marL="0">
              <a:buNone/>
            </a:pPr>
            <a:r>
              <a:rPr lang="en-US" sz="1400" b="1" dirty="0">
                <a:solidFill>
                  <a:srgbClr val="9BE7C4"/>
                </a:solidFill>
                <a:latin typeface="Calibri" pitchFamily="34" charset="0"/>
                <a:ea typeface="Calibri" pitchFamily="34" charset="-122"/>
                <a:cs typeface="Calibri" pitchFamily="34" charset="-120"/>
              </a:rPr>
              <a:t>AI-based prediction</a:t>
            </a:r>
            <a:endParaRPr lang="en-US" sz="1400" dirty="0"/>
          </a:p>
        </p:txBody>
      </p:sp>
      <p:sp>
        <p:nvSpPr>
          <p:cNvPr id="14" name="a2_txt_74"/>
          <p:cNvSpPr txBox="1"/>
          <p:nvPr/>
        </p:nvSpPr>
        <p:spPr>
          <a:xfrm>
            <a:off x="2697480" y="1892808"/>
            <a:ext cx="1664208" cy="731520"/>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Forecast soil moisture and irrigation needs with machine learning</a:t>
            </a:r>
            <a:endParaRPr lang="en-US" sz="1200" dirty="0"/>
          </a:p>
        </p:txBody>
      </p:sp>
      <p:sp>
        <p:nvSpPr>
          <p:cNvPr id="15" name="a3_card_75"/>
          <p:cNvSpPr/>
          <p:nvPr/>
        </p:nvSpPr>
        <p:spPr>
          <a:xfrm>
            <a:off x="4663440" y="914400"/>
            <a:ext cx="1920240" cy="1755648"/>
          </a:xfrm>
          <a:prstGeom prst="roundRect">
            <a:avLst>
              <a:gd name="adj" fmla="val 4167"/>
            </a:avLst>
          </a:prstGeom>
          <a:solidFill>
            <a:srgbClr val="1C2F36"/>
          </a:solidFill>
          <a:ln w="9525">
            <a:solidFill>
              <a:srgbClr val="35505A"/>
            </a:solidFill>
            <a:prstDash val="solid"/>
          </a:ln>
        </p:spPr>
      </p:sp>
      <p:sp>
        <p:nvSpPr>
          <p:cNvPr id="16" name="a3_ic_76"/>
          <p:cNvSpPr/>
          <p:nvPr/>
        </p:nvSpPr>
        <p:spPr>
          <a:xfrm>
            <a:off x="4800600" y="1051560"/>
            <a:ext cx="457200" cy="457200"/>
          </a:xfrm>
          <a:prstGeom prst="ellipse">
            <a:avLst/>
          </a:prstGeom>
          <a:solidFill>
            <a:srgbClr val="12232A"/>
          </a:solidFill>
          <a:ln/>
        </p:spPr>
      </p:sp>
      <p:pic>
        <p:nvPicPr>
          <p:cNvPr id="17" name="a3_icimg_77" descr="preencoded.png">    </p:cNvPr>
          <p:cNvPicPr>
            <a:picLocks noChangeAspect="1"/>
          </p:cNvPicPr>
          <p:nvPr/>
        </p:nvPicPr>
        <p:blipFill>
          <a:blip r:embed="rId3"/>
          <a:stretch>
            <a:fillRect/>
          </a:stretch>
        </p:blipFill>
        <p:spPr>
          <a:xfrm>
            <a:off x="4910328" y="1161288"/>
            <a:ext cx="237744" cy="237744"/>
          </a:xfrm>
          <a:prstGeom prst="rect">
            <a:avLst/>
          </a:prstGeom>
        </p:spPr>
      </p:pic>
      <p:sp>
        <p:nvSpPr>
          <p:cNvPr id="18" name="a3_txt_78"/>
          <p:cNvSpPr txBox="1"/>
          <p:nvPr/>
        </p:nvSpPr>
        <p:spPr>
          <a:xfrm>
            <a:off x="6035040" y="1051560"/>
            <a:ext cx="411480" cy="274320"/>
          </a:xfrm>
          <a:prstGeom prst="rect">
            <a:avLst/>
          </a:prstGeom>
          <a:noFill/>
          <a:ln/>
        </p:spPr>
        <p:txBody>
          <a:bodyPr wrap="square" lIns="0" tIns="0" rIns="0" bIns="0" rtlCol="0" anchor="t"/>
          <a:lstStyle/>
          <a:p>
            <a:pPr algn="r" indent="0" marL="0">
              <a:buNone/>
            </a:pPr>
            <a:r>
              <a:rPr lang="en-US" sz="1400" b="1" dirty="0">
                <a:solidFill>
                  <a:srgbClr val="35505A"/>
                </a:solidFill>
                <a:latin typeface="Arial" pitchFamily="34" charset="0"/>
                <a:ea typeface="Arial" pitchFamily="34" charset="-122"/>
                <a:cs typeface="Arial" pitchFamily="34" charset="-120"/>
              </a:rPr>
              <a:t>03</a:t>
            </a:r>
            <a:endParaRPr lang="en-US" sz="1400" dirty="0"/>
          </a:p>
        </p:txBody>
      </p:sp>
      <p:sp>
        <p:nvSpPr>
          <p:cNvPr id="19" name="a3_txt_79"/>
          <p:cNvSpPr txBox="1"/>
          <p:nvPr/>
        </p:nvSpPr>
        <p:spPr>
          <a:xfrm>
            <a:off x="4800600" y="1600200"/>
            <a:ext cx="1645920" cy="274320"/>
          </a:xfrm>
          <a:prstGeom prst="rect">
            <a:avLst/>
          </a:prstGeom>
          <a:noFill/>
          <a:ln/>
        </p:spPr>
        <p:txBody>
          <a:bodyPr wrap="square" lIns="0" tIns="0" rIns="0" bIns="0" rtlCol="0" anchor="t"/>
          <a:lstStyle/>
          <a:p>
            <a:pPr indent="0" marL="0">
              <a:buNone/>
            </a:pPr>
            <a:r>
              <a:rPr lang="en-US" sz="1400" b="1" dirty="0">
                <a:solidFill>
                  <a:srgbClr val="6CC08B"/>
                </a:solidFill>
                <a:latin typeface="Calibri" pitchFamily="34" charset="0"/>
                <a:ea typeface="Calibri" pitchFamily="34" charset="-122"/>
                <a:cs typeface="Calibri" pitchFamily="34" charset="-120"/>
              </a:rPr>
              <a:t>Adaptive irrigation</a:t>
            </a:r>
            <a:endParaRPr lang="en-US" sz="1400" dirty="0"/>
          </a:p>
        </p:txBody>
      </p:sp>
      <p:sp>
        <p:nvSpPr>
          <p:cNvPr id="20" name="a3_txt_80"/>
          <p:cNvSpPr txBox="1"/>
          <p:nvPr/>
        </p:nvSpPr>
        <p:spPr>
          <a:xfrm>
            <a:off x="4800600" y="1892808"/>
            <a:ext cx="1664208" cy="731520"/>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Water from sensor data, AI predictions and safety limits</a:t>
            </a:r>
            <a:endParaRPr lang="en-US" sz="1200" dirty="0"/>
          </a:p>
        </p:txBody>
      </p:sp>
      <p:sp>
        <p:nvSpPr>
          <p:cNvPr id="21" name="a4_card_81"/>
          <p:cNvSpPr/>
          <p:nvPr/>
        </p:nvSpPr>
        <p:spPr>
          <a:xfrm>
            <a:off x="6766560" y="914400"/>
            <a:ext cx="1920240" cy="1755648"/>
          </a:xfrm>
          <a:prstGeom prst="roundRect">
            <a:avLst>
              <a:gd name="adj" fmla="val 4167"/>
            </a:avLst>
          </a:prstGeom>
          <a:solidFill>
            <a:srgbClr val="1C2F36"/>
          </a:solidFill>
          <a:ln w="9525">
            <a:solidFill>
              <a:srgbClr val="35505A"/>
            </a:solidFill>
            <a:prstDash val="solid"/>
          </a:ln>
        </p:spPr>
      </p:sp>
      <p:sp>
        <p:nvSpPr>
          <p:cNvPr id="22" name="a4_ic_82"/>
          <p:cNvSpPr/>
          <p:nvPr/>
        </p:nvSpPr>
        <p:spPr>
          <a:xfrm>
            <a:off x="6903720" y="1051560"/>
            <a:ext cx="457200" cy="457200"/>
          </a:xfrm>
          <a:prstGeom prst="ellipse">
            <a:avLst/>
          </a:prstGeom>
          <a:solidFill>
            <a:srgbClr val="12232A"/>
          </a:solidFill>
          <a:ln/>
        </p:spPr>
      </p:sp>
      <p:pic>
        <p:nvPicPr>
          <p:cNvPr id="23" name="a4_icimg_83" descr="preencoded.png">    </p:cNvPr>
          <p:cNvPicPr>
            <a:picLocks noChangeAspect="1"/>
          </p:cNvPicPr>
          <p:nvPr/>
        </p:nvPicPr>
        <p:blipFill>
          <a:blip r:embed="rId4"/>
          <a:stretch>
            <a:fillRect/>
          </a:stretch>
        </p:blipFill>
        <p:spPr>
          <a:xfrm>
            <a:off x="7013448" y="1161288"/>
            <a:ext cx="237744" cy="237744"/>
          </a:xfrm>
          <a:prstGeom prst="rect">
            <a:avLst/>
          </a:prstGeom>
        </p:spPr>
      </p:pic>
      <p:sp>
        <p:nvSpPr>
          <p:cNvPr id="24" name="a4_txt_84"/>
          <p:cNvSpPr txBox="1"/>
          <p:nvPr/>
        </p:nvSpPr>
        <p:spPr>
          <a:xfrm>
            <a:off x="8138160" y="1051560"/>
            <a:ext cx="411480" cy="274320"/>
          </a:xfrm>
          <a:prstGeom prst="rect">
            <a:avLst/>
          </a:prstGeom>
          <a:noFill/>
          <a:ln/>
        </p:spPr>
        <p:txBody>
          <a:bodyPr wrap="square" lIns="0" tIns="0" rIns="0" bIns="0" rtlCol="0" anchor="t"/>
          <a:lstStyle/>
          <a:p>
            <a:pPr algn="r" indent="0" marL="0">
              <a:buNone/>
            </a:pPr>
            <a:r>
              <a:rPr lang="en-US" sz="1400" b="1" dirty="0">
                <a:solidFill>
                  <a:srgbClr val="35505A"/>
                </a:solidFill>
                <a:latin typeface="Arial" pitchFamily="34" charset="0"/>
                <a:ea typeface="Arial" pitchFamily="34" charset="-122"/>
                <a:cs typeface="Arial" pitchFamily="34" charset="-120"/>
              </a:rPr>
              <a:t>04</a:t>
            </a:r>
            <a:endParaRPr lang="en-US" sz="1400" dirty="0"/>
          </a:p>
        </p:txBody>
      </p:sp>
      <p:sp>
        <p:nvSpPr>
          <p:cNvPr id="25" name="a4_txt_85"/>
          <p:cNvSpPr txBox="1"/>
          <p:nvPr/>
        </p:nvSpPr>
        <p:spPr>
          <a:xfrm>
            <a:off x="6903720" y="1600200"/>
            <a:ext cx="1645920" cy="274320"/>
          </a:xfrm>
          <a:prstGeom prst="rect">
            <a:avLst/>
          </a:prstGeom>
          <a:noFill/>
          <a:ln/>
        </p:spPr>
        <p:txBody>
          <a:bodyPr wrap="square" lIns="0" tIns="0" rIns="0" bIns="0" rtlCol="0" anchor="t"/>
          <a:lstStyle/>
          <a:p>
            <a:pPr indent="0" marL="0">
              <a:buNone/>
            </a:pPr>
            <a:r>
              <a:rPr lang="en-US" sz="1400" b="1" dirty="0">
                <a:solidFill>
                  <a:srgbClr val="EDA265"/>
                </a:solidFill>
                <a:latin typeface="Calibri" pitchFamily="34" charset="0"/>
                <a:ea typeface="Calibri" pitchFamily="34" charset="-122"/>
                <a:cs typeface="Calibri" pitchFamily="34" charset="-120"/>
              </a:rPr>
              <a:t>Anomaly detection</a:t>
            </a:r>
            <a:endParaRPr lang="en-US" sz="1400" dirty="0"/>
          </a:p>
        </p:txBody>
      </p:sp>
      <p:sp>
        <p:nvSpPr>
          <p:cNvPr id="26" name="a4_txt_86"/>
          <p:cNvSpPr txBox="1"/>
          <p:nvPr/>
        </p:nvSpPr>
        <p:spPr>
          <a:xfrm>
            <a:off x="6903720" y="1892808"/>
            <a:ext cx="1664208" cy="731520"/>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Flag abnormal readings and unexpected irrigation behaviour</a:t>
            </a:r>
            <a:endParaRPr lang="en-US" sz="1200" dirty="0"/>
          </a:p>
        </p:txBody>
      </p:sp>
      <p:sp>
        <p:nvSpPr>
          <p:cNvPr id="27" name="a5_card_87"/>
          <p:cNvSpPr/>
          <p:nvPr/>
        </p:nvSpPr>
        <p:spPr>
          <a:xfrm>
            <a:off x="457200" y="2852928"/>
            <a:ext cx="1920240" cy="1755648"/>
          </a:xfrm>
          <a:prstGeom prst="roundRect">
            <a:avLst>
              <a:gd name="adj" fmla="val 4167"/>
            </a:avLst>
          </a:prstGeom>
          <a:solidFill>
            <a:srgbClr val="1C2F36"/>
          </a:solidFill>
          <a:ln w="9525">
            <a:solidFill>
              <a:srgbClr val="35505A"/>
            </a:solidFill>
            <a:prstDash val="solid"/>
          </a:ln>
        </p:spPr>
      </p:sp>
      <p:sp>
        <p:nvSpPr>
          <p:cNvPr id="28" name="a5_ic_88"/>
          <p:cNvSpPr/>
          <p:nvPr/>
        </p:nvSpPr>
        <p:spPr>
          <a:xfrm>
            <a:off x="594360" y="2990088"/>
            <a:ext cx="457200" cy="457200"/>
          </a:xfrm>
          <a:prstGeom prst="ellipse">
            <a:avLst/>
          </a:prstGeom>
          <a:solidFill>
            <a:srgbClr val="12232A"/>
          </a:solidFill>
          <a:ln/>
        </p:spPr>
      </p:sp>
      <p:pic>
        <p:nvPicPr>
          <p:cNvPr id="29" name="a5_icimg_89" descr="preencoded.png">    </p:cNvPr>
          <p:cNvPicPr>
            <a:picLocks noChangeAspect="1"/>
          </p:cNvPicPr>
          <p:nvPr/>
        </p:nvPicPr>
        <p:blipFill>
          <a:blip r:embed="rId5"/>
          <a:stretch>
            <a:fillRect/>
          </a:stretch>
        </p:blipFill>
        <p:spPr>
          <a:xfrm>
            <a:off x="704088" y="3099816"/>
            <a:ext cx="237744" cy="237744"/>
          </a:xfrm>
          <a:prstGeom prst="rect">
            <a:avLst/>
          </a:prstGeom>
        </p:spPr>
      </p:pic>
      <p:sp>
        <p:nvSpPr>
          <p:cNvPr id="30" name="a5_txt_90"/>
          <p:cNvSpPr txBox="1"/>
          <p:nvPr/>
        </p:nvSpPr>
        <p:spPr>
          <a:xfrm>
            <a:off x="1828800" y="2990088"/>
            <a:ext cx="411480" cy="274320"/>
          </a:xfrm>
          <a:prstGeom prst="rect">
            <a:avLst/>
          </a:prstGeom>
          <a:noFill/>
          <a:ln/>
        </p:spPr>
        <p:txBody>
          <a:bodyPr wrap="square" lIns="0" tIns="0" rIns="0" bIns="0" rtlCol="0" anchor="t"/>
          <a:lstStyle/>
          <a:p>
            <a:pPr algn="r" indent="0" marL="0">
              <a:buNone/>
            </a:pPr>
            <a:r>
              <a:rPr lang="en-US" sz="1400" b="1" dirty="0">
                <a:solidFill>
                  <a:srgbClr val="35505A"/>
                </a:solidFill>
                <a:latin typeface="Arial" pitchFamily="34" charset="0"/>
                <a:ea typeface="Arial" pitchFamily="34" charset="-122"/>
                <a:cs typeface="Arial" pitchFamily="34" charset="-120"/>
              </a:rPr>
              <a:t>05</a:t>
            </a:r>
            <a:endParaRPr lang="en-US" sz="1400" dirty="0"/>
          </a:p>
        </p:txBody>
      </p:sp>
      <p:sp>
        <p:nvSpPr>
          <p:cNvPr id="31" name="a5_txt_91"/>
          <p:cNvSpPr txBox="1"/>
          <p:nvPr/>
        </p:nvSpPr>
        <p:spPr>
          <a:xfrm>
            <a:off x="594360" y="3538728"/>
            <a:ext cx="1645920" cy="274320"/>
          </a:xfrm>
          <a:prstGeom prst="rect">
            <a:avLst/>
          </a:prstGeom>
          <a:noFill/>
          <a:ln/>
        </p:spPr>
        <p:txBody>
          <a:bodyPr wrap="square" lIns="0" tIns="0" rIns="0" bIns="0" rtlCol="0" anchor="t"/>
          <a:lstStyle/>
          <a:p>
            <a:pPr indent="0" marL="0">
              <a:buNone/>
            </a:pPr>
            <a:r>
              <a:rPr lang="en-US" sz="1400" b="1" dirty="0">
                <a:solidFill>
                  <a:srgbClr val="7CCFC7"/>
                </a:solidFill>
                <a:latin typeface="Calibri" pitchFamily="34" charset="0"/>
                <a:ea typeface="Calibri" pitchFamily="34" charset="-122"/>
                <a:cs typeface="Calibri" pitchFamily="34" charset="-120"/>
              </a:rPr>
              <a:t>Feedback verification</a:t>
            </a:r>
            <a:endParaRPr lang="en-US" sz="1400" dirty="0"/>
          </a:p>
        </p:txBody>
      </p:sp>
      <p:sp>
        <p:nvSpPr>
          <p:cNvPr id="32" name="a5_txt_92"/>
          <p:cNvSpPr txBox="1"/>
          <p:nvPr/>
        </p:nvSpPr>
        <p:spPr>
          <a:xfrm>
            <a:off x="594360" y="3831336"/>
            <a:ext cx="1664208" cy="731520"/>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Measure moisture change after watering to improve future decisions</a:t>
            </a:r>
            <a:endParaRPr lang="en-US" sz="1200" dirty="0"/>
          </a:p>
        </p:txBody>
      </p:sp>
      <p:sp>
        <p:nvSpPr>
          <p:cNvPr id="33" name="a6_card_93"/>
          <p:cNvSpPr/>
          <p:nvPr/>
        </p:nvSpPr>
        <p:spPr>
          <a:xfrm>
            <a:off x="2560320" y="2852928"/>
            <a:ext cx="1920240" cy="1755648"/>
          </a:xfrm>
          <a:prstGeom prst="roundRect">
            <a:avLst>
              <a:gd name="adj" fmla="val 4167"/>
            </a:avLst>
          </a:prstGeom>
          <a:solidFill>
            <a:srgbClr val="1C2F36"/>
          </a:solidFill>
          <a:ln w="9525">
            <a:solidFill>
              <a:srgbClr val="35505A"/>
            </a:solidFill>
            <a:prstDash val="solid"/>
          </a:ln>
        </p:spPr>
      </p:sp>
      <p:sp>
        <p:nvSpPr>
          <p:cNvPr id="34" name="a6_ic_94"/>
          <p:cNvSpPr/>
          <p:nvPr/>
        </p:nvSpPr>
        <p:spPr>
          <a:xfrm>
            <a:off x="2697480" y="2990088"/>
            <a:ext cx="457200" cy="457200"/>
          </a:xfrm>
          <a:prstGeom prst="ellipse">
            <a:avLst/>
          </a:prstGeom>
          <a:solidFill>
            <a:srgbClr val="12232A"/>
          </a:solidFill>
          <a:ln/>
        </p:spPr>
      </p:sp>
      <p:pic>
        <p:nvPicPr>
          <p:cNvPr id="35" name="a6_icimg_95" descr="preencoded.png">    </p:cNvPr>
          <p:cNvPicPr>
            <a:picLocks noChangeAspect="1"/>
          </p:cNvPicPr>
          <p:nvPr/>
        </p:nvPicPr>
        <p:blipFill>
          <a:blip r:embed="rId6"/>
          <a:stretch>
            <a:fillRect/>
          </a:stretch>
        </p:blipFill>
        <p:spPr>
          <a:xfrm>
            <a:off x="2807208" y="3099816"/>
            <a:ext cx="237744" cy="237744"/>
          </a:xfrm>
          <a:prstGeom prst="rect">
            <a:avLst/>
          </a:prstGeom>
        </p:spPr>
      </p:pic>
      <p:sp>
        <p:nvSpPr>
          <p:cNvPr id="36" name="a6_txt_96"/>
          <p:cNvSpPr txBox="1"/>
          <p:nvPr/>
        </p:nvSpPr>
        <p:spPr>
          <a:xfrm>
            <a:off x="3931920" y="2990088"/>
            <a:ext cx="411480" cy="274320"/>
          </a:xfrm>
          <a:prstGeom prst="rect">
            <a:avLst/>
          </a:prstGeom>
          <a:noFill/>
          <a:ln/>
        </p:spPr>
        <p:txBody>
          <a:bodyPr wrap="square" lIns="0" tIns="0" rIns="0" bIns="0" rtlCol="0" anchor="t"/>
          <a:lstStyle/>
          <a:p>
            <a:pPr algn="r" indent="0" marL="0">
              <a:buNone/>
            </a:pPr>
            <a:r>
              <a:rPr lang="en-US" sz="1400" b="1" dirty="0">
                <a:solidFill>
                  <a:srgbClr val="35505A"/>
                </a:solidFill>
                <a:latin typeface="Arial" pitchFamily="34" charset="0"/>
                <a:ea typeface="Arial" pitchFamily="34" charset="-122"/>
                <a:cs typeface="Arial" pitchFamily="34" charset="-120"/>
              </a:rPr>
              <a:t>06</a:t>
            </a:r>
            <a:endParaRPr lang="en-US" sz="1400" dirty="0"/>
          </a:p>
        </p:txBody>
      </p:sp>
      <p:sp>
        <p:nvSpPr>
          <p:cNvPr id="37" name="a6_txt_97"/>
          <p:cNvSpPr txBox="1"/>
          <p:nvPr/>
        </p:nvSpPr>
        <p:spPr>
          <a:xfrm>
            <a:off x="2697480" y="3538728"/>
            <a:ext cx="1645920" cy="274320"/>
          </a:xfrm>
          <a:prstGeom prst="rect">
            <a:avLst/>
          </a:prstGeom>
          <a:noFill/>
          <a:ln/>
        </p:spPr>
        <p:txBody>
          <a:bodyPr wrap="square" lIns="0" tIns="0" rIns="0" bIns="0" rtlCol="0" anchor="t"/>
          <a:lstStyle/>
          <a:p>
            <a:pPr indent="0" marL="0">
              <a:buNone/>
            </a:pPr>
            <a:r>
              <a:rPr lang="en-US" sz="1400" b="1" dirty="0">
                <a:solidFill>
                  <a:srgbClr val="9BE7C4"/>
                </a:solidFill>
                <a:latin typeface="Calibri" pitchFamily="34" charset="0"/>
                <a:ea typeface="Calibri" pitchFamily="34" charset="-122"/>
                <a:cs typeface="Calibri" pitchFamily="34" charset="-120"/>
              </a:rPr>
              <a:t>Smart dashboard</a:t>
            </a:r>
            <a:endParaRPr lang="en-US" sz="1400" dirty="0"/>
          </a:p>
        </p:txBody>
      </p:sp>
      <p:sp>
        <p:nvSpPr>
          <p:cNvPr id="38" name="a6_txt_98"/>
          <p:cNvSpPr txBox="1"/>
          <p:nvPr/>
        </p:nvSpPr>
        <p:spPr>
          <a:xfrm>
            <a:off x="2697480" y="3831336"/>
            <a:ext cx="1664208" cy="731520"/>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Live readings, predictions, pump status, history and alerts</a:t>
            </a:r>
            <a:endParaRPr lang="en-US" sz="1200" dirty="0"/>
          </a:p>
        </p:txBody>
      </p:sp>
      <p:sp>
        <p:nvSpPr>
          <p:cNvPr id="39" name="a7_card_99"/>
          <p:cNvSpPr/>
          <p:nvPr/>
        </p:nvSpPr>
        <p:spPr>
          <a:xfrm>
            <a:off x="4663440" y="2852928"/>
            <a:ext cx="1920240" cy="1755648"/>
          </a:xfrm>
          <a:prstGeom prst="roundRect">
            <a:avLst>
              <a:gd name="adj" fmla="val 4167"/>
            </a:avLst>
          </a:prstGeom>
          <a:solidFill>
            <a:srgbClr val="1C2F36"/>
          </a:solidFill>
          <a:ln w="9525">
            <a:solidFill>
              <a:srgbClr val="35505A"/>
            </a:solidFill>
            <a:prstDash val="solid"/>
          </a:ln>
        </p:spPr>
      </p:sp>
      <p:sp>
        <p:nvSpPr>
          <p:cNvPr id="40" name="a7_ic_100"/>
          <p:cNvSpPr/>
          <p:nvPr/>
        </p:nvSpPr>
        <p:spPr>
          <a:xfrm>
            <a:off x="4800600" y="2990088"/>
            <a:ext cx="457200" cy="457200"/>
          </a:xfrm>
          <a:prstGeom prst="ellipse">
            <a:avLst/>
          </a:prstGeom>
          <a:solidFill>
            <a:srgbClr val="12232A"/>
          </a:solidFill>
          <a:ln/>
        </p:spPr>
      </p:sp>
      <p:pic>
        <p:nvPicPr>
          <p:cNvPr id="41" name="a7_icimg_101" descr="preencoded.png">    </p:cNvPr>
          <p:cNvPicPr>
            <a:picLocks noChangeAspect="1"/>
          </p:cNvPicPr>
          <p:nvPr/>
        </p:nvPicPr>
        <p:blipFill>
          <a:blip r:embed="rId7"/>
          <a:stretch>
            <a:fillRect/>
          </a:stretch>
        </p:blipFill>
        <p:spPr>
          <a:xfrm>
            <a:off x="4910328" y="3099816"/>
            <a:ext cx="237744" cy="237744"/>
          </a:xfrm>
          <a:prstGeom prst="rect">
            <a:avLst/>
          </a:prstGeom>
        </p:spPr>
      </p:pic>
      <p:sp>
        <p:nvSpPr>
          <p:cNvPr id="42" name="a7_txt_102"/>
          <p:cNvSpPr txBox="1"/>
          <p:nvPr/>
        </p:nvSpPr>
        <p:spPr>
          <a:xfrm>
            <a:off x="6035040" y="2990088"/>
            <a:ext cx="411480" cy="274320"/>
          </a:xfrm>
          <a:prstGeom prst="rect">
            <a:avLst/>
          </a:prstGeom>
          <a:noFill/>
          <a:ln/>
        </p:spPr>
        <p:txBody>
          <a:bodyPr wrap="square" lIns="0" tIns="0" rIns="0" bIns="0" rtlCol="0" anchor="t"/>
          <a:lstStyle/>
          <a:p>
            <a:pPr algn="r" indent="0" marL="0">
              <a:buNone/>
            </a:pPr>
            <a:r>
              <a:rPr lang="en-US" sz="1400" b="1" dirty="0">
                <a:solidFill>
                  <a:srgbClr val="35505A"/>
                </a:solidFill>
                <a:latin typeface="Arial" pitchFamily="34" charset="0"/>
                <a:ea typeface="Arial" pitchFamily="34" charset="-122"/>
                <a:cs typeface="Arial" pitchFamily="34" charset="-120"/>
              </a:rPr>
              <a:t>07</a:t>
            </a:r>
            <a:endParaRPr lang="en-US" sz="1400" dirty="0"/>
          </a:p>
        </p:txBody>
      </p:sp>
      <p:sp>
        <p:nvSpPr>
          <p:cNvPr id="43" name="a7_txt_103"/>
          <p:cNvSpPr txBox="1"/>
          <p:nvPr/>
        </p:nvSpPr>
        <p:spPr>
          <a:xfrm>
            <a:off x="4800600" y="3538728"/>
            <a:ext cx="1645920" cy="274320"/>
          </a:xfrm>
          <a:prstGeom prst="rect">
            <a:avLst/>
          </a:prstGeom>
          <a:noFill/>
          <a:ln/>
        </p:spPr>
        <p:txBody>
          <a:bodyPr wrap="square" lIns="0" tIns="0" rIns="0" bIns="0" rtlCol="0" anchor="t"/>
          <a:lstStyle/>
          <a:p>
            <a:pPr indent="0" marL="0">
              <a:buNone/>
            </a:pPr>
            <a:r>
              <a:rPr lang="en-US" sz="1400" b="1" dirty="0">
                <a:solidFill>
                  <a:srgbClr val="6CC08B"/>
                </a:solidFill>
                <a:latin typeface="Calibri" pitchFamily="34" charset="0"/>
                <a:ea typeface="Calibri" pitchFamily="34" charset="-122"/>
                <a:cs typeface="Calibri" pitchFamily="34" charset="-120"/>
              </a:rPr>
              <a:t>Water optimisation</a:t>
            </a:r>
            <a:endParaRPr lang="en-US" sz="1400" dirty="0"/>
          </a:p>
        </p:txBody>
      </p:sp>
      <p:sp>
        <p:nvSpPr>
          <p:cNvPr id="44" name="a7_txt_104"/>
          <p:cNvSpPr txBox="1"/>
          <p:nvPr/>
        </p:nvSpPr>
        <p:spPr>
          <a:xfrm>
            <a:off x="4800600" y="3831336"/>
            <a:ext cx="1664208" cy="731520"/>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Compare AI-assisted and conventional irrigation for water savings</a:t>
            </a:r>
            <a:endParaRPr lang="en-US" sz="1200" dirty="0"/>
          </a:p>
        </p:txBody>
      </p:sp>
      <p:sp>
        <p:nvSpPr>
          <p:cNvPr id="45" name="a8_card_105"/>
          <p:cNvSpPr/>
          <p:nvPr/>
        </p:nvSpPr>
        <p:spPr>
          <a:xfrm>
            <a:off x="6766560" y="2852928"/>
            <a:ext cx="1920240" cy="1755648"/>
          </a:xfrm>
          <a:prstGeom prst="roundRect">
            <a:avLst>
              <a:gd name="adj" fmla="val 4167"/>
            </a:avLst>
          </a:prstGeom>
          <a:solidFill>
            <a:srgbClr val="1C2F36"/>
          </a:solidFill>
          <a:ln w="9525">
            <a:solidFill>
              <a:srgbClr val="35505A"/>
            </a:solidFill>
            <a:prstDash val="solid"/>
          </a:ln>
        </p:spPr>
      </p:sp>
      <p:sp>
        <p:nvSpPr>
          <p:cNvPr id="46" name="a8_ic_106"/>
          <p:cNvSpPr/>
          <p:nvPr/>
        </p:nvSpPr>
        <p:spPr>
          <a:xfrm>
            <a:off x="6903720" y="2990088"/>
            <a:ext cx="457200" cy="457200"/>
          </a:xfrm>
          <a:prstGeom prst="ellipse">
            <a:avLst/>
          </a:prstGeom>
          <a:solidFill>
            <a:srgbClr val="12232A"/>
          </a:solidFill>
          <a:ln/>
        </p:spPr>
      </p:sp>
      <p:pic>
        <p:nvPicPr>
          <p:cNvPr id="47" name="a8_icimg_107" descr="preencoded.png">    </p:cNvPr>
          <p:cNvPicPr>
            <a:picLocks noChangeAspect="1"/>
          </p:cNvPicPr>
          <p:nvPr/>
        </p:nvPicPr>
        <p:blipFill>
          <a:blip r:embed="rId8"/>
          <a:stretch>
            <a:fillRect/>
          </a:stretch>
        </p:blipFill>
        <p:spPr>
          <a:xfrm>
            <a:off x="7013448" y="3099816"/>
            <a:ext cx="237744" cy="237744"/>
          </a:xfrm>
          <a:prstGeom prst="rect">
            <a:avLst/>
          </a:prstGeom>
        </p:spPr>
      </p:pic>
      <p:sp>
        <p:nvSpPr>
          <p:cNvPr id="48" name="a8_txt_108"/>
          <p:cNvSpPr txBox="1"/>
          <p:nvPr/>
        </p:nvSpPr>
        <p:spPr>
          <a:xfrm>
            <a:off x="8138160" y="2990088"/>
            <a:ext cx="411480" cy="274320"/>
          </a:xfrm>
          <a:prstGeom prst="rect">
            <a:avLst/>
          </a:prstGeom>
          <a:noFill/>
          <a:ln/>
        </p:spPr>
        <p:txBody>
          <a:bodyPr wrap="square" lIns="0" tIns="0" rIns="0" bIns="0" rtlCol="0" anchor="t"/>
          <a:lstStyle/>
          <a:p>
            <a:pPr algn="r" indent="0" marL="0">
              <a:buNone/>
            </a:pPr>
            <a:r>
              <a:rPr lang="en-US" sz="1400" b="1" dirty="0">
                <a:solidFill>
                  <a:srgbClr val="35505A"/>
                </a:solidFill>
                <a:latin typeface="Arial" pitchFamily="34" charset="0"/>
                <a:ea typeface="Arial" pitchFamily="34" charset="-122"/>
                <a:cs typeface="Arial" pitchFamily="34" charset="-120"/>
              </a:rPr>
              <a:t>08</a:t>
            </a:r>
            <a:endParaRPr lang="en-US" sz="1400" dirty="0"/>
          </a:p>
        </p:txBody>
      </p:sp>
      <p:sp>
        <p:nvSpPr>
          <p:cNvPr id="49" name="a8_txt_109"/>
          <p:cNvSpPr txBox="1"/>
          <p:nvPr/>
        </p:nvSpPr>
        <p:spPr>
          <a:xfrm>
            <a:off x="6903720" y="3538728"/>
            <a:ext cx="1645920" cy="274320"/>
          </a:xfrm>
          <a:prstGeom prst="rect">
            <a:avLst/>
          </a:prstGeom>
          <a:noFill/>
          <a:ln/>
        </p:spPr>
        <p:txBody>
          <a:bodyPr wrap="square" lIns="0" tIns="0" rIns="0" bIns="0" rtlCol="0" anchor="t"/>
          <a:lstStyle/>
          <a:p>
            <a:pPr indent="0" marL="0">
              <a:buNone/>
            </a:pPr>
            <a:r>
              <a:rPr lang="en-US" sz="1400" b="1" dirty="0">
                <a:solidFill>
                  <a:srgbClr val="E5736B"/>
                </a:solidFill>
                <a:latin typeface="Calibri" pitchFamily="34" charset="0"/>
                <a:ea typeface="Calibri" pitchFamily="34" charset="-122"/>
                <a:cs typeface="Calibri" pitchFamily="34" charset="-120"/>
              </a:rPr>
              <a:t>System safety</a:t>
            </a:r>
            <a:endParaRPr lang="en-US" sz="1400" dirty="0"/>
          </a:p>
        </p:txBody>
      </p:sp>
      <p:sp>
        <p:nvSpPr>
          <p:cNvPr id="50" name="a8_txt_110"/>
          <p:cNvSpPr txBox="1"/>
          <p:nvPr/>
        </p:nvSpPr>
        <p:spPr>
          <a:xfrm>
            <a:off x="6903720" y="3831336"/>
            <a:ext cx="1664208" cy="731520"/>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Prevent dry-running, over-watering and unsafe pump operation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7</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3" fill="hold">
                            <p:stCondLst>
                              <p:cond delay="350"/>
                            </p:stCondLst>
                            <p:childTnLst>
                              <p:par>
                                <p:cTn id="24" presetID="10"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par>
                          <p:cTn id="42" fill="hold">
                            <p:stCondLst>
                              <p:cond delay="700"/>
                            </p:stCondLst>
                            <p:childTnLst>
                              <p:par>
                                <p:cTn id="43" presetID="10" presetClass="entr" presetSubtype="0" fill="hold"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childTnLst>
                          </p:cTn>
                        </p:par>
                        <p:par>
                          <p:cTn id="61" fill="hold">
                            <p:stCondLst>
                              <p:cond delay="1050"/>
                            </p:stCondLst>
                            <p:childTnLst>
                              <p:par>
                                <p:cTn id="62" presetID="10" presetClass="entr" presetSubtype="0" fill="hold" nodeType="after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par>
                          <p:cTn id="80" fill="hold">
                            <p:stCondLst>
                              <p:cond delay="1400"/>
                            </p:stCondLst>
                            <p:childTnLst>
                              <p:par>
                                <p:cTn id="81" presetID="10" presetClass="entr" presetSubtype="0" fill="hold"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par>
                                <p:cTn id="87" presetID="10" presetClass="entr" presetSubtype="0" fill="hold"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childTnLst>
                                </p:cTn>
                              </p:par>
                              <p:par>
                                <p:cTn id="90" presetID="10" presetClass="entr" presetSubtype="0" fill="hold"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par>
                                <p:cTn id="93" presetID="10" presetClass="entr" presetSubtype="0" fill="hold"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6" presetID="10" presetClass="entr" presetSubtype="0" fill="hold"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childTnLst>
                          </p:cTn>
                        </p:par>
                        <p:par>
                          <p:cTn id="99" fill="hold">
                            <p:stCondLst>
                              <p:cond delay="1750"/>
                            </p:stCondLst>
                            <p:childTnLst>
                              <p:par>
                                <p:cTn id="100" presetID="10" presetClass="entr" presetSubtype="0" fill="hold" nodeType="after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500"/>
                                        <p:tgtEl>
                                          <p:spTgt spid="33"/>
                                        </p:tgtEl>
                                      </p:cBhvr>
                                    </p:animEffect>
                                  </p:childTnLst>
                                </p:cTn>
                              </p:par>
                              <p:par>
                                <p:cTn id="103" presetID="10" presetClass="entr" presetSubtype="0" fill="hold"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500"/>
                                        <p:tgtEl>
                                          <p:spTgt spid="34"/>
                                        </p:tgtEl>
                                      </p:cBhvr>
                                    </p:animEffect>
                                  </p:childTnLst>
                                </p:cTn>
                              </p:par>
                              <p:par>
                                <p:cTn id="106" presetID="10" presetClass="entr" presetSubtype="0" fill="hold"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10" presetClass="entr" presetSubtype="0" fill="hold"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fade">
                                      <p:cBhvr>
                                        <p:cTn id="111" dur="500"/>
                                        <p:tgtEl>
                                          <p:spTgt spid="36"/>
                                        </p:tgtEl>
                                      </p:cBhvr>
                                    </p:animEffect>
                                  </p:childTnLst>
                                </p:cTn>
                              </p:par>
                              <p:par>
                                <p:cTn id="112" presetID="10" presetClass="entr" presetSubtype="0" fill="hold" nodeType="with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500"/>
                                        <p:tgtEl>
                                          <p:spTgt spid="37"/>
                                        </p:tgtEl>
                                      </p:cBhvr>
                                    </p:animEffect>
                                  </p:childTnLst>
                                </p:cTn>
                              </p:par>
                              <p:par>
                                <p:cTn id="115" presetID="10" presetClass="entr" presetSubtype="0" fill="hold" nodeType="with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7" dur="500"/>
                                        <p:tgtEl>
                                          <p:spTgt spid="38"/>
                                        </p:tgtEl>
                                      </p:cBhvr>
                                    </p:animEffect>
                                  </p:childTnLst>
                                </p:cTn>
                              </p:par>
                            </p:childTnLst>
                          </p:cTn>
                        </p:par>
                        <p:par>
                          <p:cTn id="118" fill="hold">
                            <p:stCondLst>
                              <p:cond delay="2100"/>
                            </p:stCondLst>
                            <p:childTnLst>
                              <p:par>
                                <p:cTn id="119" presetID="10" presetClass="entr" presetSubtype="0" fill="hold" nodeType="after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fade">
                                      <p:cBhvr>
                                        <p:cTn id="121" dur="500"/>
                                        <p:tgtEl>
                                          <p:spTgt spid="39"/>
                                        </p:tgtEl>
                                      </p:cBhvr>
                                    </p:animEffect>
                                  </p:childTnLst>
                                </p:cTn>
                              </p:par>
                              <p:par>
                                <p:cTn id="122" presetID="10" presetClass="entr" presetSubtype="0" fill="hold" nodeType="with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fade">
                                      <p:cBhvr>
                                        <p:cTn id="124" dur="500"/>
                                        <p:tgtEl>
                                          <p:spTgt spid="40"/>
                                        </p:tgtEl>
                                      </p:cBhvr>
                                    </p:animEffect>
                                  </p:childTnLst>
                                </p:cTn>
                              </p:par>
                              <p:par>
                                <p:cTn id="125" presetID="10" presetClass="entr" presetSubtype="0" fill="hold" nodeType="withEffect">
                                  <p:stCondLst>
                                    <p:cond delay="0"/>
                                  </p:stCondLst>
                                  <p:childTnLst>
                                    <p:set>
                                      <p:cBhvr>
                                        <p:cTn id="126" dur="1" fill="hold">
                                          <p:stCondLst>
                                            <p:cond delay="0"/>
                                          </p:stCondLst>
                                        </p:cTn>
                                        <p:tgtEl>
                                          <p:spTgt spid="41"/>
                                        </p:tgtEl>
                                        <p:attrNameLst>
                                          <p:attrName>style.visibility</p:attrName>
                                        </p:attrNameLst>
                                      </p:cBhvr>
                                      <p:to>
                                        <p:strVal val="visible"/>
                                      </p:to>
                                    </p:set>
                                    <p:animEffect transition="in" filter="fade">
                                      <p:cBhvr>
                                        <p:cTn id="127" dur="500"/>
                                        <p:tgtEl>
                                          <p:spTgt spid="41"/>
                                        </p:tgtEl>
                                      </p:cBhvr>
                                    </p:animEffect>
                                  </p:childTnLst>
                                </p:cTn>
                              </p:par>
                              <p:par>
                                <p:cTn id="128" presetID="10" presetClass="entr" presetSubtype="0" fill="hold" nodeType="with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1" presetID="10" presetClass="entr" presetSubtype="0" fill="hold" nodeType="with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500"/>
                                        <p:tgtEl>
                                          <p:spTgt spid="43"/>
                                        </p:tgtEl>
                                      </p:cBhvr>
                                    </p:animEffect>
                                  </p:childTnLst>
                                </p:cTn>
                              </p:par>
                              <p:par>
                                <p:cTn id="134" presetID="10" presetClass="entr" presetSubtype="0" fill="hold" nodeType="withEffect">
                                  <p:stCondLst>
                                    <p:cond delay="0"/>
                                  </p:stCondLst>
                                  <p:childTnLst>
                                    <p:set>
                                      <p:cBhvr>
                                        <p:cTn id="135" dur="1" fill="hold">
                                          <p:stCondLst>
                                            <p:cond delay="0"/>
                                          </p:stCondLst>
                                        </p:cTn>
                                        <p:tgtEl>
                                          <p:spTgt spid="44"/>
                                        </p:tgtEl>
                                        <p:attrNameLst>
                                          <p:attrName>style.visibility</p:attrName>
                                        </p:attrNameLst>
                                      </p:cBhvr>
                                      <p:to>
                                        <p:strVal val="visible"/>
                                      </p:to>
                                    </p:set>
                                    <p:animEffect transition="in" filter="fade">
                                      <p:cBhvr>
                                        <p:cTn id="136" dur="500"/>
                                        <p:tgtEl>
                                          <p:spTgt spid="44"/>
                                        </p:tgtEl>
                                      </p:cBhvr>
                                    </p:animEffect>
                                  </p:childTnLst>
                                </p:cTn>
                              </p:par>
                            </p:childTnLst>
                          </p:cTn>
                        </p:par>
                        <p:par>
                          <p:cTn id="137" fill="hold">
                            <p:stCondLst>
                              <p:cond delay="2450"/>
                            </p:stCondLst>
                            <p:childTnLst>
                              <p:par>
                                <p:cTn id="138" presetID="10" presetClass="entr" presetSubtype="0" fill="hold" nodeType="afterEffect">
                                  <p:stCondLst>
                                    <p:cond delay="0"/>
                                  </p:stCondLst>
                                  <p:childTnLst>
                                    <p:set>
                                      <p:cBhvr>
                                        <p:cTn id="139" dur="1" fill="hold">
                                          <p:stCondLst>
                                            <p:cond delay="0"/>
                                          </p:stCondLst>
                                        </p:cTn>
                                        <p:tgtEl>
                                          <p:spTgt spid="45"/>
                                        </p:tgtEl>
                                        <p:attrNameLst>
                                          <p:attrName>style.visibility</p:attrName>
                                        </p:attrNameLst>
                                      </p:cBhvr>
                                      <p:to>
                                        <p:strVal val="visible"/>
                                      </p:to>
                                    </p:set>
                                    <p:animEffect transition="in" filter="fade">
                                      <p:cBhvr>
                                        <p:cTn id="140" dur="500"/>
                                        <p:tgtEl>
                                          <p:spTgt spid="45"/>
                                        </p:tgtEl>
                                      </p:cBhvr>
                                    </p:animEffect>
                                  </p:childTnLst>
                                </p:cTn>
                              </p:par>
                              <p:par>
                                <p:cTn id="141" presetID="10" presetClass="entr" presetSubtype="0" fill="hold" nodeType="withEffect">
                                  <p:stCondLst>
                                    <p:cond delay="0"/>
                                  </p:stCondLst>
                                  <p:childTnLst>
                                    <p:set>
                                      <p:cBhvr>
                                        <p:cTn id="142" dur="1" fill="hold">
                                          <p:stCondLst>
                                            <p:cond delay="0"/>
                                          </p:stCondLst>
                                        </p:cTn>
                                        <p:tgtEl>
                                          <p:spTgt spid="46"/>
                                        </p:tgtEl>
                                        <p:attrNameLst>
                                          <p:attrName>style.visibility</p:attrName>
                                        </p:attrNameLst>
                                      </p:cBhvr>
                                      <p:to>
                                        <p:strVal val="visible"/>
                                      </p:to>
                                    </p:set>
                                    <p:animEffect transition="in" filter="fade">
                                      <p:cBhvr>
                                        <p:cTn id="143" dur="500"/>
                                        <p:tgtEl>
                                          <p:spTgt spid="46"/>
                                        </p:tgtEl>
                                      </p:cBhvr>
                                    </p:animEffect>
                                  </p:childTnLst>
                                </p:cTn>
                              </p:par>
                              <p:par>
                                <p:cTn id="144" presetID="10" presetClass="entr" presetSubtype="0" fill="hold" nodeType="withEffect">
                                  <p:stCondLst>
                                    <p:cond delay="0"/>
                                  </p:stCondLst>
                                  <p:childTnLst>
                                    <p:set>
                                      <p:cBhvr>
                                        <p:cTn id="145" dur="1" fill="hold">
                                          <p:stCondLst>
                                            <p:cond delay="0"/>
                                          </p:stCondLst>
                                        </p:cTn>
                                        <p:tgtEl>
                                          <p:spTgt spid="47"/>
                                        </p:tgtEl>
                                        <p:attrNameLst>
                                          <p:attrName>style.visibility</p:attrName>
                                        </p:attrNameLst>
                                      </p:cBhvr>
                                      <p:to>
                                        <p:strVal val="visible"/>
                                      </p:to>
                                    </p:set>
                                    <p:animEffect transition="in" filter="fade">
                                      <p:cBhvr>
                                        <p:cTn id="146" dur="500"/>
                                        <p:tgtEl>
                                          <p:spTgt spid="47"/>
                                        </p:tgtEl>
                                      </p:cBhvr>
                                    </p:animEffect>
                                  </p:childTnLst>
                                </p:cTn>
                              </p:par>
                              <p:par>
                                <p:cTn id="147" presetID="10" presetClass="entr" presetSubtype="0" fill="hold" nodeType="withEffect">
                                  <p:stCondLst>
                                    <p:cond delay="0"/>
                                  </p:stCondLst>
                                  <p:childTnLst>
                                    <p:set>
                                      <p:cBhvr>
                                        <p:cTn id="148" dur="1" fill="hold">
                                          <p:stCondLst>
                                            <p:cond delay="0"/>
                                          </p:stCondLst>
                                        </p:cTn>
                                        <p:tgtEl>
                                          <p:spTgt spid="48"/>
                                        </p:tgtEl>
                                        <p:attrNameLst>
                                          <p:attrName>style.visibility</p:attrName>
                                        </p:attrNameLst>
                                      </p:cBhvr>
                                      <p:to>
                                        <p:strVal val="visible"/>
                                      </p:to>
                                    </p:set>
                                    <p:animEffect transition="in" filter="fade">
                                      <p:cBhvr>
                                        <p:cTn id="149" dur="500"/>
                                        <p:tgtEl>
                                          <p:spTgt spid="48"/>
                                        </p:tgtEl>
                                      </p:cBhvr>
                                    </p:animEffect>
                                  </p:childTnLst>
                                </p:cTn>
                              </p:par>
                              <p:par>
                                <p:cTn id="150" presetID="10" presetClass="entr" presetSubtype="0" fill="hold" nodeType="withEffect">
                                  <p:stCondLst>
                                    <p:cond delay="0"/>
                                  </p:stCondLst>
                                  <p:childTnLst>
                                    <p:set>
                                      <p:cBhvr>
                                        <p:cTn id="151" dur="1" fill="hold">
                                          <p:stCondLst>
                                            <p:cond delay="0"/>
                                          </p:stCondLst>
                                        </p:cTn>
                                        <p:tgtEl>
                                          <p:spTgt spid="49"/>
                                        </p:tgtEl>
                                        <p:attrNameLst>
                                          <p:attrName>style.visibility</p:attrName>
                                        </p:attrNameLst>
                                      </p:cBhvr>
                                      <p:to>
                                        <p:strVal val="visible"/>
                                      </p:to>
                                    </p:set>
                                    <p:animEffect transition="in" filter="fade">
                                      <p:cBhvr>
                                        <p:cTn id="152" dur="500"/>
                                        <p:tgtEl>
                                          <p:spTgt spid="49"/>
                                        </p:tgtEl>
                                      </p:cBhvr>
                                    </p:animEffect>
                                  </p:childTnLst>
                                </p:cTn>
                              </p:par>
                              <p:par>
                                <p:cTn id="153" presetID="10" presetClass="entr" presetSubtype="0" fill="hold" nodeType="with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fade">
                                      <p:cBhvr>
                                        <p:cTn id="15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System design &amp; architecture</a:t>
            </a:r>
            <a:endParaRPr lang="en-US" sz="2600" dirty="0"/>
          </a:p>
        </p:txBody>
      </p:sp>
      <p:sp>
        <p:nvSpPr>
          <p:cNvPr id="3" name="a1_txt_111"/>
          <p:cNvSpPr txBox="1"/>
          <p:nvPr/>
        </p:nvSpPr>
        <p:spPr>
          <a:xfrm>
            <a:off x="457200" y="896112"/>
            <a:ext cx="2194560" cy="228600"/>
          </a:xfrm>
          <a:prstGeom prst="rect">
            <a:avLst/>
          </a:prstGeom>
          <a:noFill/>
          <a:ln/>
        </p:spPr>
        <p:txBody>
          <a:bodyPr wrap="square" lIns="0" tIns="0" rIns="0" bIns="0" rtlCol="0" anchor="t"/>
          <a:lstStyle/>
          <a:p>
            <a:pPr indent="0" marL="0">
              <a:buNone/>
            </a:pPr>
            <a:r>
              <a:rPr lang="en-US" sz="1000" b="1" spc="200" kern="0" dirty="0">
                <a:solidFill>
                  <a:srgbClr val="A3B8B3"/>
                </a:solidFill>
                <a:latin typeface="Calibri" pitchFamily="34" charset="0"/>
                <a:ea typeface="Calibri" pitchFamily="34" charset="-122"/>
                <a:cs typeface="Calibri" pitchFamily="34" charset="-120"/>
              </a:rPr>
              <a:t>SENSING</a:t>
            </a:r>
            <a:endParaRPr lang="en-US" sz="1000" dirty="0"/>
          </a:p>
        </p:txBody>
      </p:sp>
      <p:sp>
        <p:nvSpPr>
          <p:cNvPr id="4" name="a1_card_112"/>
          <p:cNvSpPr/>
          <p:nvPr/>
        </p:nvSpPr>
        <p:spPr>
          <a:xfrm>
            <a:off x="457200" y="1143000"/>
            <a:ext cx="2194560" cy="731520"/>
          </a:xfrm>
          <a:prstGeom prst="roundRect">
            <a:avLst>
              <a:gd name="adj" fmla="val 10000"/>
            </a:avLst>
          </a:prstGeom>
          <a:solidFill>
            <a:srgbClr val="1C2F36"/>
          </a:solidFill>
          <a:ln w="9525">
            <a:solidFill>
              <a:srgbClr val="35505A"/>
            </a:solidFill>
            <a:prstDash val="solid"/>
          </a:ln>
        </p:spPr>
      </p:sp>
      <p:sp>
        <p:nvSpPr>
          <p:cNvPr id="5" name="a1_ic_113"/>
          <p:cNvSpPr/>
          <p:nvPr/>
        </p:nvSpPr>
        <p:spPr>
          <a:xfrm>
            <a:off x="585216" y="1289304"/>
            <a:ext cx="438912" cy="438912"/>
          </a:xfrm>
          <a:prstGeom prst="ellipse">
            <a:avLst/>
          </a:prstGeom>
          <a:solidFill>
            <a:srgbClr val="12232A"/>
          </a:solidFill>
          <a:ln/>
        </p:spPr>
      </p:sp>
      <p:pic>
        <p:nvPicPr>
          <p:cNvPr id="6" name="a1_icimg_114" descr="preencoded.png">    </p:cNvPr>
          <p:cNvPicPr>
            <a:picLocks noChangeAspect="1"/>
          </p:cNvPicPr>
          <p:nvPr/>
        </p:nvPicPr>
        <p:blipFill>
          <a:blip r:embed="rId1"/>
          <a:stretch>
            <a:fillRect/>
          </a:stretch>
        </p:blipFill>
        <p:spPr>
          <a:xfrm>
            <a:off x="690555" y="1394643"/>
            <a:ext cx="228234" cy="228234"/>
          </a:xfrm>
          <a:prstGeom prst="rect">
            <a:avLst/>
          </a:prstGeom>
        </p:spPr>
      </p:pic>
      <p:sp>
        <p:nvSpPr>
          <p:cNvPr id="7" name="a1_txt_115"/>
          <p:cNvSpPr txBox="1"/>
          <p:nvPr/>
        </p:nvSpPr>
        <p:spPr>
          <a:xfrm>
            <a:off x="1115568" y="1234440"/>
            <a:ext cx="1463040" cy="274320"/>
          </a:xfrm>
          <a:prstGeom prst="rect">
            <a:avLst/>
          </a:prstGeom>
          <a:noFill/>
          <a:ln/>
        </p:spPr>
        <p:txBody>
          <a:bodyPr wrap="square" lIns="0" tIns="0" rIns="0" bIns="0" rtlCol="0" anchor="t"/>
          <a:lstStyle/>
          <a:p>
            <a:pPr indent="0" marL="0">
              <a:buNone/>
            </a:pPr>
            <a:r>
              <a:rPr lang="en-US" sz="1300" b="1" dirty="0">
                <a:solidFill>
                  <a:srgbClr val="7CCFC7"/>
                </a:solidFill>
                <a:latin typeface="Calibri" pitchFamily="34" charset="0"/>
                <a:ea typeface="Calibri" pitchFamily="34" charset="-122"/>
                <a:cs typeface="Calibri" pitchFamily="34" charset="-120"/>
              </a:rPr>
              <a:t>Soil moisture</a:t>
            </a:r>
            <a:endParaRPr lang="en-US" sz="1300" dirty="0"/>
          </a:p>
        </p:txBody>
      </p:sp>
      <p:sp>
        <p:nvSpPr>
          <p:cNvPr id="8" name="a1_txt_116"/>
          <p:cNvSpPr txBox="1"/>
          <p:nvPr/>
        </p:nvSpPr>
        <p:spPr>
          <a:xfrm>
            <a:off x="1115568" y="1508760"/>
            <a:ext cx="1463040" cy="292608"/>
          </a:xfrm>
          <a:prstGeom prst="rect">
            <a:avLst/>
          </a:prstGeom>
          <a:noFill/>
          <a:ln/>
        </p:spPr>
        <p:txBody>
          <a:bodyPr wrap="square" lIns="0" tIns="0" rIns="0" bIns="0" rtlCol="0" anchor="t"/>
          <a:lstStyle/>
          <a:p>
            <a:pPr indent="0" marL="0">
              <a:buNone/>
            </a:pPr>
            <a:r>
              <a:rPr lang="en-US" sz="1050" dirty="0">
                <a:solidFill>
                  <a:srgbClr val="A3B8B3"/>
                </a:solidFill>
                <a:latin typeface="Calibri" pitchFamily="34" charset="0"/>
                <a:ea typeface="Calibri" pitchFamily="34" charset="-122"/>
                <a:cs typeface="Calibri" pitchFamily="34" charset="-120"/>
              </a:rPr>
              <a:t>Capacitive probe, analog in</a:t>
            </a:r>
            <a:endParaRPr lang="en-US" sz="1050" dirty="0"/>
          </a:p>
        </p:txBody>
      </p:sp>
      <p:sp>
        <p:nvSpPr>
          <p:cNvPr id="9" name="a1_card_117"/>
          <p:cNvSpPr/>
          <p:nvPr/>
        </p:nvSpPr>
        <p:spPr>
          <a:xfrm>
            <a:off x="457200" y="1965960"/>
            <a:ext cx="2194560" cy="731520"/>
          </a:xfrm>
          <a:prstGeom prst="roundRect">
            <a:avLst>
              <a:gd name="adj" fmla="val 10000"/>
            </a:avLst>
          </a:prstGeom>
          <a:solidFill>
            <a:srgbClr val="1C2F36"/>
          </a:solidFill>
          <a:ln w="9525">
            <a:solidFill>
              <a:srgbClr val="35505A"/>
            </a:solidFill>
            <a:prstDash val="solid"/>
          </a:ln>
        </p:spPr>
      </p:sp>
      <p:sp>
        <p:nvSpPr>
          <p:cNvPr id="10" name="a1_ic_118"/>
          <p:cNvSpPr/>
          <p:nvPr/>
        </p:nvSpPr>
        <p:spPr>
          <a:xfrm>
            <a:off x="585216" y="2112264"/>
            <a:ext cx="438912" cy="438912"/>
          </a:xfrm>
          <a:prstGeom prst="ellipse">
            <a:avLst/>
          </a:prstGeom>
          <a:solidFill>
            <a:srgbClr val="12232A"/>
          </a:solidFill>
          <a:ln/>
        </p:spPr>
      </p:sp>
      <p:pic>
        <p:nvPicPr>
          <p:cNvPr id="11" name="a1_icimg_119" descr="preencoded.png">    </p:cNvPr>
          <p:cNvPicPr>
            <a:picLocks noChangeAspect="1"/>
          </p:cNvPicPr>
          <p:nvPr/>
        </p:nvPicPr>
        <p:blipFill>
          <a:blip r:embed="rId2"/>
          <a:stretch>
            <a:fillRect/>
          </a:stretch>
        </p:blipFill>
        <p:spPr>
          <a:xfrm>
            <a:off x="690555" y="2217603"/>
            <a:ext cx="228234" cy="228234"/>
          </a:xfrm>
          <a:prstGeom prst="rect">
            <a:avLst/>
          </a:prstGeom>
        </p:spPr>
      </p:pic>
      <p:sp>
        <p:nvSpPr>
          <p:cNvPr id="12" name="a1_txt_120"/>
          <p:cNvSpPr txBox="1"/>
          <p:nvPr/>
        </p:nvSpPr>
        <p:spPr>
          <a:xfrm>
            <a:off x="1115568" y="2057400"/>
            <a:ext cx="1463040" cy="274320"/>
          </a:xfrm>
          <a:prstGeom prst="rect">
            <a:avLst/>
          </a:prstGeom>
          <a:noFill/>
          <a:ln/>
        </p:spPr>
        <p:txBody>
          <a:bodyPr wrap="square" lIns="0" tIns="0" rIns="0" bIns="0" rtlCol="0" anchor="t"/>
          <a:lstStyle/>
          <a:p>
            <a:pPr indent="0" marL="0">
              <a:buNone/>
            </a:pPr>
            <a:r>
              <a:rPr lang="en-US" sz="1300" b="1" dirty="0">
                <a:solidFill>
                  <a:srgbClr val="EDA265"/>
                </a:solidFill>
                <a:latin typeface="Calibri" pitchFamily="34" charset="0"/>
                <a:ea typeface="Calibri" pitchFamily="34" charset="-122"/>
                <a:cs typeface="Calibri" pitchFamily="34" charset="-120"/>
              </a:rPr>
              <a:t>DHT22</a:t>
            </a:r>
            <a:endParaRPr lang="en-US" sz="1300" dirty="0"/>
          </a:p>
        </p:txBody>
      </p:sp>
      <p:sp>
        <p:nvSpPr>
          <p:cNvPr id="13" name="a1_txt_121"/>
          <p:cNvSpPr txBox="1"/>
          <p:nvPr/>
        </p:nvSpPr>
        <p:spPr>
          <a:xfrm>
            <a:off x="1115568" y="2331720"/>
            <a:ext cx="1463040" cy="292608"/>
          </a:xfrm>
          <a:prstGeom prst="rect">
            <a:avLst/>
          </a:prstGeom>
          <a:noFill/>
          <a:ln/>
        </p:spPr>
        <p:txBody>
          <a:bodyPr wrap="square" lIns="0" tIns="0" rIns="0" bIns="0" rtlCol="0" anchor="t"/>
          <a:lstStyle/>
          <a:p>
            <a:pPr indent="0" marL="0">
              <a:buNone/>
            </a:pPr>
            <a:r>
              <a:rPr lang="en-US" sz="1050" dirty="0">
                <a:solidFill>
                  <a:srgbClr val="A3B8B3"/>
                </a:solidFill>
                <a:latin typeface="Calibri" pitchFamily="34" charset="0"/>
                <a:ea typeface="Calibri" pitchFamily="34" charset="-122"/>
                <a:cs typeface="Calibri" pitchFamily="34" charset="-120"/>
              </a:rPr>
              <a:t>Temperature + humidity</a:t>
            </a:r>
            <a:endParaRPr lang="en-US" sz="1050" dirty="0"/>
          </a:p>
        </p:txBody>
      </p:sp>
      <p:sp>
        <p:nvSpPr>
          <p:cNvPr id="14" name="a1_card_122"/>
          <p:cNvSpPr/>
          <p:nvPr/>
        </p:nvSpPr>
        <p:spPr>
          <a:xfrm>
            <a:off x="457200" y="2788920"/>
            <a:ext cx="2194560" cy="731520"/>
          </a:xfrm>
          <a:prstGeom prst="roundRect">
            <a:avLst>
              <a:gd name="adj" fmla="val 10000"/>
            </a:avLst>
          </a:prstGeom>
          <a:solidFill>
            <a:srgbClr val="1C2F36"/>
          </a:solidFill>
          <a:ln w="9525">
            <a:solidFill>
              <a:srgbClr val="35505A"/>
            </a:solidFill>
            <a:prstDash val="solid"/>
          </a:ln>
        </p:spPr>
      </p:sp>
      <p:sp>
        <p:nvSpPr>
          <p:cNvPr id="15" name="a1_ic_123"/>
          <p:cNvSpPr/>
          <p:nvPr/>
        </p:nvSpPr>
        <p:spPr>
          <a:xfrm>
            <a:off x="585216" y="2935224"/>
            <a:ext cx="438912" cy="438912"/>
          </a:xfrm>
          <a:prstGeom prst="ellipse">
            <a:avLst/>
          </a:prstGeom>
          <a:solidFill>
            <a:srgbClr val="12232A"/>
          </a:solidFill>
          <a:ln/>
        </p:spPr>
      </p:sp>
      <p:pic>
        <p:nvPicPr>
          <p:cNvPr id="16" name="a1_icimg_124" descr="preencoded.png">    </p:cNvPr>
          <p:cNvPicPr>
            <a:picLocks noChangeAspect="1"/>
          </p:cNvPicPr>
          <p:nvPr/>
        </p:nvPicPr>
        <p:blipFill>
          <a:blip r:embed="rId3"/>
          <a:stretch>
            <a:fillRect/>
          </a:stretch>
        </p:blipFill>
        <p:spPr>
          <a:xfrm>
            <a:off x="690555" y="3040563"/>
            <a:ext cx="228234" cy="228234"/>
          </a:xfrm>
          <a:prstGeom prst="rect">
            <a:avLst/>
          </a:prstGeom>
        </p:spPr>
      </p:pic>
      <p:sp>
        <p:nvSpPr>
          <p:cNvPr id="17" name="a1_txt_125"/>
          <p:cNvSpPr txBox="1"/>
          <p:nvPr/>
        </p:nvSpPr>
        <p:spPr>
          <a:xfrm>
            <a:off x="1115568" y="2880360"/>
            <a:ext cx="1463040" cy="274320"/>
          </a:xfrm>
          <a:prstGeom prst="rect">
            <a:avLst/>
          </a:prstGeom>
          <a:noFill/>
          <a:ln/>
        </p:spPr>
        <p:txBody>
          <a:bodyPr wrap="square" lIns="0" tIns="0" rIns="0" bIns="0" rtlCol="0" anchor="t"/>
          <a:lstStyle/>
          <a:p>
            <a:pPr indent="0" marL="0">
              <a:buNone/>
            </a:pPr>
            <a:r>
              <a:rPr lang="en-US" sz="1300" b="1" dirty="0">
                <a:solidFill>
                  <a:srgbClr val="9BE7C4"/>
                </a:solidFill>
                <a:latin typeface="Calibri" pitchFamily="34" charset="0"/>
                <a:ea typeface="Calibri" pitchFamily="34" charset="-122"/>
                <a:cs typeface="Calibri" pitchFamily="34" charset="-120"/>
              </a:rPr>
              <a:t>Reservoir level</a:t>
            </a:r>
            <a:endParaRPr lang="en-US" sz="1300" dirty="0"/>
          </a:p>
        </p:txBody>
      </p:sp>
      <p:sp>
        <p:nvSpPr>
          <p:cNvPr id="18" name="a1_txt_126"/>
          <p:cNvSpPr txBox="1"/>
          <p:nvPr/>
        </p:nvSpPr>
        <p:spPr>
          <a:xfrm>
            <a:off x="1115568" y="3154680"/>
            <a:ext cx="1463040" cy="292608"/>
          </a:xfrm>
          <a:prstGeom prst="rect">
            <a:avLst/>
          </a:prstGeom>
          <a:noFill/>
          <a:ln/>
        </p:spPr>
        <p:txBody>
          <a:bodyPr wrap="square" lIns="0" tIns="0" rIns="0" bIns="0" rtlCol="0" anchor="t"/>
          <a:lstStyle/>
          <a:p>
            <a:pPr indent="0" marL="0">
              <a:buNone/>
            </a:pPr>
            <a:r>
              <a:rPr lang="en-US" sz="1050" dirty="0">
                <a:solidFill>
                  <a:srgbClr val="A3B8B3"/>
                </a:solidFill>
                <a:latin typeface="Calibri" pitchFamily="34" charset="0"/>
                <a:ea typeface="Calibri" pitchFamily="34" charset="-122"/>
                <a:cs typeface="Calibri" pitchFamily="34" charset="-120"/>
              </a:rPr>
              <a:t>Optional; locks pump when empty</a:t>
            </a:r>
            <a:endParaRPr lang="en-US" sz="1050" dirty="0"/>
          </a:p>
        </p:txBody>
      </p:sp>
      <p:sp>
        <p:nvSpPr>
          <p:cNvPr id="19" name="a3_txt_127"/>
          <p:cNvSpPr txBox="1"/>
          <p:nvPr/>
        </p:nvSpPr>
        <p:spPr>
          <a:xfrm>
            <a:off x="3246120" y="896112"/>
            <a:ext cx="2286000" cy="228600"/>
          </a:xfrm>
          <a:prstGeom prst="rect">
            <a:avLst/>
          </a:prstGeom>
          <a:noFill/>
          <a:ln/>
        </p:spPr>
        <p:txBody>
          <a:bodyPr wrap="square" lIns="0" tIns="0" rIns="0" bIns="0" rtlCol="0" anchor="t"/>
          <a:lstStyle/>
          <a:p>
            <a:pPr indent="0" marL="0">
              <a:buNone/>
            </a:pPr>
            <a:r>
              <a:rPr lang="en-US" sz="1000" b="1" spc="200" kern="0" dirty="0">
                <a:solidFill>
                  <a:srgbClr val="A3B8B3"/>
                </a:solidFill>
                <a:latin typeface="Calibri" pitchFamily="34" charset="0"/>
                <a:ea typeface="Calibri" pitchFamily="34" charset="-122"/>
                <a:cs typeface="Calibri" pitchFamily="34" charset="-120"/>
              </a:rPr>
              <a:t>CONTROL (EDGE)</a:t>
            </a:r>
            <a:endParaRPr lang="en-US" sz="1000" dirty="0"/>
          </a:p>
        </p:txBody>
      </p:sp>
      <p:sp>
        <p:nvSpPr>
          <p:cNvPr id="20" name="a3_card_128"/>
          <p:cNvSpPr/>
          <p:nvPr/>
        </p:nvSpPr>
        <p:spPr>
          <a:xfrm>
            <a:off x="3246120" y="1143000"/>
            <a:ext cx="2286000" cy="2377440"/>
          </a:xfrm>
          <a:prstGeom prst="roundRect">
            <a:avLst>
              <a:gd name="adj" fmla="val 3200"/>
            </a:avLst>
          </a:prstGeom>
          <a:solidFill>
            <a:srgbClr val="233A42"/>
          </a:solidFill>
          <a:ln w="9525">
            <a:solidFill>
              <a:srgbClr val="35505A"/>
            </a:solidFill>
            <a:prstDash val="solid"/>
          </a:ln>
        </p:spPr>
      </p:sp>
      <p:sp>
        <p:nvSpPr>
          <p:cNvPr id="21" name="a3_ic_129"/>
          <p:cNvSpPr/>
          <p:nvPr/>
        </p:nvSpPr>
        <p:spPr>
          <a:xfrm>
            <a:off x="4069080" y="1280160"/>
            <a:ext cx="640080" cy="640080"/>
          </a:xfrm>
          <a:prstGeom prst="ellipse">
            <a:avLst/>
          </a:prstGeom>
          <a:solidFill>
            <a:srgbClr val="12232A"/>
          </a:solidFill>
          <a:ln/>
        </p:spPr>
      </p:sp>
      <p:pic>
        <p:nvPicPr>
          <p:cNvPr id="22" name="a3_icimg_130" descr="preencoded.png">    </p:cNvPr>
          <p:cNvPicPr>
            <a:picLocks noChangeAspect="1"/>
          </p:cNvPicPr>
          <p:nvPr/>
        </p:nvPicPr>
        <p:blipFill>
          <a:blip r:embed="rId4"/>
          <a:stretch>
            <a:fillRect/>
          </a:stretch>
        </p:blipFill>
        <p:spPr>
          <a:xfrm>
            <a:off x="4222699" y="1433779"/>
            <a:ext cx="332842" cy="332842"/>
          </a:xfrm>
          <a:prstGeom prst="rect">
            <a:avLst/>
          </a:prstGeom>
        </p:spPr>
      </p:pic>
      <p:sp>
        <p:nvSpPr>
          <p:cNvPr id="23" name="a3_txt_131"/>
          <p:cNvSpPr txBox="1"/>
          <p:nvPr/>
        </p:nvSpPr>
        <p:spPr>
          <a:xfrm>
            <a:off x="3246120" y="1965960"/>
            <a:ext cx="2286000" cy="320040"/>
          </a:xfrm>
          <a:prstGeom prst="rect">
            <a:avLst/>
          </a:prstGeom>
          <a:noFill/>
          <a:ln/>
        </p:spPr>
        <p:txBody>
          <a:bodyPr wrap="square" lIns="0" tIns="0" rIns="0" bIns="0" rtlCol="0" anchor="t"/>
          <a:lstStyle/>
          <a:p>
            <a:pPr algn="ctr" indent="0" marL="0">
              <a:buNone/>
            </a:pPr>
            <a:r>
              <a:rPr lang="en-US" sz="1700" b="1" dirty="0">
                <a:solidFill>
                  <a:srgbClr val="6CC08B"/>
                </a:solidFill>
                <a:latin typeface="Calibri" pitchFamily="34" charset="0"/>
                <a:ea typeface="Calibri" pitchFamily="34" charset="-122"/>
                <a:cs typeface="Calibri" pitchFamily="34" charset="-120"/>
              </a:rPr>
              <a:t>ESP32</a:t>
            </a:r>
            <a:endParaRPr lang="en-US" sz="1700" dirty="0"/>
          </a:p>
        </p:txBody>
      </p:sp>
      <p:sp>
        <p:nvSpPr>
          <p:cNvPr id="24" name="a3_txt_132"/>
          <p:cNvSpPr txBox="1"/>
          <p:nvPr/>
        </p:nvSpPr>
        <p:spPr>
          <a:xfrm>
            <a:off x="3401568" y="2331720"/>
            <a:ext cx="2057400" cy="1097280"/>
          </a:xfrm>
          <a:prstGeom prst="rect">
            <a:avLst/>
          </a:prstGeom>
          <a:noFill/>
          <a:ln/>
        </p:spPr>
        <p:txBody>
          <a:bodyPr wrap="square" lIns="0" tIns="0" rIns="0" bIns="0" rtlCol="0" anchor="t"/>
          <a:lstStyle/>
          <a:p>
            <a:pPr marL="342900" indent="-342900">
              <a:buSzPct val="100000"/>
              <a:buChar char="•"/>
            </a:pPr>
            <a:r>
              <a:rPr lang="en-US" sz="1100" dirty="0">
                <a:solidFill>
                  <a:srgbClr val="E8F1EE"/>
                </a:solidFill>
                <a:latin typeface="Calibri" pitchFamily="34" charset="0"/>
                <a:ea typeface="Calibri" pitchFamily="34" charset="-122"/>
                <a:cs typeface="Calibri" pitchFamily="34" charset="-120"/>
              </a:rPr>
              <a:t>Control loop + safety locks</a:t>
            </a:r>
            <a:endParaRPr lang="en-US" sz="1100" dirty="0"/>
          </a:p>
          <a:p>
            <a:pPr marL="342900" indent="-342900">
              <a:buSzPct val="100000"/>
              <a:buChar char="•"/>
            </a:pPr>
            <a:r>
              <a:rPr lang="en-US" sz="1100" dirty="0">
                <a:solidFill>
                  <a:srgbClr val="E8F1EE"/>
                </a:solidFill>
                <a:latin typeface="Calibri" pitchFamily="34" charset="0"/>
                <a:ea typeface="Calibri" pitchFamily="34" charset="-122"/>
                <a:cs typeface="Calibri" pitchFamily="34" charset="-120"/>
              </a:rPr>
              <a:t>Settings kept in flash</a:t>
            </a:r>
            <a:endParaRPr lang="en-US" sz="1100" dirty="0"/>
          </a:p>
          <a:p>
            <a:pPr marL="342900" indent="-342900">
              <a:buSzPct val="100000"/>
              <a:buChar char="•"/>
            </a:pPr>
            <a:r>
              <a:rPr lang="en-US" sz="1100" dirty="0">
                <a:solidFill>
                  <a:srgbClr val="E8F1EE"/>
                </a:solidFill>
                <a:latin typeface="Calibri" pitchFamily="34" charset="0"/>
                <a:ea typeface="Calibri" pitchFamily="34" charset="-122"/>
                <a:cs typeface="Calibri" pitchFamily="34" charset="-120"/>
              </a:rPr>
              <a:t>Runs alone if Wi-Fi drops</a:t>
            </a:r>
            <a:endParaRPr lang="en-US" sz="1100" dirty="0"/>
          </a:p>
        </p:txBody>
      </p:sp>
      <p:sp>
        <p:nvSpPr>
          <p:cNvPr id="25" name="w2_arr_133"/>
          <p:cNvSpPr/>
          <p:nvPr/>
        </p:nvSpPr>
        <p:spPr>
          <a:xfrm>
            <a:off x="2697480" y="1508760"/>
            <a:ext cx="502920" cy="502920"/>
          </a:xfrm>
          <a:prstGeom prst="line">
            <a:avLst/>
          </a:prstGeom>
          <a:noFill/>
          <a:ln w="22225">
            <a:solidFill>
              <a:srgbClr val="7CCFC7"/>
            </a:solidFill>
            <a:prstDash val="solid"/>
            <a:tailEnd type="triangle"/>
          </a:ln>
        </p:spPr>
      </p:sp>
      <p:sp>
        <p:nvSpPr>
          <p:cNvPr id="26" name="w2_arr_134"/>
          <p:cNvSpPr/>
          <p:nvPr/>
        </p:nvSpPr>
        <p:spPr>
          <a:xfrm>
            <a:off x="2697480" y="2331720"/>
            <a:ext cx="502920" cy="914"/>
          </a:xfrm>
          <a:prstGeom prst="line">
            <a:avLst/>
          </a:prstGeom>
          <a:noFill/>
          <a:ln w="22225">
            <a:solidFill>
              <a:srgbClr val="EDA265"/>
            </a:solidFill>
            <a:prstDash val="solid"/>
            <a:tailEnd type="triangle"/>
          </a:ln>
        </p:spPr>
      </p:sp>
      <p:sp>
        <p:nvSpPr>
          <p:cNvPr id="27" name="w2_arr_135"/>
          <p:cNvSpPr/>
          <p:nvPr/>
        </p:nvSpPr>
        <p:spPr>
          <a:xfrm flipV="1">
            <a:off x="2697480" y="2651760"/>
            <a:ext cx="502920" cy="502920"/>
          </a:xfrm>
          <a:prstGeom prst="line">
            <a:avLst/>
          </a:prstGeom>
          <a:noFill/>
          <a:ln w="22225">
            <a:solidFill>
              <a:srgbClr val="9BE7C4"/>
            </a:solidFill>
            <a:prstDash val="solid"/>
            <a:tailEnd type="triangle"/>
          </a:ln>
        </p:spPr>
      </p:sp>
      <p:sp>
        <p:nvSpPr>
          <p:cNvPr id="28" name="a5_txt_136"/>
          <p:cNvSpPr txBox="1"/>
          <p:nvPr/>
        </p:nvSpPr>
        <p:spPr>
          <a:xfrm>
            <a:off x="457200" y="3657600"/>
            <a:ext cx="2194560" cy="228600"/>
          </a:xfrm>
          <a:prstGeom prst="rect">
            <a:avLst/>
          </a:prstGeom>
          <a:noFill/>
          <a:ln/>
        </p:spPr>
        <p:txBody>
          <a:bodyPr wrap="square" lIns="0" tIns="0" rIns="0" bIns="0" rtlCol="0" anchor="t"/>
          <a:lstStyle/>
          <a:p>
            <a:pPr indent="0" marL="0">
              <a:buNone/>
            </a:pPr>
            <a:r>
              <a:rPr lang="en-US" sz="1000" b="1" spc="200" kern="0" dirty="0">
                <a:solidFill>
                  <a:srgbClr val="A3B8B3"/>
                </a:solidFill>
                <a:latin typeface="Calibri" pitchFamily="34" charset="0"/>
                <a:ea typeface="Calibri" pitchFamily="34" charset="-122"/>
                <a:cs typeface="Calibri" pitchFamily="34" charset="-120"/>
              </a:rPr>
              <a:t>ACTUATION</a:t>
            </a:r>
            <a:endParaRPr lang="en-US" sz="1000" dirty="0"/>
          </a:p>
        </p:txBody>
      </p:sp>
      <p:sp>
        <p:nvSpPr>
          <p:cNvPr id="29" name="a5_card_137"/>
          <p:cNvSpPr/>
          <p:nvPr/>
        </p:nvSpPr>
        <p:spPr>
          <a:xfrm>
            <a:off x="457200" y="3886200"/>
            <a:ext cx="2194560" cy="713232"/>
          </a:xfrm>
          <a:prstGeom prst="roundRect">
            <a:avLst>
              <a:gd name="adj" fmla="val 10256"/>
            </a:avLst>
          </a:prstGeom>
          <a:solidFill>
            <a:srgbClr val="1C2F36"/>
          </a:solidFill>
          <a:ln w="9525">
            <a:solidFill>
              <a:srgbClr val="35505A"/>
            </a:solidFill>
            <a:prstDash val="solid"/>
          </a:ln>
        </p:spPr>
      </p:sp>
      <p:sp>
        <p:nvSpPr>
          <p:cNvPr id="30" name="a5_ic_138"/>
          <p:cNvSpPr/>
          <p:nvPr/>
        </p:nvSpPr>
        <p:spPr>
          <a:xfrm>
            <a:off x="585216" y="4023360"/>
            <a:ext cx="438912" cy="438912"/>
          </a:xfrm>
          <a:prstGeom prst="ellipse">
            <a:avLst/>
          </a:prstGeom>
          <a:solidFill>
            <a:srgbClr val="12232A"/>
          </a:solidFill>
          <a:ln/>
        </p:spPr>
      </p:sp>
      <p:pic>
        <p:nvPicPr>
          <p:cNvPr id="31" name="a5_icimg_139" descr="preencoded.png">    </p:cNvPr>
          <p:cNvPicPr>
            <a:picLocks noChangeAspect="1"/>
          </p:cNvPicPr>
          <p:nvPr/>
        </p:nvPicPr>
        <p:blipFill>
          <a:blip r:embed="rId5"/>
          <a:stretch>
            <a:fillRect/>
          </a:stretch>
        </p:blipFill>
        <p:spPr>
          <a:xfrm>
            <a:off x="690555" y="4128699"/>
            <a:ext cx="228234" cy="228234"/>
          </a:xfrm>
          <a:prstGeom prst="rect">
            <a:avLst/>
          </a:prstGeom>
        </p:spPr>
      </p:pic>
      <p:sp>
        <p:nvSpPr>
          <p:cNvPr id="32" name="a5_txt_140"/>
          <p:cNvSpPr txBox="1"/>
          <p:nvPr/>
        </p:nvSpPr>
        <p:spPr>
          <a:xfrm>
            <a:off x="1115568" y="3977640"/>
            <a:ext cx="1463040" cy="274320"/>
          </a:xfrm>
          <a:prstGeom prst="rect">
            <a:avLst/>
          </a:prstGeom>
          <a:noFill/>
          <a:ln/>
        </p:spPr>
        <p:txBody>
          <a:bodyPr wrap="square" lIns="0" tIns="0" rIns="0" bIns="0" rtlCol="0" anchor="t"/>
          <a:lstStyle/>
          <a:p>
            <a:pPr indent="0" marL="0">
              <a:buNone/>
            </a:pPr>
            <a:r>
              <a:rPr lang="en-US" sz="1300" b="1" dirty="0">
                <a:solidFill>
                  <a:srgbClr val="EDA265"/>
                </a:solidFill>
                <a:latin typeface="Calibri" pitchFamily="34" charset="0"/>
                <a:ea typeface="Calibri" pitchFamily="34" charset="-122"/>
                <a:cs typeface="Calibri" pitchFamily="34" charset="-120"/>
              </a:rPr>
              <a:t>Relay → DC pump</a:t>
            </a:r>
            <a:endParaRPr lang="en-US" sz="1300" dirty="0"/>
          </a:p>
        </p:txBody>
      </p:sp>
      <p:sp>
        <p:nvSpPr>
          <p:cNvPr id="33" name="a5_txt_141"/>
          <p:cNvSpPr txBox="1"/>
          <p:nvPr/>
        </p:nvSpPr>
        <p:spPr>
          <a:xfrm>
            <a:off x="1115568" y="4251960"/>
            <a:ext cx="1463040" cy="274320"/>
          </a:xfrm>
          <a:prstGeom prst="rect">
            <a:avLst/>
          </a:prstGeom>
          <a:noFill/>
          <a:ln/>
        </p:spPr>
        <p:txBody>
          <a:bodyPr wrap="square" lIns="0" tIns="0" rIns="0" bIns="0" rtlCol="0" anchor="t"/>
          <a:lstStyle/>
          <a:p>
            <a:pPr indent="0" marL="0">
              <a:buNone/>
            </a:pPr>
            <a:r>
              <a:rPr lang="en-US" sz="1050" dirty="0">
                <a:solidFill>
                  <a:srgbClr val="A3B8B3"/>
                </a:solidFill>
                <a:latin typeface="Calibri" pitchFamily="34" charset="0"/>
                <a:ea typeface="Calibri" pitchFamily="34" charset="-122"/>
                <a:cs typeface="Calibri" pitchFamily="34" charset="-120"/>
              </a:rPr>
              <a:t>~1.5 L/min mini pump</a:t>
            </a:r>
            <a:endParaRPr lang="en-US" sz="1050" dirty="0"/>
          </a:p>
        </p:txBody>
      </p:sp>
      <p:sp>
        <p:nvSpPr>
          <p:cNvPr id="34" name="w4_arr_142"/>
          <p:cNvSpPr/>
          <p:nvPr/>
        </p:nvSpPr>
        <p:spPr>
          <a:xfrm flipH="1">
            <a:off x="2697480" y="3429000"/>
            <a:ext cx="594360" cy="685800"/>
          </a:xfrm>
          <a:prstGeom prst="line">
            <a:avLst/>
          </a:prstGeom>
          <a:noFill/>
          <a:ln w="22225">
            <a:solidFill>
              <a:srgbClr val="EDA265"/>
            </a:solidFill>
            <a:prstDash val="solid"/>
            <a:tailEnd type="triangle"/>
          </a:ln>
        </p:spPr>
      </p:sp>
      <p:sp>
        <p:nvSpPr>
          <p:cNvPr id="35" name="a6_txt_143"/>
          <p:cNvSpPr txBox="1"/>
          <p:nvPr/>
        </p:nvSpPr>
        <p:spPr>
          <a:xfrm>
            <a:off x="6126480" y="896112"/>
            <a:ext cx="2560320" cy="228600"/>
          </a:xfrm>
          <a:prstGeom prst="rect">
            <a:avLst/>
          </a:prstGeom>
          <a:noFill/>
          <a:ln/>
        </p:spPr>
        <p:txBody>
          <a:bodyPr wrap="square" lIns="0" tIns="0" rIns="0" bIns="0" rtlCol="0" anchor="t"/>
          <a:lstStyle/>
          <a:p>
            <a:pPr indent="0" marL="0">
              <a:buNone/>
            </a:pPr>
            <a:r>
              <a:rPr lang="en-US" sz="1000" b="1" spc="200" kern="0" dirty="0">
                <a:solidFill>
                  <a:srgbClr val="A3B8B3"/>
                </a:solidFill>
                <a:latin typeface="Calibri" pitchFamily="34" charset="0"/>
                <a:ea typeface="Calibri" pitchFamily="34" charset="-122"/>
                <a:cs typeface="Calibri" pitchFamily="34" charset="-120"/>
              </a:rPr>
              <a:t>SERVER &amp; USER</a:t>
            </a:r>
            <a:endParaRPr lang="en-US" sz="1000" dirty="0"/>
          </a:p>
        </p:txBody>
      </p:sp>
      <p:sp>
        <p:nvSpPr>
          <p:cNvPr id="36" name="a6_card_144"/>
          <p:cNvSpPr/>
          <p:nvPr/>
        </p:nvSpPr>
        <p:spPr>
          <a:xfrm>
            <a:off x="6126480" y="1143000"/>
            <a:ext cx="2560320" cy="1051560"/>
          </a:xfrm>
          <a:prstGeom prst="roundRect">
            <a:avLst>
              <a:gd name="adj" fmla="val 6957"/>
            </a:avLst>
          </a:prstGeom>
          <a:solidFill>
            <a:srgbClr val="1C2F36"/>
          </a:solidFill>
          <a:ln w="9525">
            <a:solidFill>
              <a:srgbClr val="35505A"/>
            </a:solidFill>
            <a:prstDash val="solid"/>
          </a:ln>
        </p:spPr>
      </p:sp>
      <p:sp>
        <p:nvSpPr>
          <p:cNvPr id="37" name="a6_ic_145"/>
          <p:cNvSpPr/>
          <p:nvPr/>
        </p:nvSpPr>
        <p:spPr>
          <a:xfrm>
            <a:off x="6254496" y="1449324"/>
            <a:ext cx="438912" cy="438912"/>
          </a:xfrm>
          <a:prstGeom prst="ellipse">
            <a:avLst/>
          </a:prstGeom>
          <a:solidFill>
            <a:srgbClr val="12232A"/>
          </a:solidFill>
          <a:ln/>
        </p:spPr>
      </p:sp>
      <p:pic>
        <p:nvPicPr>
          <p:cNvPr id="38" name="a6_icimg_146" descr="preencoded.png">    </p:cNvPr>
          <p:cNvPicPr>
            <a:picLocks noChangeAspect="1"/>
          </p:cNvPicPr>
          <p:nvPr/>
        </p:nvPicPr>
        <p:blipFill>
          <a:blip r:embed="rId6"/>
          <a:stretch>
            <a:fillRect/>
          </a:stretch>
        </p:blipFill>
        <p:spPr>
          <a:xfrm>
            <a:off x="6359835" y="1554663"/>
            <a:ext cx="228234" cy="228234"/>
          </a:xfrm>
          <a:prstGeom prst="rect">
            <a:avLst/>
          </a:prstGeom>
        </p:spPr>
      </p:pic>
      <p:sp>
        <p:nvSpPr>
          <p:cNvPr id="39" name="a6_txt_147"/>
          <p:cNvSpPr txBox="1"/>
          <p:nvPr/>
        </p:nvSpPr>
        <p:spPr>
          <a:xfrm>
            <a:off x="6784848" y="1234440"/>
            <a:ext cx="1828800" cy="274320"/>
          </a:xfrm>
          <a:prstGeom prst="rect">
            <a:avLst/>
          </a:prstGeom>
          <a:noFill/>
          <a:ln/>
        </p:spPr>
        <p:txBody>
          <a:bodyPr wrap="square" lIns="0" tIns="0" rIns="0" bIns="0" rtlCol="0" anchor="t"/>
          <a:lstStyle/>
          <a:p>
            <a:pPr indent="0" marL="0">
              <a:buNone/>
            </a:pPr>
            <a:r>
              <a:rPr lang="en-US" sz="1300" b="1" dirty="0">
                <a:solidFill>
                  <a:srgbClr val="7CCFC7"/>
                </a:solidFill>
                <a:latin typeface="Calibri" pitchFamily="34" charset="0"/>
                <a:ea typeface="Calibri" pitchFamily="34" charset="-122"/>
                <a:cs typeface="Calibri" pitchFamily="34" charset="-120"/>
              </a:rPr>
              <a:t>Flask REST API</a:t>
            </a:r>
            <a:endParaRPr lang="en-US" sz="1300" dirty="0"/>
          </a:p>
        </p:txBody>
      </p:sp>
      <p:sp>
        <p:nvSpPr>
          <p:cNvPr id="40" name="a6_txt_148"/>
          <p:cNvSpPr txBox="1"/>
          <p:nvPr/>
        </p:nvSpPr>
        <p:spPr>
          <a:xfrm>
            <a:off x="6784848" y="1508760"/>
            <a:ext cx="1828800" cy="612648"/>
          </a:xfrm>
          <a:prstGeom prst="rect">
            <a:avLst/>
          </a:prstGeom>
          <a:noFill/>
          <a:ln/>
        </p:spPr>
        <p:txBody>
          <a:bodyPr wrap="square" lIns="0" tIns="0" rIns="0" bIns="0" rtlCol="0" anchor="t"/>
          <a:lstStyle/>
          <a:p>
            <a:pPr indent="0" marL="0">
              <a:buNone/>
            </a:pPr>
            <a:r>
              <a:rPr lang="en-US" sz="1050" dirty="0">
                <a:solidFill>
                  <a:srgbClr val="A3B8B3"/>
                </a:solidFill>
                <a:latin typeface="Calibri" pitchFamily="34" charset="0"/>
                <a:ea typeface="Calibri" pitchFamily="34" charset="-122"/>
                <a:cs typeface="Calibri" pitchFamily="34" charset="-120"/>
              </a:rPr>
              <a:t>Python + SQLite. Stores readings, relays commands; makes no pump decisions</a:t>
            </a:r>
            <a:endParaRPr lang="en-US" sz="1050" dirty="0"/>
          </a:p>
        </p:txBody>
      </p:sp>
      <p:sp>
        <p:nvSpPr>
          <p:cNvPr id="41" name="a8_card_149"/>
          <p:cNvSpPr/>
          <p:nvPr/>
        </p:nvSpPr>
        <p:spPr>
          <a:xfrm>
            <a:off x="6126480" y="2514600"/>
            <a:ext cx="2560320" cy="1005840"/>
          </a:xfrm>
          <a:prstGeom prst="roundRect">
            <a:avLst>
              <a:gd name="adj" fmla="val 7273"/>
            </a:avLst>
          </a:prstGeom>
          <a:solidFill>
            <a:srgbClr val="1C2F36"/>
          </a:solidFill>
          <a:ln w="9525">
            <a:solidFill>
              <a:srgbClr val="35505A"/>
            </a:solidFill>
            <a:prstDash val="solid"/>
          </a:ln>
        </p:spPr>
      </p:sp>
      <p:sp>
        <p:nvSpPr>
          <p:cNvPr id="42" name="a8_ic_150"/>
          <p:cNvSpPr/>
          <p:nvPr/>
        </p:nvSpPr>
        <p:spPr>
          <a:xfrm>
            <a:off x="6254496" y="2798064"/>
            <a:ext cx="438912" cy="438912"/>
          </a:xfrm>
          <a:prstGeom prst="ellipse">
            <a:avLst/>
          </a:prstGeom>
          <a:solidFill>
            <a:srgbClr val="12232A"/>
          </a:solidFill>
          <a:ln/>
        </p:spPr>
      </p:sp>
      <p:pic>
        <p:nvPicPr>
          <p:cNvPr id="43" name="a8_icimg_151" descr="preencoded.png">    </p:cNvPr>
          <p:cNvPicPr>
            <a:picLocks noChangeAspect="1"/>
          </p:cNvPicPr>
          <p:nvPr/>
        </p:nvPicPr>
        <p:blipFill>
          <a:blip r:embed="rId7"/>
          <a:stretch>
            <a:fillRect/>
          </a:stretch>
        </p:blipFill>
        <p:spPr>
          <a:xfrm>
            <a:off x="6359835" y="2903403"/>
            <a:ext cx="228234" cy="228234"/>
          </a:xfrm>
          <a:prstGeom prst="rect">
            <a:avLst/>
          </a:prstGeom>
        </p:spPr>
      </p:pic>
      <p:sp>
        <p:nvSpPr>
          <p:cNvPr id="44" name="a8_txt_152"/>
          <p:cNvSpPr txBox="1"/>
          <p:nvPr/>
        </p:nvSpPr>
        <p:spPr>
          <a:xfrm>
            <a:off x="6784848" y="2606040"/>
            <a:ext cx="1828800" cy="274320"/>
          </a:xfrm>
          <a:prstGeom prst="rect">
            <a:avLst/>
          </a:prstGeom>
          <a:noFill/>
          <a:ln/>
        </p:spPr>
        <p:txBody>
          <a:bodyPr wrap="square" lIns="0" tIns="0" rIns="0" bIns="0" rtlCol="0" anchor="t"/>
          <a:lstStyle/>
          <a:p>
            <a:pPr indent="0" marL="0">
              <a:buNone/>
            </a:pPr>
            <a:r>
              <a:rPr lang="en-US" sz="1300" b="1" dirty="0">
                <a:solidFill>
                  <a:srgbClr val="9BE7C4"/>
                </a:solidFill>
                <a:latin typeface="Calibri" pitchFamily="34" charset="0"/>
                <a:ea typeface="Calibri" pitchFamily="34" charset="-122"/>
                <a:cs typeface="Calibri" pitchFamily="34" charset="-120"/>
              </a:rPr>
              <a:t>Web dashboard</a:t>
            </a:r>
            <a:endParaRPr lang="en-US" sz="1300" dirty="0"/>
          </a:p>
        </p:txBody>
      </p:sp>
      <p:sp>
        <p:nvSpPr>
          <p:cNvPr id="45" name="a8_txt_153"/>
          <p:cNvSpPr txBox="1"/>
          <p:nvPr/>
        </p:nvSpPr>
        <p:spPr>
          <a:xfrm>
            <a:off x="6784848" y="2880360"/>
            <a:ext cx="1828800" cy="566928"/>
          </a:xfrm>
          <a:prstGeom prst="rect">
            <a:avLst/>
          </a:prstGeom>
          <a:noFill/>
          <a:ln/>
        </p:spPr>
        <p:txBody>
          <a:bodyPr wrap="square" lIns="0" tIns="0" rIns="0" bIns="0" rtlCol="0" anchor="t"/>
          <a:lstStyle/>
          <a:p>
            <a:pPr indent="0" marL="0">
              <a:buNone/>
            </a:pPr>
            <a:r>
              <a:rPr lang="en-US" sz="1050" dirty="0">
                <a:solidFill>
                  <a:srgbClr val="A3B8B3"/>
                </a:solidFill>
                <a:latin typeface="Calibri" pitchFamily="34" charset="0"/>
                <a:ea typeface="Calibri" pitchFamily="34" charset="-122"/>
                <a:cs typeface="Calibri" pitchFamily="34" charset="-120"/>
              </a:rPr>
              <a:t>Gauge, charts, alerts, settings, manual override</a:t>
            </a:r>
            <a:endParaRPr lang="en-US" sz="1050" dirty="0"/>
          </a:p>
        </p:txBody>
      </p:sp>
      <p:sp>
        <p:nvSpPr>
          <p:cNvPr id="46" name="w6_arr_154"/>
          <p:cNvSpPr/>
          <p:nvPr/>
        </p:nvSpPr>
        <p:spPr>
          <a:xfrm>
            <a:off x="5577840" y="1554480"/>
            <a:ext cx="502920" cy="914"/>
          </a:xfrm>
          <a:prstGeom prst="line">
            <a:avLst/>
          </a:prstGeom>
          <a:noFill/>
          <a:ln w="22225">
            <a:solidFill>
              <a:srgbClr val="6CC08B"/>
            </a:solidFill>
            <a:prstDash val="solid"/>
            <a:tailEnd type="triangle"/>
          </a:ln>
        </p:spPr>
      </p:sp>
      <p:sp>
        <p:nvSpPr>
          <p:cNvPr id="47" name="w7_arr_155"/>
          <p:cNvSpPr/>
          <p:nvPr/>
        </p:nvSpPr>
        <p:spPr>
          <a:xfrm flipH="1">
            <a:off x="5577840" y="1874520"/>
            <a:ext cx="502920" cy="914"/>
          </a:xfrm>
          <a:prstGeom prst="line">
            <a:avLst/>
          </a:prstGeom>
          <a:noFill/>
          <a:ln w="22225">
            <a:solidFill>
              <a:srgbClr val="7CCFC7"/>
            </a:solidFill>
            <a:prstDash val="solid"/>
            <a:tailEnd type="triangle"/>
          </a:ln>
        </p:spPr>
      </p:sp>
      <p:sp>
        <p:nvSpPr>
          <p:cNvPr id="48" name="a6_txt_156"/>
          <p:cNvSpPr txBox="1"/>
          <p:nvPr/>
        </p:nvSpPr>
        <p:spPr>
          <a:xfrm>
            <a:off x="5532120" y="1280160"/>
            <a:ext cx="640080" cy="274320"/>
          </a:xfrm>
          <a:prstGeom prst="rect">
            <a:avLst/>
          </a:prstGeom>
          <a:noFill/>
          <a:ln/>
        </p:spPr>
        <p:txBody>
          <a:bodyPr wrap="square" lIns="0" tIns="0" rIns="0" bIns="0" rtlCol="0" anchor="t"/>
          <a:lstStyle/>
          <a:p>
            <a:pPr algn="ctr" indent="0" marL="0">
              <a:buNone/>
            </a:pPr>
            <a:r>
              <a:rPr lang="en-US" sz="800" dirty="0">
                <a:solidFill>
                  <a:srgbClr val="A3B8B3"/>
                </a:solidFill>
                <a:latin typeface="Calibri" pitchFamily="34" charset="0"/>
                <a:ea typeface="Calibri" pitchFamily="34" charset="-122"/>
                <a:cs typeface="Calibri" pitchFamily="34" charset="-120"/>
              </a:rPr>
              <a:t>readings every 2 s</a:t>
            </a:r>
            <a:endParaRPr lang="en-US" sz="800" dirty="0"/>
          </a:p>
        </p:txBody>
      </p:sp>
      <p:sp>
        <p:nvSpPr>
          <p:cNvPr id="49" name="a7_txt_157"/>
          <p:cNvSpPr txBox="1"/>
          <p:nvPr/>
        </p:nvSpPr>
        <p:spPr>
          <a:xfrm>
            <a:off x="5532120" y="1901952"/>
            <a:ext cx="640080" cy="228600"/>
          </a:xfrm>
          <a:prstGeom prst="rect">
            <a:avLst/>
          </a:prstGeom>
          <a:noFill/>
          <a:ln/>
        </p:spPr>
        <p:txBody>
          <a:bodyPr wrap="square" lIns="0" tIns="0" rIns="0" bIns="0" rtlCol="0" anchor="t"/>
          <a:lstStyle/>
          <a:p>
            <a:pPr algn="ctr" indent="0" marL="0">
              <a:buNone/>
            </a:pPr>
            <a:r>
              <a:rPr lang="en-US" sz="800" dirty="0">
                <a:solidFill>
                  <a:srgbClr val="A3B8B3"/>
                </a:solidFill>
                <a:latin typeface="Calibri" pitchFamily="34" charset="0"/>
                <a:ea typeface="Calibri" pitchFamily="34" charset="-122"/>
                <a:cs typeface="Calibri" pitchFamily="34" charset="-120"/>
              </a:rPr>
              <a:t>commands</a:t>
            </a:r>
            <a:endParaRPr lang="en-US" sz="800" dirty="0"/>
          </a:p>
        </p:txBody>
      </p:sp>
      <p:sp>
        <p:nvSpPr>
          <p:cNvPr id="50" name="w8_arr_158"/>
          <p:cNvSpPr/>
          <p:nvPr/>
        </p:nvSpPr>
        <p:spPr>
          <a:xfrm>
            <a:off x="7406640" y="2212848"/>
            <a:ext cx="914" cy="274320"/>
          </a:xfrm>
          <a:prstGeom prst="line">
            <a:avLst/>
          </a:prstGeom>
          <a:noFill/>
          <a:ln w="22225">
            <a:solidFill>
              <a:srgbClr val="9BE7C4"/>
            </a:solidFill>
            <a:prstDash val="solid"/>
            <a:tailEnd type="triangle"/>
          </a:ln>
        </p:spPr>
      </p:sp>
      <p:sp>
        <p:nvSpPr>
          <p:cNvPr id="51" name="a9_txt_159"/>
          <p:cNvSpPr txBox="1"/>
          <p:nvPr/>
        </p:nvSpPr>
        <p:spPr>
          <a:xfrm>
            <a:off x="3246120" y="3730752"/>
            <a:ext cx="2743200" cy="228600"/>
          </a:xfrm>
          <a:prstGeom prst="rect">
            <a:avLst/>
          </a:prstGeom>
          <a:noFill/>
          <a:ln/>
        </p:spPr>
        <p:txBody>
          <a:bodyPr wrap="square" lIns="0" tIns="0" rIns="0" bIns="0" rtlCol="0" anchor="t"/>
          <a:lstStyle/>
          <a:p>
            <a:pPr indent="0" marL="0">
              <a:buNone/>
            </a:pPr>
            <a:r>
              <a:rPr lang="en-US" sz="1000" b="1" spc="200" kern="0" dirty="0">
                <a:solidFill>
                  <a:srgbClr val="A3B8B3"/>
                </a:solidFill>
                <a:latin typeface="Calibri" pitchFamily="34" charset="0"/>
                <a:ea typeface="Calibri" pitchFamily="34" charset="-122"/>
                <a:cs typeface="Calibri" pitchFamily="34" charset="-120"/>
              </a:rPr>
              <a:t>TEAM OWNERSHIP</a:t>
            </a:r>
            <a:endParaRPr lang="en-US" sz="1000" dirty="0"/>
          </a:p>
        </p:txBody>
      </p:sp>
      <p:sp>
        <p:nvSpPr>
          <p:cNvPr id="52" name="a9_chip_160"/>
          <p:cNvSpPr/>
          <p:nvPr/>
        </p:nvSpPr>
        <p:spPr>
          <a:xfrm>
            <a:off x="3246120" y="4023360"/>
            <a:ext cx="1691640" cy="237744"/>
          </a:xfrm>
          <a:prstGeom prst="roundRect">
            <a:avLst>
              <a:gd name="adj" fmla="val 50000"/>
            </a:avLst>
          </a:prstGeom>
          <a:solidFill>
            <a:srgbClr val="EDA265">
              <a:alpha val="20000"/>
            </a:srgbClr>
          </a:solidFill>
          <a:ln w="9525">
            <a:solidFill>
              <a:srgbClr val="EDA265"/>
            </a:solidFill>
            <a:prstDash val="solid"/>
          </a:ln>
        </p:spPr>
      </p:sp>
      <p:sp>
        <p:nvSpPr>
          <p:cNvPr id="53" name="a9_txt_161"/>
          <p:cNvSpPr txBox="1"/>
          <p:nvPr/>
        </p:nvSpPr>
        <p:spPr>
          <a:xfrm>
            <a:off x="3246120" y="4023360"/>
            <a:ext cx="1691640" cy="237744"/>
          </a:xfrm>
          <a:prstGeom prst="rect">
            <a:avLst/>
          </a:prstGeom>
          <a:noFill/>
          <a:ln/>
        </p:spPr>
        <p:txBody>
          <a:bodyPr wrap="square" lIns="0" tIns="0" rIns="0" bIns="0" rtlCol="0" anchor="ctr"/>
          <a:lstStyle/>
          <a:p>
            <a:pPr algn="ctr" indent="0" marL="0">
              <a:buNone/>
            </a:pPr>
            <a:r>
              <a:rPr lang="en-US" sz="1000" b="1" dirty="0">
                <a:solidFill>
                  <a:srgbClr val="EDA265"/>
                </a:solidFill>
                <a:latin typeface="Calibri" pitchFamily="34" charset="0"/>
                <a:ea typeface="Calibri" pitchFamily="34" charset="-122"/>
                <a:cs typeface="Calibri" pitchFamily="34" charset="-120"/>
              </a:rPr>
              <a:t>Mech: tank, pump, rig</a:t>
            </a:r>
            <a:endParaRPr lang="en-US" sz="1000" dirty="0"/>
          </a:p>
        </p:txBody>
      </p:sp>
      <p:sp>
        <p:nvSpPr>
          <p:cNvPr id="54" name="a9_chip_162"/>
          <p:cNvSpPr/>
          <p:nvPr/>
        </p:nvSpPr>
        <p:spPr>
          <a:xfrm>
            <a:off x="5029200" y="4023360"/>
            <a:ext cx="1691640" cy="237744"/>
          </a:xfrm>
          <a:prstGeom prst="roundRect">
            <a:avLst>
              <a:gd name="adj" fmla="val 50000"/>
            </a:avLst>
          </a:prstGeom>
          <a:solidFill>
            <a:srgbClr val="7CCFC7">
              <a:alpha val="20000"/>
            </a:srgbClr>
          </a:solidFill>
          <a:ln w="9525">
            <a:solidFill>
              <a:srgbClr val="7CCFC7"/>
            </a:solidFill>
            <a:prstDash val="solid"/>
          </a:ln>
        </p:spPr>
      </p:sp>
      <p:sp>
        <p:nvSpPr>
          <p:cNvPr id="55" name="a9_txt_163"/>
          <p:cNvSpPr txBox="1"/>
          <p:nvPr/>
        </p:nvSpPr>
        <p:spPr>
          <a:xfrm>
            <a:off x="5029200" y="4023360"/>
            <a:ext cx="1691640" cy="237744"/>
          </a:xfrm>
          <a:prstGeom prst="rect">
            <a:avLst/>
          </a:prstGeom>
          <a:noFill/>
          <a:ln/>
        </p:spPr>
        <p:txBody>
          <a:bodyPr wrap="square" lIns="0" tIns="0" rIns="0" bIns="0" rtlCol="0" anchor="ctr"/>
          <a:lstStyle/>
          <a:p>
            <a:pPr algn="ctr" indent="0" marL="0">
              <a:buNone/>
            </a:pPr>
            <a:r>
              <a:rPr lang="en-US" sz="1000" b="1" dirty="0">
                <a:solidFill>
                  <a:srgbClr val="7CCFC7"/>
                </a:solidFill>
                <a:latin typeface="Calibri" pitchFamily="34" charset="0"/>
                <a:ea typeface="Calibri" pitchFamily="34" charset="-122"/>
                <a:cs typeface="Calibri" pitchFamily="34" charset="-120"/>
              </a:rPr>
              <a:t>ECE: wiring, firmware</a:t>
            </a:r>
            <a:endParaRPr lang="en-US" sz="1000" dirty="0"/>
          </a:p>
        </p:txBody>
      </p:sp>
      <p:sp>
        <p:nvSpPr>
          <p:cNvPr id="56" name="a9_chip_164"/>
          <p:cNvSpPr/>
          <p:nvPr/>
        </p:nvSpPr>
        <p:spPr>
          <a:xfrm>
            <a:off x="6812280" y="4023360"/>
            <a:ext cx="1874520" cy="237744"/>
          </a:xfrm>
          <a:prstGeom prst="roundRect">
            <a:avLst>
              <a:gd name="adj" fmla="val 50000"/>
            </a:avLst>
          </a:prstGeom>
          <a:solidFill>
            <a:srgbClr val="6CC08B">
              <a:alpha val="20000"/>
            </a:srgbClr>
          </a:solidFill>
          <a:ln w="9525">
            <a:solidFill>
              <a:srgbClr val="6CC08B"/>
            </a:solidFill>
            <a:prstDash val="solid"/>
          </a:ln>
        </p:spPr>
      </p:sp>
      <p:sp>
        <p:nvSpPr>
          <p:cNvPr id="57" name="a9_txt_165"/>
          <p:cNvSpPr txBox="1"/>
          <p:nvPr/>
        </p:nvSpPr>
        <p:spPr>
          <a:xfrm>
            <a:off x="6812280" y="4023360"/>
            <a:ext cx="1874520" cy="237744"/>
          </a:xfrm>
          <a:prstGeom prst="rect">
            <a:avLst/>
          </a:prstGeom>
          <a:noFill/>
          <a:ln/>
        </p:spPr>
        <p:txBody>
          <a:bodyPr wrap="square" lIns="0" tIns="0" rIns="0" bIns="0" rtlCol="0" anchor="ctr"/>
          <a:lstStyle/>
          <a:p>
            <a:pPr algn="ctr" indent="0" marL="0">
              <a:buNone/>
            </a:pPr>
            <a:r>
              <a:rPr lang="en-US" sz="1000" b="1" dirty="0">
                <a:solidFill>
                  <a:srgbClr val="6CC08B"/>
                </a:solidFill>
                <a:latin typeface="Calibri" pitchFamily="34" charset="0"/>
                <a:ea typeface="Calibri" pitchFamily="34" charset="-122"/>
                <a:cs typeface="Calibri" pitchFamily="34" charset="-120"/>
              </a:rPr>
              <a:t>CSE: server, dashboard</a:t>
            </a:r>
            <a:endParaRPr lang="en-US" sz="1000" dirty="0"/>
          </a:p>
        </p:txBody>
      </p:sp>
      <p:sp>
        <p:nvSpPr>
          <p:cNvPr id="58" name="a9_txt_166"/>
          <p:cNvSpPr txBox="1"/>
          <p:nvPr/>
        </p:nvSpPr>
        <p:spPr>
          <a:xfrm>
            <a:off x="3246120" y="4370832"/>
            <a:ext cx="5440680" cy="274320"/>
          </a:xfrm>
          <a:prstGeom prst="rect">
            <a:avLst/>
          </a:prstGeom>
          <a:noFill/>
          <a:ln/>
        </p:spPr>
        <p:txBody>
          <a:bodyPr wrap="square" lIns="0" tIns="0" rIns="0" bIns="0" rtlCol="0" anchor="t"/>
          <a:lstStyle/>
          <a:p>
            <a:pPr indent="0" marL="0">
              <a:buNone/>
            </a:pPr>
            <a:r>
              <a:rPr lang="en-US" sz="1050" i="1" dirty="0">
                <a:solidFill>
                  <a:srgbClr val="A3B8B3"/>
                </a:solidFill>
                <a:latin typeface="Calibri" pitchFamily="34" charset="0"/>
                <a:ea typeface="Calibri" pitchFamily="34" charset="-122"/>
                <a:cs typeface="Calibri" pitchFamily="34" charset="-120"/>
              </a:rPr>
              <a:t>JSON over HTTP on the local Wi-Fi; API key on device endpoints</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8</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par>
                          <p:cTn id="53" fill="hold">
                            <p:stCondLst>
                              <p:cond delay="350"/>
                            </p:stCondLst>
                            <p:childTnLst>
                              <p:par>
                                <p:cTn id="54" presetID="22" presetClass="entr" presetSubtype="8" fill="hold" nodeType="after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left)">
                                      <p:cBhvr>
                                        <p:cTn id="56" dur="500"/>
                                        <p:tgtEl>
                                          <p:spTgt spid="25"/>
                                        </p:tgtEl>
                                      </p:cBhvr>
                                    </p:animEffect>
                                  </p:childTnLst>
                                </p:cTn>
                              </p:par>
                              <p:par>
                                <p:cTn id="57" presetID="22" presetClass="entr" presetSubtype="8"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left)">
                                      <p:cBhvr>
                                        <p:cTn id="59" dur="500"/>
                                        <p:tgtEl>
                                          <p:spTgt spid="26"/>
                                        </p:tgtEl>
                                      </p:cBhvr>
                                    </p:animEffect>
                                  </p:childTnLst>
                                </p:cTn>
                              </p:par>
                              <p:par>
                                <p:cTn id="60" presetID="22" presetClass="entr" presetSubtype="8" fill="hold" nodeType="with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left)">
                                      <p:cBhvr>
                                        <p:cTn id="62" dur="500"/>
                                        <p:tgtEl>
                                          <p:spTgt spid="27"/>
                                        </p:tgtEl>
                                      </p:cBhvr>
                                    </p:animEffect>
                                  </p:childTnLst>
                                </p:cTn>
                              </p:par>
                            </p:childTnLst>
                          </p:cTn>
                        </p:par>
                        <p:par>
                          <p:cTn id="63" fill="hold">
                            <p:stCondLst>
                              <p:cond delay="700"/>
                            </p:stCondLst>
                            <p:childTnLst>
                              <p:par>
                                <p:cTn id="64" presetID="10" presetClass="entr" presetSubtype="0" fill="hold" nodeType="after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7" presetID="10" presetClass="entr" presetSubtype="0" fill="hold" nodeType="with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childTnLst>
                                </p:cTn>
                              </p:par>
                              <p:par>
                                <p:cTn id="70" presetID="10" presetClass="entr" presetSubtype="0" fill="hold"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par>
                                <p:cTn id="73" presetID="10" presetClass="entr" presetSubtype="0" fill="hold"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500"/>
                                        <p:tgtEl>
                                          <p:spTgt spid="22"/>
                                        </p:tgtEl>
                                      </p:cBhvr>
                                    </p:animEffect>
                                  </p:childTnLst>
                                </p:cTn>
                              </p:par>
                              <p:par>
                                <p:cTn id="76" presetID="10" presetClass="entr" presetSubtype="0" fill="hold"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500"/>
                                        <p:tgtEl>
                                          <p:spTgt spid="23"/>
                                        </p:tgtEl>
                                      </p:cBhvr>
                                    </p:animEffect>
                                  </p:childTnLst>
                                </p:cTn>
                              </p:par>
                              <p:par>
                                <p:cTn id="79" presetID="10" presetClass="entr" presetSubtype="0" fill="hold" nodeType="with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childTnLst>
                          </p:cTn>
                        </p:par>
                        <p:par>
                          <p:cTn id="82" fill="hold">
                            <p:stCondLst>
                              <p:cond delay="1050"/>
                            </p:stCondLst>
                            <p:childTnLst>
                              <p:par>
                                <p:cTn id="83" presetID="22" presetClass="entr" presetSubtype="8" fill="hold" nodeType="after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wipe(left)">
                                      <p:cBhvr>
                                        <p:cTn id="85" dur="500"/>
                                        <p:tgtEl>
                                          <p:spTgt spid="34"/>
                                        </p:tgtEl>
                                      </p:cBhvr>
                                    </p:animEffect>
                                  </p:childTnLst>
                                </p:cTn>
                              </p:par>
                            </p:childTnLst>
                          </p:cTn>
                        </p:par>
                        <p:par>
                          <p:cTn id="86" fill="hold">
                            <p:stCondLst>
                              <p:cond delay="1400"/>
                            </p:stCondLst>
                            <p:childTnLst>
                              <p:par>
                                <p:cTn id="87" presetID="10" presetClass="entr" presetSubtype="0" fill="hold" nodeType="after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par>
                                <p:cTn id="93" presetID="10" presetClass="entr" presetSubtype="0" fill="hold"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par>
                                <p:cTn id="96" presetID="10" presetClass="entr" presetSubtype="0" fill="hold"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500"/>
                                        <p:tgtEl>
                                          <p:spTgt spid="31"/>
                                        </p:tgtEl>
                                      </p:cBhvr>
                                    </p:animEffect>
                                  </p:childTnLst>
                                </p:cTn>
                              </p:par>
                              <p:par>
                                <p:cTn id="99" presetID="10" presetClass="entr" presetSubtype="0" fill="hold"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500"/>
                                        <p:tgtEl>
                                          <p:spTgt spid="32"/>
                                        </p:tgtEl>
                                      </p:cBhvr>
                                    </p:animEffect>
                                  </p:childTnLst>
                                </p:cTn>
                              </p:par>
                              <p:par>
                                <p:cTn id="102" presetID="10" presetClass="entr" presetSubtype="0" fill="hold"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childTnLst>
                          </p:cTn>
                        </p:par>
                        <p:par>
                          <p:cTn id="105" fill="hold">
                            <p:stCondLst>
                              <p:cond delay="1750"/>
                            </p:stCondLst>
                            <p:childTnLst>
                              <p:par>
                                <p:cTn id="106" presetID="10" presetClass="entr" presetSubtype="0" fill="hold" nodeType="after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10" presetClass="entr" presetSubtype="0" fill="hold"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fade">
                                      <p:cBhvr>
                                        <p:cTn id="111" dur="500"/>
                                        <p:tgtEl>
                                          <p:spTgt spid="36"/>
                                        </p:tgtEl>
                                      </p:cBhvr>
                                    </p:animEffect>
                                  </p:childTnLst>
                                </p:cTn>
                              </p:par>
                              <p:par>
                                <p:cTn id="112" presetID="10" presetClass="entr" presetSubtype="0" fill="hold" nodeType="with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500"/>
                                        <p:tgtEl>
                                          <p:spTgt spid="37"/>
                                        </p:tgtEl>
                                      </p:cBhvr>
                                    </p:animEffect>
                                  </p:childTnLst>
                                </p:cTn>
                              </p:par>
                              <p:par>
                                <p:cTn id="115" presetID="10" presetClass="entr" presetSubtype="0" fill="hold" nodeType="with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7" dur="500"/>
                                        <p:tgtEl>
                                          <p:spTgt spid="38"/>
                                        </p:tgtEl>
                                      </p:cBhvr>
                                    </p:animEffect>
                                  </p:childTnLst>
                                </p:cTn>
                              </p:par>
                              <p:par>
                                <p:cTn id="118" presetID="10" presetClass="entr" presetSubtype="0" fill="hold" nodeType="with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500"/>
                                        <p:tgtEl>
                                          <p:spTgt spid="39"/>
                                        </p:tgtEl>
                                      </p:cBhvr>
                                    </p:animEffect>
                                  </p:childTnLst>
                                </p:cTn>
                              </p:par>
                              <p:par>
                                <p:cTn id="121" presetID="10" presetClass="entr" presetSubtype="0" fill="hold" nodeType="with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00"/>
                                        <p:tgtEl>
                                          <p:spTgt spid="40"/>
                                        </p:tgtEl>
                                      </p:cBhvr>
                                    </p:animEffect>
                                  </p:childTnLst>
                                </p:cTn>
                              </p:par>
                              <p:par>
                                <p:cTn id="124" presetID="22" presetClass="entr" presetSubtype="8" fill="hold" nodeType="with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wipe(left)">
                                      <p:cBhvr>
                                        <p:cTn id="126" dur="500"/>
                                        <p:tgtEl>
                                          <p:spTgt spid="46"/>
                                        </p:tgtEl>
                                      </p:cBhvr>
                                    </p:animEffect>
                                  </p:childTnLst>
                                </p:cTn>
                              </p:par>
                              <p:par>
                                <p:cTn id="127" presetID="10" presetClass="entr" presetSubtype="0" fill="hold" nodeType="withEffect">
                                  <p:stCondLst>
                                    <p:cond delay="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9" dur="500"/>
                                        <p:tgtEl>
                                          <p:spTgt spid="48"/>
                                        </p:tgtEl>
                                      </p:cBhvr>
                                    </p:animEffect>
                                  </p:childTnLst>
                                </p:cTn>
                              </p:par>
                            </p:childTnLst>
                          </p:cTn>
                        </p:par>
                        <p:par>
                          <p:cTn id="130" fill="hold">
                            <p:stCondLst>
                              <p:cond delay="2100"/>
                            </p:stCondLst>
                            <p:childTnLst>
                              <p:par>
                                <p:cTn id="131" presetID="22" presetClass="entr" presetSubtype="8" fill="hold" nodeType="after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wipe(left)">
                                      <p:cBhvr>
                                        <p:cTn id="133" dur="500"/>
                                        <p:tgtEl>
                                          <p:spTgt spid="47"/>
                                        </p:tgtEl>
                                      </p:cBhvr>
                                    </p:animEffect>
                                  </p:childTnLst>
                                </p:cTn>
                              </p:par>
                              <p:par>
                                <p:cTn id="134" presetID="10" presetClass="entr" presetSubtype="0" fill="hold"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fade">
                                      <p:cBhvr>
                                        <p:cTn id="136" dur="500"/>
                                        <p:tgtEl>
                                          <p:spTgt spid="49"/>
                                        </p:tgtEl>
                                      </p:cBhvr>
                                    </p:animEffect>
                                  </p:childTnLst>
                                </p:cTn>
                              </p:par>
                            </p:childTnLst>
                          </p:cTn>
                        </p:par>
                        <p:par>
                          <p:cTn id="137" fill="hold">
                            <p:stCondLst>
                              <p:cond delay="2450"/>
                            </p:stCondLst>
                            <p:childTnLst>
                              <p:par>
                                <p:cTn id="138" presetID="10" presetClass="entr" presetSubtype="0" fill="hold" nodeType="afterEffect">
                                  <p:stCondLst>
                                    <p:cond delay="0"/>
                                  </p:stCondLst>
                                  <p:childTnLst>
                                    <p:set>
                                      <p:cBhvr>
                                        <p:cTn id="139" dur="1" fill="hold">
                                          <p:stCondLst>
                                            <p:cond delay="0"/>
                                          </p:stCondLst>
                                        </p:cTn>
                                        <p:tgtEl>
                                          <p:spTgt spid="41"/>
                                        </p:tgtEl>
                                        <p:attrNameLst>
                                          <p:attrName>style.visibility</p:attrName>
                                        </p:attrNameLst>
                                      </p:cBhvr>
                                      <p:to>
                                        <p:strVal val="visible"/>
                                      </p:to>
                                    </p:set>
                                    <p:animEffect transition="in" filter="fade">
                                      <p:cBhvr>
                                        <p:cTn id="140" dur="500"/>
                                        <p:tgtEl>
                                          <p:spTgt spid="41"/>
                                        </p:tgtEl>
                                      </p:cBhvr>
                                    </p:animEffect>
                                  </p:childTnLst>
                                </p:cTn>
                              </p:par>
                              <p:par>
                                <p:cTn id="141" presetID="10" presetClass="entr" presetSubtype="0" fill="hold" nodeType="withEffect">
                                  <p:stCondLst>
                                    <p:cond delay="0"/>
                                  </p:stCondLst>
                                  <p:childTnLst>
                                    <p:set>
                                      <p:cBhvr>
                                        <p:cTn id="142" dur="1" fill="hold">
                                          <p:stCondLst>
                                            <p:cond delay="0"/>
                                          </p:stCondLst>
                                        </p:cTn>
                                        <p:tgtEl>
                                          <p:spTgt spid="42"/>
                                        </p:tgtEl>
                                        <p:attrNameLst>
                                          <p:attrName>style.visibility</p:attrName>
                                        </p:attrNameLst>
                                      </p:cBhvr>
                                      <p:to>
                                        <p:strVal val="visible"/>
                                      </p:to>
                                    </p:set>
                                    <p:animEffect transition="in" filter="fade">
                                      <p:cBhvr>
                                        <p:cTn id="143" dur="500"/>
                                        <p:tgtEl>
                                          <p:spTgt spid="42"/>
                                        </p:tgtEl>
                                      </p:cBhvr>
                                    </p:animEffect>
                                  </p:childTnLst>
                                </p:cTn>
                              </p:par>
                              <p:par>
                                <p:cTn id="144" presetID="10" presetClass="entr" presetSubtype="0" fill="hold" nodeType="withEffect">
                                  <p:stCondLst>
                                    <p:cond delay="0"/>
                                  </p:stCondLst>
                                  <p:childTnLst>
                                    <p:set>
                                      <p:cBhvr>
                                        <p:cTn id="145" dur="1" fill="hold">
                                          <p:stCondLst>
                                            <p:cond delay="0"/>
                                          </p:stCondLst>
                                        </p:cTn>
                                        <p:tgtEl>
                                          <p:spTgt spid="43"/>
                                        </p:tgtEl>
                                        <p:attrNameLst>
                                          <p:attrName>style.visibility</p:attrName>
                                        </p:attrNameLst>
                                      </p:cBhvr>
                                      <p:to>
                                        <p:strVal val="visible"/>
                                      </p:to>
                                    </p:set>
                                    <p:animEffect transition="in" filter="fade">
                                      <p:cBhvr>
                                        <p:cTn id="146" dur="500"/>
                                        <p:tgtEl>
                                          <p:spTgt spid="43"/>
                                        </p:tgtEl>
                                      </p:cBhvr>
                                    </p:animEffect>
                                  </p:childTnLst>
                                </p:cTn>
                              </p:par>
                              <p:par>
                                <p:cTn id="147" presetID="10" presetClass="entr" presetSubtype="0" fill="hold" nodeType="withEffect">
                                  <p:stCondLst>
                                    <p:cond delay="0"/>
                                  </p:stCondLst>
                                  <p:childTnLst>
                                    <p:set>
                                      <p:cBhvr>
                                        <p:cTn id="148" dur="1" fill="hold">
                                          <p:stCondLst>
                                            <p:cond delay="0"/>
                                          </p:stCondLst>
                                        </p:cTn>
                                        <p:tgtEl>
                                          <p:spTgt spid="44"/>
                                        </p:tgtEl>
                                        <p:attrNameLst>
                                          <p:attrName>style.visibility</p:attrName>
                                        </p:attrNameLst>
                                      </p:cBhvr>
                                      <p:to>
                                        <p:strVal val="visible"/>
                                      </p:to>
                                    </p:set>
                                    <p:animEffect transition="in" filter="fade">
                                      <p:cBhvr>
                                        <p:cTn id="149" dur="500"/>
                                        <p:tgtEl>
                                          <p:spTgt spid="44"/>
                                        </p:tgtEl>
                                      </p:cBhvr>
                                    </p:animEffect>
                                  </p:childTnLst>
                                </p:cTn>
                              </p:par>
                              <p:par>
                                <p:cTn id="150" presetID="10" presetClass="entr" presetSubtype="0" fill="hold" nodeType="withEffect">
                                  <p:stCondLst>
                                    <p:cond delay="0"/>
                                  </p:stCondLst>
                                  <p:childTnLst>
                                    <p:set>
                                      <p:cBhvr>
                                        <p:cTn id="151" dur="1" fill="hold">
                                          <p:stCondLst>
                                            <p:cond delay="0"/>
                                          </p:stCondLst>
                                        </p:cTn>
                                        <p:tgtEl>
                                          <p:spTgt spid="45"/>
                                        </p:tgtEl>
                                        <p:attrNameLst>
                                          <p:attrName>style.visibility</p:attrName>
                                        </p:attrNameLst>
                                      </p:cBhvr>
                                      <p:to>
                                        <p:strVal val="visible"/>
                                      </p:to>
                                    </p:set>
                                    <p:animEffect transition="in" filter="fade">
                                      <p:cBhvr>
                                        <p:cTn id="152" dur="500"/>
                                        <p:tgtEl>
                                          <p:spTgt spid="45"/>
                                        </p:tgtEl>
                                      </p:cBhvr>
                                    </p:animEffect>
                                  </p:childTnLst>
                                </p:cTn>
                              </p:par>
                              <p:par>
                                <p:cTn id="153" presetID="22" presetClass="entr" presetSubtype="8" fill="hold" nodeType="with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wipe(left)">
                                      <p:cBhvr>
                                        <p:cTn id="155" dur="500"/>
                                        <p:tgtEl>
                                          <p:spTgt spid="50"/>
                                        </p:tgtEl>
                                      </p:cBhvr>
                                    </p:animEffect>
                                  </p:childTnLst>
                                </p:cTn>
                              </p:par>
                            </p:childTnLst>
                          </p:cTn>
                        </p:par>
                        <p:par>
                          <p:cTn id="156" fill="hold">
                            <p:stCondLst>
                              <p:cond delay="2800"/>
                            </p:stCondLst>
                            <p:childTnLst>
                              <p:par>
                                <p:cTn id="157" presetID="10" presetClass="entr" presetSubtype="0" fill="hold" nodeType="afterEffect">
                                  <p:stCondLst>
                                    <p:cond delay="0"/>
                                  </p:stCondLst>
                                  <p:childTnLst>
                                    <p:set>
                                      <p:cBhvr>
                                        <p:cTn id="158" dur="1" fill="hold">
                                          <p:stCondLst>
                                            <p:cond delay="0"/>
                                          </p:stCondLst>
                                        </p:cTn>
                                        <p:tgtEl>
                                          <p:spTgt spid="51"/>
                                        </p:tgtEl>
                                        <p:attrNameLst>
                                          <p:attrName>style.visibility</p:attrName>
                                        </p:attrNameLst>
                                      </p:cBhvr>
                                      <p:to>
                                        <p:strVal val="visible"/>
                                      </p:to>
                                    </p:set>
                                    <p:animEffect transition="in" filter="fade">
                                      <p:cBhvr>
                                        <p:cTn id="159" dur="500"/>
                                        <p:tgtEl>
                                          <p:spTgt spid="51"/>
                                        </p:tgtEl>
                                      </p:cBhvr>
                                    </p:animEffect>
                                  </p:childTnLst>
                                </p:cTn>
                              </p:par>
                              <p:par>
                                <p:cTn id="160" presetID="10" presetClass="entr" presetSubtype="0" fill="hold" nodeType="withEffect">
                                  <p:stCondLst>
                                    <p:cond delay="0"/>
                                  </p:stCondLst>
                                  <p:childTnLst>
                                    <p:set>
                                      <p:cBhvr>
                                        <p:cTn id="161" dur="1" fill="hold">
                                          <p:stCondLst>
                                            <p:cond delay="0"/>
                                          </p:stCondLst>
                                        </p:cTn>
                                        <p:tgtEl>
                                          <p:spTgt spid="52"/>
                                        </p:tgtEl>
                                        <p:attrNameLst>
                                          <p:attrName>style.visibility</p:attrName>
                                        </p:attrNameLst>
                                      </p:cBhvr>
                                      <p:to>
                                        <p:strVal val="visible"/>
                                      </p:to>
                                    </p:set>
                                    <p:animEffect transition="in" filter="fade">
                                      <p:cBhvr>
                                        <p:cTn id="162" dur="500"/>
                                        <p:tgtEl>
                                          <p:spTgt spid="52"/>
                                        </p:tgtEl>
                                      </p:cBhvr>
                                    </p:animEffect>
                                  </p:childTnLst>
                                </p:cTn>
                              </p:par>
                              <p:par>
                                <p:cTn id="163" presetID="10" presetClass="entr" presetSubtype="0" fill="hold" nodeType="withEffect">
                                  <p:stCondLst>
                                    <p:cond delay="0"/>
                                  </p:stCondLst>
                                  <p:childTnLst>
                                    <p:set>
                                      <p:cBhvr>
                                        <p:cTn id="164" dur="1" fill="hold">
                                          <p:stCondLst>
                                            <p:cond delay="0"/>
                                          </p:stCondLst>
                                        </p:cTn>
                                        <p:tgtEl>
                                          <p:spTgt spid="53"/>
                                        </p:tgtEl>
                                        <p:attrNameLst>
                                          <p:attrName>style.visibility</p:attrName>
                                        </p:attrNameLst>
                                      </p:cBhvr>
                                      <p:to>
                                        <p:strVal val="visible"/>
                                      </p:to>
                                    </p:set>
                                    <p:animEffect transition="in" filter="fade">
                                      <p:cBhvr>
                                        <p:cTn id="165" dur="500"/>
                                        <p:tgtEl>
                                          <p:spTgt spid="53"/>
                                        </p:tgtEl>
                                      </p:cBhvr>
                                    </p:animEffect>
                                  </p:childTnLst>
                                </p:cTn>
                              </p:par>
                              <p:par>
                                <p:cTn id="166" presetID="10" presetClass="entr" presetSubtype="0" fill="hold" nodeType="withEffect">
                                  <p:stCondLst>
                                    <p:cond delay="0"/>
                                  </p:stCondLst>
                                  <p:childTnLst>
                                    <p:set>
                                      <p:cBhvr>
                                        <p:cTn id="167" dur="1" fill="hold">
                                          <p:stCondLst>
                                            <p:cond delay="0"/>
                                          </p:stCondLst>
                                        </p:cTn>
                                        <p:tgtEl>
                                          <p:spTgt spid="54"/>
                                        </p:tgtEl>
                                        <p:attrNameLst>
                                          <p:attrName>style.visibility</p:attrName>
                                        </p:attrNameLst>
                                      </p:cBhvr>
                                      <p:to>
                                        <p:strVal val="visible"/>
                                      </p:to>
                                    </p:set>
                                    <p:animEffect transition="in" filter="fade">
                                      <p:cBhvr>
                                        <p:cTn id="168" dur="500"/>
                                        <p:tgtEl>
                                          <p:spTgt spid="54"/>
                                        </p:tgtEl>
                                      </p:cBhvr>
                                    </p:animEffect>
                                  </p:childTnLst>
                                </p:cTn>
                              </p:par>
                              <p:par>
                                <p:cTn id="169" presetID="10" presetClass="entr" presetSubtype="0" fill="hold" nodeType="withEffect">
                                  <p:stCondLst>
                                    <p:cond delay="0"/>
                                  </p:stCondLst>
                                  <p:childTnLst>
                                    <p:set>
                                      <p:cBhvr>
                                        <p:cTn id="170" dur="1" fill="hold">
                                          <p:stCondLst>
                                            <p:cond delay="0"/>
                                          </p:stCondLst>
                                        </p:cTn>
                                        <p:tgtEl>
                                          <p:spTgt spid="55"/>
                                        </p:tgtEl>
                                        <p:attrNameLst>
                                          <p:attrName>style.visibility</p:attrName>
                                        </p:attrNameLst>
                                      </p:cBhvr>
                                      <p:to>
                                        <p:strVal val="visible"/>
                                      </p:to>
                                    </p:set>
                                    <p:animEffect transition="in" filter="fade">
                                      <p:cBhvr>
                                        <p:cTn id="171" dur="500"/>
                                        <p:tgtEl>
                                          <p:spTgt spid="55"/>
                                        </p:tgtEl>
                                      </p:cBhvr>
                                    </p:animEffect>
                                  </p:childTnLst>
                                </p:cTn>
                              </p:par>
                              <p:par>
                                <p:cTn id="172" presetID="10" presetClass="entr" presetSubtype="0" fill="hold" nodeType="withEffect">
                                  <p:stCondLst>
                                    <p:cond delay="0"/>
                                  </p:stCondLst>
                                  <p:childTnLst>
                                    <p:set>
                                      <p:cBhvr>
                                        <p:cTn id="173" dur="1" fill="hold">
                                          <p:stCondLst>
                                            <p:cond delay="0"/>
                                          </p:stCondLst>
                                        </p:cTn>
                                        <p:tgtEl>
                                          <p:spTgt spid="56"/>
                                        </p:tgtEl>
                                        <p:attrNameLst>
                                          <p:attrName>style.visibility</p:attrName>
                                        </p:attrNameLst>
                                      </p:cBhvr>
                                      <p:to>
                                        <p:strVal val="visible"/>
                                      </p:to>
                                    </p:set>
                                    <p:animEffect transition="in" filter="fade">
                                      <p:cBhvr>
                                        <p:cTn id="174" dur="500"/>
                                        <p:tgtEl>
                                          <p:spTgt spid="56"/>
                                        </p:tgtEl>
                                      </p:cBhvr>
                                    </p:animEffect>
                                  </p:childTnLst>
                                </p:cTn>
                              </p:par>
                              <p:par>
                                <p:cTn id="175" presetID="10" presetClass="entr" presetSubtype="0" fill="hold" nodeType="withEffect">
                                  <p:stCondLst>
                                    <p:cond delay="0"/>
                                  </p:stCondLst>
                                  <p:childTnLst>
                                    <p:set>
                                      <p:cBhvr>
                                        <p:cTn id="176" dur="1" fill="hold">
                                          <p:stCondLst>
                                            <p:cond delay="0"/>
                                          </p:stCondLst>
                                        </p:cTn>
                                        <p:tgtEl>
                                          <p:spTgt spid="57"/>
                                        </p:tgtEl>
                                        <p:attrNameLst>
                                          <p:attrName>style.visibility</p:attrName>
                                        </p:attrNameLst>
                                      </p:cBhvr>
                                      <p:to>
                                        <p:strVal val="visible"/>
                                      </p:to>
                                    </p:set>
                                    <p:animEffect transition="in" filter="fade">
                                      <p:cBhvr>
                                        <p:cTn id="177" dur="500"/>
                                        <p:tgtEl>
                                          <p:spTgt spid="57"/>
                                        </p:tgtEl>
                                      </p:cBhvr>
                                    </p:animEffect>
                                  </p:childTnLst>
                                </p:cTn>
                              </p:par>
                              <p:par>
                                <p:cTn id="178" presetID="10" presetClass="entr" presetSubtype="0" fill="hold" nodeType="withEffect">
                                  <p:stCondLst>
                                    <p:cond delay="0"/>
                                  </p:stCondLst>
                                  <p:childTnLst>
                                    <p:set>
                                      <p:cBhvr>
                                        <p:cTn id="179" dur="1" fill="hold">
                                          <p:stCondLst>
                                            <p:cond delay="0"/>
                                          </p:stCondLst>
                                        </p:cTn>
                                        <p:tgtEl>
                                          <p:spTgt spid="58"/>
                                        </p:tgtEl>
                                        <p:attrNameLst>
                                          <p:attrName>style.visibility</p:attrName>
                                        </p:attrNameLst>
                                      </p:cBhvr>
                                      <p:to>
                                        <p:strVal val="visible"/>
                                      </p:to>
                                    </p:set>
                                    <p:animEffect transition="in" filter="fade">
                                      <p:cBhvr>
                                        <p:cTn id="18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Control algorithm (runs on the ESP32)</a:t>
            </a:r>
            <a:endParaRPr lang="en-US" sz="2600" dirty="0"/>
          </a:p>
        </p:txBody>
      </p:sp>
      <p:sp>
        <p:nvSpPr>
          <p:cNvPr id="3" name="a1_node_167"/>
          <p:cNvSpPr/>
          <p:nvPr/>
        </p:nvSpPr>
        <p:spPr>
          <a:xfrm>
            <a:off x="457200" y="1234440"/>
            <a:ext cx="1234440" cy="868680"/>
          </a:xfrm>
          <a:prstGeom prst="roundRect">
            <a:avLst>
              <a:gd name="adj" fmla="val 10526"/>
            </a:avLst>
          </a:prstGeom>
          <a:solidFill>
            <a:srgbClr val="233A42"/>
          </a:solidFill>
          <a:ln w="19050">
            <a:solidFill>
              <a:srgbClr val="7CCFC7"/>
            </a:solidFill>
            <a:prstDash val="solid"/>
          </a:ln>
        </p:spPr>
      </p:sp>
      <p:sp>
        <p:nvSpPr>
          <p:cNvPr id="4" name="a1_txt_168"/>
          <p:cNvSpPr txBox="1"/>
          <p:nvPr/>
        </p:nvSpPr>
        <p:spPr>
          <a:xfrm>
            <a:off x="502920" y="1234440"/>
            <a:ext cx="1143000" cy="868680"/>
          </a:xfrm>
          <a:prstGeom prst="rect">
            <a:avLst/>
          </a:prstGeom>
          <a:noFill/>
          <a:ln/>
        </p:spPr>
        <p:txBody>
          <a:bodyPr wrap="square" lIns="0" tIns="0" rIns="0" bIns="0" rtlCol="0" anchor="ctr"/>
          <a:lstStyle/>
          <a:p>
            <a:pPr algn="ctr" indent="0" marL="0">
              <a:buNone/>
            </a:pPr>
            <a:r>
              <a:rPr lang="en-US" sz="1150" b="1" dirty="0">
                <a:solidFill>
                  <a:srgbClr val="7CCFC7"/>
                </a:solidFill>
                <a:latin typeface="Calibri" pitchFamily="34" charset="0"/>
                <a:ea typeface="Calibri" pitchFamily="34" charset="-122"/>
                <a:cs typeface="Calibri" pitchFamily="34" charset="-120"/>
              </a:rPr>
              <a:t>Read sensors</a:t>
            </a:r>
            <a:endParaRPr lang="en-US" sz="1150" dirty="0"/>
          </a:p>
          <a:p>
            <a:pPr algn="ctr" indent="0" marL="0">
              <a:buNone/>
            </a:pPr>
            <a:r>
              <a:rPr lang="en-US" sz="1150" b="1" dirty="0">
                <a:solidFill>
                  <a:srgbClr val="7CCFC7"/>
                </a:solidFill>
                <a:latin typeface="Calibri" pitchFamily="34" charset="0"/>
                <a:ea typeface="Calibri" pitchFamily="34" charset="-122"/>
                <a:cs typeface="Calibri" pitchFamily="34" charset="-120"/>
              </a:rPr>
              <a:t>(every 2 s)</a:t>
            </a:r>
            <a:endParaRPr lang="en-US" sz="1150" dirty="0"/>
          </a:p>
        </p:txBody>
      </p:sp>
      <p:sp>
        <p:nvSpPr>
          <p:cNvPr id="5" name="w2_arr_169"/>
          <p:cNvSpPr/>
          <p:nvPr/>
        </p:nvSpPr>
        <p:spPr>
          <a:xfrm>
            <a:off x="1709928" y="1668780"/>
            <a:ext cx="228600" cy="914"/>
          </a:xfrm>
          <a:prstGeom prst="line">
            <a:avLst/>
          </a:prstGeom>
          <a:noFill/>
          <a:ln w="22225">
            <a:solidFill>
              <a:srgbClr val="A3B8B3"/>
            </a:solidFill>
            <a:prstDash val="solid"/>
            <a:tailEnd type="triangle"/>
          </a:ln>
        </p:spPr>
      </p:sp>
      <p:sp>
        <p:nvSpPr>
          <p:cNvPr id="6" name="a2_node_170"/>
          <p:cNvSpPr/>
          <p:nvPr/>
        </p:nvSpPr>
        <p:spPr>
          <a:xfrm>
            <a:off x="1965960" y="1234440"/>
            <a:ext cx="1417320" cy="868680"/>
          </a:xfrm>
          <a:prstGeom prst="diamond">
            <a:avLst>
              <a:gd name="adj" fmla="val 10526"/>
            </a:avLst>
          </a:prstGeom>
          <a:solidFill>
            <a:srgbClr val="233A42"/>
          </a:solidFill>
          <a:ln w="19050">
            <a:solidFill>
              <a:srgbClr val="9BE7C4"/>
            </a:solidFill>
            <a:prstDash val="solid"/>
          </a:ln>
        </p:spPr>
      </p:sp>
      <p:sp>
        <p:nvSpPr>
          <p:cNvPr id="7" name="a2_txt_171"/>
          <p:cNvSpPr txBox="1"/>
          <p:nvPr/>
        </p:nvSpPr>
        <p:spPr>
          <a:xfrm>
            <a:off x="2011680" y="1234440"/>
            <a:ext cx="1325880" cy="868680"/>
          </a:xfrm>
          <a:prstGeom prst="rect">
            <a:avLst/>
          </a:prstGeom>
          <a:noFill/>
          <a:ln/>
        </p:spPr>
        <p:txBody>
          <a:bodyPr wrap="square" lIns="0" tIns="0" rIns="0" bIns="0" rtlCol="0" anchor="ctr"/>
          <a:lstStyle/>
          <a:p>
            <a:pPr algn="ctr" indent="0" marL="0">
              <a:buNone/>
            </a:pPr>
            <a:r>
              <a:rPr lang="en-US" sz="1150" b="1" dirty="0">
                <a:solidFill>
                  <a:srgbClr val="9BE7C4"/>
                </a:solidFill>
                <a:latin typeface="Calibri" pitchFamily="34" charset="0"/>
                <a:ea typeface="Calibri" pitchFamily="34" charset="-122"/>
                <a:cs typeface="Calibri" pitchFamily="34" charset="-120"/>
              </a:rPr>
              <a:t>Tank</a:t>
            </a:r>
            <a:endParaRPr lang="en-US" sz="1150" dirty="0"/>
          </a:p>
          <a:p>
            <a:pPr algn="ctr" indent="0" marL="0">
              <a:buNone/>
            </a:pPr>
            <a:r>
              <a:rPr lang="en-US" sz="1150" b="1" dirty="0">
                <a:solidFill>
                  <a:srgbClr val="9BE7C4"/>
                </a:solidFill>
                <a:latin typeface="Calibri" pitchFamily="34" charset="0"/>
                <a:ea typeface="Calibri" pitchFamily="34" charset="-122"/>
                <a:cs typeface="Calibri" pitchFamily="34" charset="-120"/>
              </a:rPr>
              <a:t>≤ 5%?</a:t>
            </a:r>
            <a:endParaRPr lang="en-US" sz="1150" dirty="0"/>
          </a:p>
        </p:txBody>
      </p:sp>
      <p:sp>
        <p:nvSpPr>
          <p:cNvPr id="8" name="w3_arr_172"/>
          <p:cNvSpPr/>
          <p:nvPr/>
        </p:nvSpPr>
        <p:spPr>
          <a:xfrm>
            <a:off x="3401568" y="1668780"/>
            <a:ext cx="228600" cy="914"/>
          </a:xfrm>
          <a:prstGeom prst="line">
            <a:avLst/>
          </a:prstGeom>
          <a:noFill/>
          <a:ln w="22225">
            <a:solidFill>
              <a:srgbClr val="A3B8B3"/>
            </a:solidFill>
            <a:prstDash val="solid"/>
            <a:tailEnd type="triangle"/>
          </a:ln>
        </p:spPr>
      </p:sp>
      <p:sp>
        <p:nvSpPr>
          <p:cNvPr id="9" name="a3_node_173"/>
          <p:cNvSpPr/>
          <p:nvPr/>
        </p:nvSpPr>
        <p:spPr>
          <a:xfrm>
            <a:off x="3657600" y="1234440"/>
            <a:ext cx="1417320" cy="868680"/>
          </a:xfrm>
          <a:prstGeom prst="diamond">
            <a:avLst>
              <a:gd name="adj" fmla="val 10526"/>
            </a:avLst>
          </a:prstGeom>
          <a:solidFill>
            <a:srgbClr val="233A42"/>
          </a:solidFill>
          <a:ln w="19050">
            <a:solidFill>
              <a:srgbClr val="EDA265"/>
            </a:solidFill>
            <a:prstDash val="solid"/>
          </a:ln>
        </p:spPr>
      </p:sp>
      <p:sp>
        <p:nvSpPr>
          <p:cNvPr id="10" name="a3_txt_174"/>
          <p:cNvSpPr txBox="1"/>
          <p:nvPr/>
        </p:nvSpPr>
        <p:spPr>
          <a:xfrm>
            <a:off x="3703320" y="1234440"/>
            <a:ext cx="1325880" cy="868680"/>
          </a:xfrm>
          <a:prstGeom prst="rect">
            <a:avLst/>
          </a:prstGeom>
          <a:noFill/>
          <a:ln/>
        </p:spPr>
        <p:txBody>
          <a:bodyPr wrap="square" lIns="0" tIns="0" rIns="0" bIns="0" rtlCol="0" anchor="ctr"/>
          <a:lstStyle/>
          <a:p>
            <a:pPr algn="ctr" indent="0" marL="0">
              <a:buNone/>
            </a:pPr>
            <a:r>
              <a:rPr lang="en-US" sz="1150" b="1" dirty="0">
                <a:solidFill>
                  <a:srgbClr val="EDA265"/>
                </a:solidFill>
                <a:latin typeface="Calibri" pitchFamily="34" charset="0"/>
                <a:ea typeface="Calibri" pitchFamily="34" charset="-122"/>
                <a:cs typeface="Calibri" pitchFamily="34" charset="-120"/>
              </a:rPr>
              <a:t>Moisture</a:t>
            </a:r>
            <a:endParaRPr lang="en-US" sz="1150" dirty="0"/>
          </a:p>
          <a:p>
            <a:pPr algn="ctr" indent="0" marL="0">
              <a:buNone/>
            </a:pPr>
            <a:r>
              <a:rPr lang="en-US" sz="1150" b="1" dirty="0">
                <a:solidFill>
                  <a:srgbClr val="EDA265"/>
                </a:solidFill>
                <a:latin typeface="Calibri" pitchFamily="34" charset="0"/>
                <a:ea typeface="Calibri" pitchFamily="34" charset="-122"/>
                <a:cs typeface="Calibri" pitchFamily="34" charset="-120"/>
              </a:rPr>
              <a:t>≥ 60%?</a:t>
            </a:r>
            <a:endParaRPr lang="en-US" sz="1150" dirty="0"/>
          </a:p>
        </p:txBody>
      </p:sp>
      <p:sp>
        <p:nvSpPr>
          <p:cNvPr id="11" name="w4_arr_175"/>
          <p:cNvSpPr/>
          <p:nvPr/>
        </p:nvSpPr>
        <p:spPr>
          <a:xfrm>
            <a:off x="5093208" y="1668780"/>
            <a:ext cx="228600" cy="914"/>
          </a:xfrm>
          <a:prstGeom prst="line">
            <a:avLst/>
          </a:prstGeom>
          <a:noFill/>
          <a:ln w="22225">
            <a:solidFill>
              <a:srgbClr val="A3B8B3"/>
            </a:solidFill>
            <a:prstDash val="solid"/>
            <a:tailEnd type="triangle"/>
          </a:ln>
        </p:spPr>
      </p:sp>
      <p:sp>
        <p:nvSpPr>
          <p:cNvPr id="12" name="a4_node_176"/>
          <p:cNvSpPr/>
          <p:nvPr/>
        </p:nvSpPr>
        <p:spPr>
          <a:xfrm>
            <a:off x="5349240" y="1234440"/>
            <a:ext cx="1600200" cy="868680"/>
          </a:xfrm>
          <a:prstGeom prst="diamond">
            <a:avLst>
              <a:gd name="adj" fmla="val 10526"/>
            </a:avLst>
          </a:prstGeom>
          <a:solidFill>
            <a:srgbClr val="233A42"/>
          </a:solidFill>
          <a:ln w="19050">
            <a:solidFill>
              <a:srgbClr val="6CC08B"/>
            </a:solidFill>
            <a:prstDash val="solid"/>
          </a:ln>
        </p:spPr>
      </p:sp>
      <p:sp>
        <p:nvSpPr>
          <p:cNvPr id="13" name="a4_txt_177"/>
          <p:cNvSpPr txBox="1"/>
          <p:nvPr/>
        </p:nvSpPr>
        <p:spPr>
          <a:xfrm>
            <a:off x="5394960" y="1234440"/>
            <a:ext cx="1508760" cy="868680"/>
          </a:xfrm>
          <a:prstGeom prst="rect">
            <a:avLst/>
          </a:prstGeom>
          <a:noFill/>
          <a:ln/>
        </p:spPr>
        <p:txBody>
          <a:bodyPr wrap="square" lIns="0" tIns="0" rIns="0" bIns="0" rtlCol="0" anchor="ctr"/>
          <a:lstStyle/>
          <a:p>
            <a:pPr algn="ctr" indent="0" marL="0">
              <a:buNone/>
            </a:pPr>
            <a:r>
              <a:rPr lang="en-US" sz="1150" b="1" dirty="0">
                <a:solidFill>
                  <a:srgbClr val="6CC08B"/>
                </a:solidFill>
                <a:latin typeface="Calibri" pitchFamily="34" charset="0"/>
                <a:ea typeface="Calibri" pitchFamily="34" charset="-122"/>
                <a:cs typeface="Calibri" pitchFamily="34" charset="-120"/>
              </a:rPr>
              <a:t>Auto, settled</a:t>
            </a:r>
            <a:endParaRPr lang="en-US" sz="1150" dirty="0"/>
          </a:p>
          <a:p>
            <a:pPr algn="ctr" indent="0" marL="0">
              <a:buNone/>
            </a:pPr>
            <a:r>
              <a:rPr lang="en-US" sz="1150" b="1" dirty="0">
                <a:solidFill>
                  <a:srgbClr val="6CC08B"/>
                </a:solidFill>
                <a:latin typeface="Calibri" pitchFamily="34" charset="0"/>
                <a:ea typeface="Calibri" pitchFamily="34" charset="-122"/>
                <a:cs typeface="Calibri" pitchFamily="34" charset="-120"/>
              </a:rPr>
              <a:t>and &lt; 30%?</a:t>
            </a:r>
            <a:endParaRPr lang="en-US" sz="1150" dirty="0"/>
          </a:p>
        </p:txBody>
      </p:sp>
      <p:sp>
        <p:nvSpPr>
          <p:cNvPr id="14" name="w5_arr_178"/>
          <p:cNvSpPr/>
          <p:nvPr/>
        </p:nvSpPr>
        <p:spPr>
          <a:xfrm>
            <a:off x="6967728" y="1668780"/>
            <a:ext cx="228600" cy="914"/>
          </a:xfrm>
          <a:prstGeom prst="line">
            <a:avLst/>
          </a:prstGeom>
          <a:noFill/>
          <a:ln w="22225">
            <a:solidFill>
              <a:srgbClr val="6CC08B"/>
            </a:solidFill>
            <a:prstDash val="solid"/>
            <a:tailEnd type="triangle"/>
          </a:ln>
        </p:spPr>
      </p:sp>
      <p:sp>
        <p:nvSpPr>
          <p:cNvPr id="15" name="a5_node_179"/>
          <p:cNvSpPr/>
          <p:nvPr/>
        </p:nvSpPr>
        <p:spPr>
          <a:xfrm>
            <a:off x="7223760" y="1234440"/>
            <a:ext cx="1463040" cy="868680"/>
          </a:xfrm>
          <a:prstGeom prst="roundRect">
            <a:avLst>
              <a:gd name="adj" fmla="val 10526"/>
            </a:avLst>
          </a:prstGeom>
          <a:solidFill>
            <a:srgbClr val="233A42"/>
          </a:solidFill>
          <a:ln w="19050">
            <a:solidFill>
              <a:srgbClr val="6CC08B"/>
            </a:solidFill>
            <a:prstDash val="solid"/>
          </a:ln>
        </p:spPr>
      </p:sp>
      <p:sp>
        <p:nvSpPr>
          <p:cNvPr id="16" name="a5_txt_180"/>
          <p:cNvSpPr txBox="1"/>
          <p:nvPr/>
        </p:nvSpPr>
        <p:spPr>
          <a:xfrm>
            <a:off x="7269480" y="1234440"/>
            <a:ext cx="1371600" cy="868680"/>
          </a:xfrm>
          <a:prstGeom prst="rect">
            <a:avLst/>
          </a:prstGeom>
          <a:noFill/>
          <a:ln/>
        </p:spPr>
        <p:txBody>
          <a:bodyPr wrap="square" lIns="0" tIns="0" rIns="0" bIns="0" rtlCol="0" anchor="ctr"/>
          <a:lstStyle/>
          <a:p>
            <a:pPr algn="ctr" indent="0" marL="0">
              <a:buNone/>
            </a:pPr>
            <a:r>
              <a:rPr lang="en-US" sz="1150" b="1" dirty="0">
                <a:solidFill>
                  <a:srgbClr val="6CC08B"/>
                </a:solidFill>
                <a:latin typeface="Calibri" pitchFamily="34" charset="0"/>
                <a:ea typeface="Calibri" pitchFamily="34" charset="-122"/>
                <a:cs typeface="Calibri" pitchFamily="34" charset="-120"/>
              </a:rPr>
              <a:t>Pump burst</a:t>
            </a:r>
            <a:endParaRPr lang="en-US" sz="1150" dirty="0"/>
          </a:p>
          <a:p>
            <a:pPr algn="ctr" indent="0" marL="0">
              <a:buNone/>
            </a:pPr>
            <a:r>
              <a:rPr lang="en-US" sz="1150" b="1" dirty="0">
                <a:solidFill>
                  <a:srgbClr val="6CC08B"/>
                </a:solidFill>
                <a:latin typeface="Calibri" pitchFamily="34" charset="0"/>
                <a:ea typeface="Calibri" pitchFamily="34" charset="-122"/>
                <a:cs typeface="Calibri" pitchFamily="34" charset="-120"/>
              </a:rPr>
              <a:t>6 s</a:t>
            </a:r>
            <a:endParaRPr lang="en-US" sz="1150" dirty="0"/>
          </a:p>
        </p:txBody>
      </p:sp>
      <p:sp>
        <p:nvSpPr>
          <p:cNvPr id="17" name="a3_txt_181"/>
          <p:cNvSpPr txBox="1"/>
          <p:nvPr/>
        </p:nvSpPr>
        <p:spPr>
          <a:xfrm>
            <a:off x="3383280" y="1371600"/>
            <a:ext cx="274320" cy="182880"/>
          </a:xfrm>
          <a:prstGeom prst="rect">
            <a:avLst/>
          </a:prstGeom>
          <a:noFill/>
          <a:ln/>
        </p:spPr>
        <p:txBody>
          <a:bodyPr wrap="square" lIns="0" tIns="0" rIns="0" bIns="0" rtlCol="0" anchor="t"/>
          <a:lstStyle/>
          <a:p>
            <a:pPr indent="0" marL="0">
              <a:buNone/>
            </a:pPr>
            <a:r>
              <a:rPr lang="en-US" sz="900" dirty="0">
                <a:solidFill>
                  <a:srgbClr val="A3B8B3"/>
                </a:solidFill>
                <a:latin typeface="Calibri" pitchFamily="34" charset="0"/>
                <a:ea typeface="Calibri" pitchFamily="34" charset="-122"/>
                <a:cs typeface="Calibri" pitchFamily="34" charset="-120"/>
              </a:rPr>
              <a:t>no</a:t>
            </a:r>
            <a:endParaRPr lang="en-US" sz="900" dirty="0"/>
          </a:p>
        </p:txBody>
      </p:sp>
      <p:sp>
        <p:nvSpPr>
          <p:cNvPr id="18" name="a4_txt_182"/>
          <p:cNvSpPr txBox="1"/>
          <p:nvPr/>
        </p:nvSpPr>
        <p:spPr>
          <a:xfrm>
            <a:off x="5074920" y="1371600"/>
            <a:ext cx="274320" cy="182880"/>
          </a:xfrm>
          <a:prstGeom prst="rect">
            <a:avLst/>
          </a:prstGeom>
          <a:noFill/>
          <a:ln/>
        </p:spPr>
        <p:txBody>
          <a:bodyPr wrap="square" lIns="0" tIns="0" rIns="0" bIns="0" rtlCol="0" anchor="t"/>
          <a:lstStyle/>
          <a:p>
            <a:pPr indent="0" marL="0">
              <a:buNone/>
            </a:pPr>
            <a:r>
              <a:rPr lang="en-US" sz="900" dirty="0">
                <a:solidFill>
                  <a:srgbClr val="A3B8B3"/>
                </a:solidFill>
                <a:latin typeface="Calibri" pitchFamily="34" charset="0"/>
                <a:ea typeface="Calibri" pitchFamily="34" charset="-122"/>
                <a:cs typeface="Calibri" pitchFamily="34" charset="-120"/>
              </a:rPr>
              <a:t>no</a:t>
            </a:r>
            <a:endParaRPr lang="en-US" sz="900" dirty="0"/>
          </a:p>
        </p:txBody>
      </p:sp>
      <p:sp>
        <p:nvSpPr>
          <p:cNvPr id="19" name="a5_txt_183"/>
          <p:cNvSpPr txBox="1"/>
          <p:nvPr/>
        </p:nvSpPr>
        <p:spPr>
          <a:xfrm>
            <a:off x="6949440" y="1371600"/>
            <a:ext cx="274320" cy="182880"/>
          </a:xfrm>
          <a:prstGeom prst="rect">
            <a:avLst/>
          </a:prstGeom>
          <a:noFill/>
          <a:ln/>
        </p:spPr>
        <p:txBody>
          <a:bodyPr wrap="square" lIns="0" tIns="0" rIns="0" bIns="0" rtlCol="0" anchor="t"/>
          <a:lstStyle/>
          <a:p>
            <a:pPr indent="0" marL="0">
              <a:buNone/>
            </a:pPr>
            <a:r>
              <a:rPr lang="en-US" sz="900" dirty="0">
                <a:solidFill>
                  <a:srgbClr val="6CC08B"/>
                </a:solidFill>
                <a:latin typeface="Calibri" pitchFamily="34" charset="0"/>
                <a:ea typeface="Calibri" pitchFamily="34" charset="-122"/>
                <a:cs typeface="Calibri" pitchFamily="34" charset="-120"/>
              </a:rPr>
              <a:t>yes</a:t>
            </a:r>
            <a:endParaRPr lang="en-US" sz="900" dirty="0"/>
          </a:p>
        </p:txBody>
      </p:sp>
      <p:sp>
        <p:nvSpPr>
          <p:cNvPr id="20" name="a6_stop_184"/>
          <p:cNvSpPr/>
          <p:nvPr/>
        </p:nvSpPr>
        <p:spPr>
          <a:xfrm>
            <a:off x="2377440" y="2606040"/>
            <a:ext cx="2331720" cy="502920"/>
          </a:xfrm>
          <a:prstGeom prst="roundRect">
            <a:avLst>
              <a:gd name="adj" fmla="val 14545"/>
            </a:avLst>
          </a:prstGeom>
          <a:solidFill>
            <a:srgbClr val="E5736B">
              <a:alpha val="25000"/>
            </a:srgbClr>
          </a:solidFill>
          <a:ln w="15875">
            <a:solidFill>
              <a:srgbClr val="E5736B"/>
            </a:solidFill>
            <a:prstDash val="solid"/>
          </a:ln>
        </p:spPr>
      </p:sp>
      <p:sp>
        <p:nvSpPr>
          <p:cNvPr id="21" name="a6_txt_185"/>
          <p:cNvSpPr txBox="1"/>
          <p:nvPr/>
        </p:nvSpPr>
        <p:spPr>
          <a:xfrm>
            <a:off x="2377440" y="2606040"/>
            <a:ext cx="2331720" cy="502920"/>
          </a:xfrm>
          <a:prstGeom prst="rect">
            <a:avLst/>
          </a:prstGeom>
          <a:noFill/>
          <a:ln/>
        </p:spPr>
        <p:txBody>
          <a:bodyPr wrap="square" lIns="0" tIns="0" rIns="0" bIns="0" rtlCol="0" anchor="ctr"/>
          <a:lstStyle/>
          <a:p>
            <a:pPr algn="ctr" indent="0" marL="0">
              <a:buNone/>
            </a:pPr>
            <a:r>
              <a:rPr lang="en-US" sz="1200" b="1" dirty="0">
                <a:solidFill>
                  <a:srgbClr val="E5736B"/>
                </a:solidFill>
                <a:latin typeface="Calibri" pitchFamily="34" charset="0"/>
                <a:ea typeface="Calibri" pitchFamily="34" charset="-122"/>
                <a:cs typeface="Calibri" pitchFamily="34" charset="-120"/>
              </a:rPr>
              <a:t>STOP / LOCK PUMP</a:t>
            </a:r>
            <a:endParaRPr lang="en-US" sz="1200" dirty="0"/>
          </a:p>
        </p:txBody>
      </p:sp>
      <p:sp>
        <p:nvSpPr>
          <p:cNvPr id="22" name="w6_arr_186"/>
          <p:cNvSpPr/>
          <p:nvPr/>
        </p:nvSpPr>
        <p:spPr>
          <a:xfrm>
            <a:off x="2670048" y="2103120"/>
            <a:ext cx="914" cy="484632"/>
          </a:xfrm>
          <a:prstGeom prst="line">
            <a:avLst/>
          </a:prstGeom>
          <a:noFill/>
          <a:ln w="22225">
            <a:solidFill>
              <a:srgbClr val="E5736B"/>
            </a:solidFill>
            <a:prstDash val="solid"/>
            <a:tailEnd type="triangle"/>
          </a:ln>
        </p:spPr>
      </p:sp>
      <p:sp>
        <p:nvSpPr>
          <p:cNvPr id="23" name="w6_arr_187"/>
          <p:cNvSpPr/>
          <p:nvPr/>
        </p:nvSpPr>
        <p:spPr>
          <a:xfrm>
            <a:off x="4361688" y="2103120"/>
            <a:ext cx="914" cy="484632"/>
          </a:xfrm>
          <a:prstGeom prst="line">
            <a:avLst/>
          </a:prstGeom>
          <a:noFill/>
          <a:ln w="22225">
            <a:solidFill>
              <a:srgbClr val="E5736B"/>
            </a:solidFill>
            <a:prstDash val="solid"/>
            <a:tailEnd type="triangle"/>
          </a:ln>
        </p:spPr>
      </p:sp>
      <p:sp>
        <p:nvSpPr>
          <p:cNvPr id="24" name="a6_txt_188"/>
          <p:cNvSpPr txBox="1"/>
          <p:nvPr/>
        </p:nvSpPr>
        <p:spPr>
          <a:xfrm>
            <a:off x="2715768" y="2194560"/>
            <a:ext cx="274320" cy="182880"/>
          </a:xfrm>
          <a:prstGeom prst="rect">
            <a:avLst/>
          </a:prstGeom>
          <a:noFill/>
          <a:ln/>
        </p:spPr>
        <p:txBody>
          <a:bodyPr wrap="square" lIns="0" tIns="0" rIns="0" bIns="0" rtlCol="0" anchor="t"/>
          <a:lstStyle/>
          <a:p>
            <a:pPr indent="0" marL="0">
              <a:buNone/>
            </a:pPr>
            <a:r>
              <a:rPr lang="en-US" sz="900" dirty="0">
                <a:solidFill>
                  <a:srgbClr val="E5736B"/>
                </a:solidFill>
                <a:latin typeface="Calibri" pitchFamily="34" charset="0"/>
                <a:ea typeface="Calibri" pitchFamily="34" charset="-122"/>
                <a:cs typeface="Calibri" pitchFamily="34" charset="-120"/>
              </a:rPr>
              <a:t>yes</a:t>
            </a:r>
            <a:endParaRPr lang="en-US" sz="900" dirty="0"/>
          </a:p>
        </p:txBody>
      </p:sp>
      <p:sp>
        <p:nvSpPr>
          <p:cNvPr id="25" name="a6_txt_189"/>
          <p:cNvSpPr txBox="1"/>
          <p:nvPr/>
        </p:nvSpPr>
        <p:spPr>
          <a:xfrm>
            <a:off x="4407408" y="2194560"/>
            <a:ext cx="274320" cy="182880"/>
          </a:xfrm>
          <a:prstGeom prst="rect">
            <a:avLst/>
          </a:prstGeom>
          <a:noFill/>
          <a:ln/>
        </p:spPr>
        <p:txBody>
          <a:bodyPr wrap="square" lIns="0" tIns="0" rIns="0" bIns="0" rtlCol="0" anchor="t"/>
          <a:lstStyle/>
          <a:p>
            <a:pPr indent="0" marL="0">
              <a:buNone/>
            </a:pPr>
            <a:r>
              <a:rPr lang="en-US" sz="900" dirty="0">
                <a:solidFill>
                  <a:srgbClr val="E5736B"/>
                </a:solidFill>
                <a:latin typeface="Calibri" pitchFamily="34" charset="0"/>
                <a:ea typeface="Calibri" pitchFamily="34" charset="-122"/>
                <a:cs typeface="Calibri" pitchFamily="34" charset="-120"/>
              </a:rPr>
              <a:t>yes</a:t>
            </a:r>
            <a:endParaRPr lang="en-US" sz="900" dirty="0"/>
          </a:p>
        </p:txBody>
      </p:sp>
      <p:sp>
        <p:nvSpPr>
          <p:cNvPr id="26" name="a7_wait_190"/>
          <p:cNvSpPr/>
          <p:nvPr/>
        </p:nvSpPr>
        <p:spPr>
          <a:xfrm>
            <a:off x="5989320" y="2606040"/>
            <a:ext cx="2697480" cy="502920"/>
          </a:xfrm>
          <a:prstGeom prst="roundRect">
            <a:avLst>
              <a:gd name="adj" fmla="val 14545"/>
            </a:avLst>
          </a:prstGeom>
          <a:solidFill>
            <a:srgbClr val="233A42"/>
          </a:solidFill>
          <a:ln w="15875">
            <a:solidFill>
              <a:srgbClr val="7CCFC7"/>
            </a:solidFill>
            <a:prstDash val="solid"/>
          </a:ln>
        </p:spPr>
      </p:sp>
      <p:sp>
        <p:nvSpPr>
          <p:cNvPr id="27" name="a7_txt_191"/>
          <p:cNvSpPr txBox="1"/>
          <p:nvPr/>
        </p:nvSpPr>
        <p:spPr>
          <a:xfrm>
            <a:off x="5989320" y="2606040"/>
            <a:ext cx="2697480" cy="502920"/>
          </a:xfrm>
          <a:prstGeom prst="rect">
            <a:avLst/>
          </a:prstGeom>
          <a:noFill/>
          <a:ln/>
        </p:spPr>
        <p:txBody>
          <a:bodyPr wrap="square" lIns="0" tIns="0" rIns="0" bIns="0" rtlCol="0" anchor="ctr"/>
          <a:lstStyle/>
          <a:p>
            <a:pPr algn="ctr" indent="0" marL="0">
              <a:buNone/>
            </a:pPr>
            <a:r>
              <a:rPr lang="en-US" sz="1200" b="1" dirty="0">
                <a:solidFill>
                  <a:srgbClr val="7CCFC7"/>
                </a:solidFill>
                <a:latin typeface="Calibri" pitchFamily="34" charset="0"/>
                <a:ea typeface="Calibri" pitchFamily="34" charset="-122"/>
                <a:cs typeface="Calibri" pitchFamily="34" charset="-120"/>
              </a:rPr>
              <a:t>Wait 20 s, then recheck</a:t>
            </a:r>
            <a:endParaRPr lang="en-US" sz="1200" dirty="0"/>
          </a:p>
        </p:txBody>
      </p:sp>
      <p:sp>
        <p:nvSpPr>
          <p:cNvPr id="28" name="w7_arr_192"/>
          <p:cNvSpPr/>
          <p:nvPr/>
        </p:nvSpPr>
        <p:spPr>
          <a:xfrm>
            <a:off x="7955280" y="2103120"/>
            <a:ext cx="914" cy="484632"/>
          </a:xfrm>
          <a:prstGeom prst="line">
            <a:avLst/>
          </a:prstGeom>
          <a:noFill/>
          <a:ln w="22225">
            <a:solidFill>
              <a:srgbClr val="7CCFC7"/>
            </a:solidFill>
            <a:prstDash val="solid"/>
            <a:tailEnd type="triangle"/>
          </a:ln>
        </p:spPr>
      </p:sp>
      <p:sp>
        <p:nvSpPr>
          <p:cNvPr id="29" name="a7_txt_193"/>
          <p:cNvSpPr txBox="1"/>
          <p:nvPr/>
        </p:nvSpPr>
        <p:spPr>
          <a:xfrm>
            <a:off x="5989320" y="3127248"/>
            <a:ext cx="2697480" cy="228600"/>
          </a:xfrm>
          <a:prstGeom prst="rect">
            <a:avLst/>
          </a:prstGeom>
          <a:noFill/>
          <a:ln/>
        </p:spPr>
        <p:txBody>
          <a:bodyPr wrap="square" lIns="0" tIns="0" rIns="0" bIns="0" rtlCol="0" anchor="t"/>
          <a:lstStyle/>
          <a:p>
            <a:pPr algn="ctr" indent="0" marL="0">
              <a:buNone/>
            </a:pPr>
            <a:r>
              <a:rPr lang="en-US" sz="1000" dirty="0">
                <a:solidFill>
                  <a:srgbClr val="A3B8B3"/>
                </a:solidFill>
                <a:latin typeface="Calibri" pitchFamily="34" charset="0"/>
                <a:ea typeface="Calibri" pitchFamily="34" charset="-122"/>
                <a:cs typeface="Calibri" pitchFamily="34" charset="-120"/>
              </a:rPr>
              <a:t>↺  loop back to Read</a:t>
            </a:r>
            <a:endParaRPr lang="en-US" sz="1000" dirty="0"/>
          </a:p>
        </p:txBody>
      </p:sp>
      <p:graphicFrame>
        <p:nvGraphicFramePr>
          <p:cNvPr id="10" name="a8_params_194"/>
          <p:cNvGraphicFramePr>
            <a:graphicFrameLocks noGrp="1"/>
          </p:cNvGraphicFramePr>
          <p:nvPr>
            <p:extLst>
              <p:ext uri="{D42A27DB-BD31-4B8C-83A1-F6EECF244321}">
                <p14:modId xmlns:p14="http://schemas.microsoft.com/office/powerpoint/2010/main" val="1579011935"/>
              </p:ext>
            </p:extLst>
          </p:nvPr>
        </p:nvGraphicFramePr>
        <p:xfrm>
          <a:off x="457200" y="3520440"/>
          <a:ext cx="8229600" cy="914400"/>
        </p:xfrm>
        <a:graphic>
          <a:graphicData uri="http://schemas.openxmlformats.org/drawingml/2006/table">
            <a:tbl>
              <a:tblPr/>
              <a:tblGrid>
                <a:gridCol w="2377440"/>
                <a:gridCol w="1737360"/>
                <a:gridCol w="2377440"/>
                <a:gridCol w="1737360"/>
              </a:tblGrid>
              <a:tr h="301752">
                <a:tc>
                  <a:txBody>
                    <a:bodyPr/>
                    <a:lstStyle/>
                    <a:p>
                      <a:pPr indent="0" marL="0">
                        <a:buNone/>
                      </a:pPr>
                      <a:r>
                        <a:rPr lang="en-US" sz="1200" dirty="0">
                          <a:solidFill>
                            <a:srgbClr val="E8F1EE"/>
                          </a:solidFill>
                          <a:latin typeface="Calibri" pitchFamily="34" charset="0"/>
                          <a:ea typeface="Calibri" pitchFamily="34" charset="-122"/>
                          <a:cs typeface="Calibri" pitchFamily="34" charset="-120"/>
                        </a:rPr>
                        <a:t>Watering threshold</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b="1" dirty="0">
                          <a:solidFill>
                            <a:srgbClr val="9BE7C4"/>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dirty="0">
                          <a:solidFill>
                            <a:srgbClr val="E8F1EE"/>
                          </a:solidFill>
                          <a:latin typeface="Calibri" pitchFamily="34" charset="0"/>
                          <a:ea typeface="Calibri" pitchFamily="34" charset="-122"/>
                          <a:cs typeface="Calibri" pitchFamily="34" charset="-120"/>
                        </a:rPr>
                        <a:t>Overwatering limit</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b="1" dirty="0">
                          <a:solidFill>
                            <a:srgbClr val="9BE7C4"/>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r h="301752">
                <a:tc>
                  <a:txBody>
                    <a:bodyPr/>
                    <a:lstStyle/>
                    <a:p>
                      <a:pPr indent="0" marL="0">
                        <a:buNone/>
                      </a:pPr>
                      <a:r>
                        <a:rPr lang="en-US" sz="1200" dirty="0">
                          <a:solidFill>
                            <a:srgbClr val="E8F1EE"/>
                          </a:solidFill>
                          <a:latin typeface="Calibri" pitchFamily="34" charset="0"/>
                          <a:ea typeface="Calibri" pitchFamily="34" charset="-122"/>
                          <a:cs typeface="Calibri" pitchFamily="34" charset="-120"/>
                        </a:rPr>
                        <a:t>Burst / recheck wait</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b="1" dirty="0">
                          <a:solidFill>
                            <a:srgbClr val="9BE7C4"/>
                          </a:solidFill>
                          <a:latin typeface="Calibri" pitchFamily="34" charset="0"/>
                          <a:ea typeface="Calibri" pitchFamily="34" charset="-122"/>
                          <a:cs typeface="Calibri" pitchFamily="34" charset="-120"/>
                        </a:rPr>
                        <a:t>6 s / 20 s</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dirty="0">
                          <a:solidFill>
                            <a:srgbClr val="E8F1EE"/>
                          </a:solidFill>
                          <a:latin typeface="Calibri" pitchFamily="34" charset="0"/>
                          <a:ea typeface="Calibri" pitchFamily="34" charset="-122"/>
                          <a:cs typeface="Calibri" pitchFamily="34" charset="-120"/>
                        </a:rPr>
                        <a:t>Manual run limit</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b="1" dirty="0">
                          <a:solidFill>
                            <a:srgbClr val="9BE7C4"/>
                          </a:solidFill>
                          <a:latin typeface="Calibri" pitchFamily="34" charset="0"/>
                          <a:ea typeface="Calibri" pitchFamily="34" charset="-122"/>
                          <a:cs typeface="Calibri" pitchFamily="34" charset="-120"/>
                        </a:rPr>
                        <a:t>15 s</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r h="301752">
                <a:tc>
                  <a:txBody>
                    <a:bodyPr/>
                    <a:lstStyle/>
                    <a:p>
                      <a:pPr indent="0" marL="0">
                        <a:buNone/>
                      </a:pPr>
                      <a:r>
                        <a:rPr lang="en-US" sz="1200" dirty="0">
                          <a:solidFill>
                            <a:srgbClr val="E8F1EE"/>
                          </a:solidFill>
                          <a:latin typeface="Calibri" pitchFamily="34" charset="0"/>
                          <a:ea typeface="Calibri" pitchFamily="34" charset="-122"/>
                          <a:cs typeface="Calibri" pitchFamily="34" charset="-120"/>
                        </a:rPr>
                        <a:t>Hard max run (failsafe)</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b="1" dirty="0">
                          <a:solidFill>
                            <a:srgbClr val="9BE7C4"/>
                          </a:solidFill>
                          <a:latin typeface="Calibri" pitchFamily="34" charset="0"/>
                          <a:ea typeface="Calibri" pitchFamily="34" charset="-122"/>
                          <a:cs typeface="Calibri" pitchFamily="34" charset="-120"/>
                        </a:rPr>
                        <a:t>60 s</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dirty="0">
                          <a:solidFill>
                            <a:srgbClr val="E8F1EE"/>
                          </a:solidFill>
                          <a:latin typeface="Calibri" pitchFamily="34" charset="0"/>
                          <a:ea typeface="Calibri" pitchFamily="34" charset="-122"/>
                          <a:cs typeface="Calibri" pitchFamily="34" charset="-120"/>
                        </a:rPr>
                        <a:t>Offline → local auto</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c>
                  <a:txBody>
                    <a:bodyPr/>
                    <a:lstStyle/>
                    <a:p>
                      <a:pPr indent="0" marL="0">
                        <a:buNone/>
                      </a:pPr>
                      <a:r>
                        <a:rPr lang="en-US" sz="1200" b="1" dirty="0">
                          <a:solidFill>
                            <a:srgbClr val="9BE7C4"/>
                          </a:solidFill>
                          <a:latin typeface="Calibri" pitchFamily="34" charset="0"/>
                          <a:ea typeface="Calibri" pitchFamily="34" charset="-122"/>
                          <a:cs typeface="Calibri" pitchFamily="34" charset="-120"/>
                        </a:rPr>
                        <a:t>after 60 s</a:t>
                      </a:r>
                      <a:endParaRPr lang="en-US" sz="1200" dirty="0">
                        <a:latin typeface="Calibri" charset="0"/>
                        <a:ea typeface="Calibri" charset="0"/>
                        <a:cs typeface="Calibri" charset="0"/>
                      </a:endParaRPr>
                    </a:p>
                  </a:txBody>
                  <a:tcPr marL="101600" marR="101600" marT="38100" marB="38100" anchor="ctr">
                    <a:lnL w="6350" cap="flat" cmpd="sng" algn="ctr">
                      <a:solidFill>
                        <a:srgbClr val="35505A"/>
                      </a:solidFill>
                      <a:prstDash val="solid"/>
                      <a:round/>
                      <a:headEnd type="none" w="med" len="med"/>
                      <a:tailEnd type="none" w="med" len="med"/>
                    </a:lnL>
                    <a:lnR w="6350" cap="flat" cmpd="sng" algn="ctr">
                      <a:solidFill>
                        <a:srgbClr val="35505A"/>
                      </a:solidFill>
                      <a:prstDash val="solid"/>
                      <a:round/>
                      <a:headEnd type="none" w="med" len="med"/>
                      <a:tailEnd type="none" w="med" len="med"/>
                    </a:lnR>
                    <a:lnT w="6350" cap="flat" cmpd="sng" algn="ctr">
                      <a:solidFill>
                        <a:srgbClr val="35505A"/>
                      </a:solidFill>
                      <a:prstDash val="solid"/>
                      <a:round/>
                      <a:headEnd type="none" w="med" len="med"/>
                      <a:tailEnd type="none" w="med" len="med"/>
                    </a:lnT>
                    <a:lnB w="6350" cap="flat" cmpd="sng" algn="ctr">
                      <a:solidFill>
                        <a:srgbClr val="35505A"/>
                      </a:solidFill>
                      <a:prstDash val="solid"/>
                      <a:round/>
                      <a:headEnd type="none" w="med" len="med"/>
                      <a:tailEnd type="none" w="med" len="med"/>
                    </a:lnB>
                    <a:solidFill>
                      <a:srgbClr val="1C2F36"/>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9</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350"/>
                            </p:stCondLst>
                            <p:childTnLst>
                              <p:par>
                                <p:cTn id="12" presetID="22" presetClass="entr" presetSubtype="8"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7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childTnLst>
                          </p:cTn>
                        </p:par>
                        <p:par>
                          <p:cTn id="34" fill="hold">
                            <p:stCondLst>
                              <p:cond delay="1050"/>
                            </p:stCondLst>
                            <p:childTnLst>
                              <p:par>
                                <p:cTn id="35" presetID="22" presetClass="entr" presetSubtype="8" fill="hold"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par>
                                <p:cTn id="38" presetID="10"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par>
                          <p:cTn id="47" fill="hold">
                            <p:stCondLst>
                              <p:cond delay="1400"/>
                            </p:stCondLst>
                            <p:childTnLst>
                              <p:par>
                                <p:cTn id="48" presetID="22" presetClass="entr" presetSubtype="8"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par>
                                <p:cTn id="51" presetID="10"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par>
                                <p:cTn id="54" presetID="10" presetClass="entr" presetSubtype="0" fill="hold"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par>
                                <p:cTn id="57" presetID="10" presetClass="entr" presetSubtype="0"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childTnLst>
                          </p:cTn>
                        </p:par>
                        <p:par>
                          <p:cTn id="60" fill="hold">
                            <p:stCondLst>
                              <p:cond delay="1750"/>
                            </p:stCondLst>
                            <p:childTnLst>
                              <p:par>
                                <p:cTn id="61" presetID="10" presetClass="entr" presetSubtype="0" fill="hold" nodeType="after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22" presetClass="entr" presetSubtype="8"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par>
                                <p:cTn id="70" presetID="22" presetClass="entr" presetSubtype="8" fill="hold"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par>
                                <p:cTn id="73" presetID="10" presetClass="entr" presetSubtype="0"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childTnLst>
                          </p:cTn>
                        </p:par>
                        <p:par>
                          <p:cTn id="79" fill="hold">
                            <p:stCondLst>
                              <p:cond delay="2100"/>
                            </p:stCondLst>
                            <p:childTnLst>
                              <p:par>
                                <p:cTn id="80" presetID="10" presetClass="entr" presetSubtype="0" fill="hold" nodeType="after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500"/>
                                        <p:tgtEl>
                                          <p:spTgt spid="26"/>
                                        </p:tgtEl>
                                      </p:cBhvr>
                                    </p:animEffect>
                                  </p:childTnLst>
                                </p:cTn>
                              </p:par>
                              <p:par>
                                <p:cTn id="83" presetID="10" presetClass="entr" presetSubtype="0" fill="hold" nodeType="with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par>
                                <p:cTn id="86" presetID="22" presetClass="entr" presetSubtype="8" fill="hold" nodeType="with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wipe(left)">
                                      <p:cBhvr>
                                        <p:cTn id="88" dur="500"/>
                                        <p:tgtEl>
                                          <p:spTgt spid="28"/>
                                        </p:tgtEl>
                                      </p:cBhvr>
                                    </p:animEffect>
                                  </p:childTnLst>
                                </p:cTn>
                              </p:par>
                              <p:par>
                                <p:cTn id="89" presetID="10" presetClass="entr" presetSubtype="0" fill="hold" nodeType="withEffect">
                                  <p:stCondLst>
                                    <p:cond delay="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childTnLst>
                          </p:cTn>
                        </p:par>
                        <p:par>
                          <p:cTn id="92" fill="hold">
                            <p:stCondLst>
                              <p:cond delay="2450"/>
                            </p:stCondLst>
                            <p:childTnLst>
                              <p:par>
                                <p:cTn id="93" presetID="10" presetClass="entr" presetSubtype="0" fill="hold" nodeType="afterEffect">
                                  <p:stCondLst>
                                    <p:cond delay="0"/>
                                  </p:stCondLst>
                                  <p:childTnLst>
                                    <p:set>
                                      <p:cBhvr>
                                        <p:cTn id="94" dur="1" fill="hold">
                                          <p:stCondLst>
                                            <p:cond delay="0"/>
                                          </p:stCondLst>
                                        </p:cTn>
                                        <p:tgtEl>
                                          <p:spTgt spid="10"/>
                                        </p:tgtEl>
                                        <p:attrNameLst>
                                          <p:attrName>style.visibility</p:attrName>
                                        </p:attrNameLst>
                                      </p:cBhvr>
                                      <p:to>
                                        <p:strVal val="visible"/>
                                      </p:to>
                                    </p:set>
                                    <p:animEffect transition="in" filter="fade">
                                      <p:cBhvr>
                                        <p:cTn id="9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Implementation: modules &amp; code</a:t>
            </a:r>
            <a:endParaRPr lang="en-US" sz="2600" dirty="0"/>
          </a:p>
        </p:txBody>
      </p:sp>
      <p:sp>
        <p:nvSpPr>
          <p:cNvPr id="3" name="a1_card_195"/>
          <p:cNvSpPr/>
          <p:nvPr/>
        </p:nvSpPr>
        <p:spPr>
          <a:xfrm>
            <a:off x="457200" y="914400"/>
            <a:ext cx="3931920" cy="822960"/>
          </a:xfrm>
          <a:prstGeom prst="roundRect">
            <a:avLst>
              <a:gd name="adj" fmla="val 8889"/>
            </a:avLst>
          </a:prstGeom>
          <a:solidFill>
            <a:srgbClr val="1C2F36"/>
          </a:solidFill>
          <a:ln w="9525">
            <a:solidFill>
              <a:srgbClr val="35505A"/>
            </a:solidFill>
            <a:prstDash val="solid"/>
          </a:ln>
        </p:spPr>
      </p:sp>
      <p:sp>
        <p:nvSpPr>
          <p:cNvPr id="4" name="a1_ic_196"/>
          <p:cNvSpPr/>
          <p:nvPr/>
        </p:nvSpPr>
        <p:spPr>
          <a:xfrm>
            <a:off x="594360" y="1088136"/>
            <a:ext cx="475488" cy="475488"/>
          </a:xfrm>
          <a:prstGeom prst="ellipse">
            <a:avLst/>
          </a:prstGeom>
          <a:solidFill>
            <a:srgbClr val="12232A"/>
          </a:solidFill>
          <a:ln/>
        </p:spPr>
      </p:sp>
      <p:pic>
        <p:nvPicPr>
          <p:cNvPr id="5" name="a1_icimg_197" descr="preencoded.png">    </p:cNvPr>
          <p:cNvPicPr>
            <a:picLocks noChangeAspect="1"/>
          </p:cNvPicPr>
          <p:nvPr/>
        </p:nvPicPr>
        <p:blipFill>
          <a:blip r:embed="rId1"/>
          <a:stretch>
            <a:fillRect/>
          </a:stretch>
        </p:blipFill>
        <p:spPr>
          <a:xfrm>
            <a:off x="708477" y="1202253"/>
            <a:ext cx="247254" cy="247254"/>
          </a:xfrm>
          <a:prstGeom prst="rect">
            <a:avLst/>
          </a:prstGeom>
        </p:spPr>
      </p:pic>
      <p:sp>
        <p:nvSpPr>
          <p:cNvPr id="6" name="a1_txt_198"/>
          <p:cNvSpPr txBox="1"/>
          <p:nvPr/>
        </p:nvSpPr>
        <p:spPr>
          <a:xfrm>
            <a:off x="1188720" y="987552"/>
            <a:ext cx="3108960" cy="274320"/>
          </a:xfrm>
          <a:prstGeom prst="rect">
            <a:avLst/>
          </a:prstGeom>
          <a:noFill/>
          <a:ln/>
        </p:spPr>
        <p:txBody>
          <a:bodyPr wrap="square" lIns="0" tIns="0" rIns="0" bIns="0" rtlCol="0" anchor="t"/>
          <a:lstStyle/>
          <a:p>
            <a:pPr indent="0" marL="0">
              <a:buNone/>
            </a:pPr>
            <a:r>
              <a:rPr lang="en-US" sz="1400" b="1" dirty="0">
                <a:solidFill>
                  <a:srgbClr val="6CC08B"/>
                </a:solidFill>
                <a:latin typeface="Calibri" pitchFamily="34" charset="0"/>
                <a:ea typeface="Calibri" pitchFamily="34" charset="-122"/>
                <a:cs typeface="Calibri" pitchFamily="34" charset="-120"/>
              </a:rPr>
              <a:t>Firmware  </a:t>
            </a:r>
            <a:pPr indent="0" marL="0">
              <a:buNone/>
            </a:pPr>
            <a:r>
              <a:rPr lang="en-US" sz="1050" dirty="0">
                <a:solidFill>
                  <a:srgbClr val="A3B8B3"/>
                </a:solidFill>
                <a:latin typeface="Calibri" pitchFamily="34" charset="0"/>
                <a:ea typeface="Calibri" pitchFamily="34" charset="-122"/>
                <a:cs typeface="Calibri" pitchFamily="34" charset="-120"/>
              </a:rPr>
              <a:t>smart_plant.ino · Arduino C++</a:t>
            </a:r>
            <a:endParaRPr lang="en-US" sz="1400" dirty="0"/>
          </a:p>
        </p:txBody>
      </p:sp>
      <p:sp>
        <p:nvSpPr>
          <p:cNvPr id="7" name="a1_txt_199"/>
          <p:cNvSpPr txBox="1"/>
          <p:nvPr/>
        </p:nvSpPr>
        <p:spPr>
          <a:xfrm>
            <a:off x="1188720" y="1280160"/>
            <a:ext cx="3127248" cy="411480"/>
          </a:xfrm>
          <a:prstGeom prst="rect">
            <a:avLst/>
          </a:prstGeom>
          <a:noFill/>
          <a:ln/>
        </p:spPr>
        <p:txBody>
          <a:bodyPr wrap="square" lIns="0" tIns="0" rIns="0" bIns="0" rtlCol="0" anchor="t"/>
          <a:lstStyle/>
          <a:p>
            <a:pPr indent="0" marL="0">
              <a:buNone/>
            </a:pPr>
            <a:r>
              <a:rPr lang="en-US" sz="1100" dirty="0">
                <a:solidFill>
                  <a:srgbClr val="E8F1EE"/>
                </a:solidFill>
                <a:latin typeface="Calibri" pitchFamily="34" charset="0"/>
                <a:ea typeface="Calibri" pitchFamily="34" charset="-122"/>
                <a:cs typeface="Calibri" pitchFamily="34" charset="-120"/>
              </a:rPr>
              <a:t>Control loop, failsafes, settings in flash, posts readings, polls commands</a:t>
            </a:r>
            <a:endParaRPr lang="en-US" sz="1100" dirty="0"/>
          </a:p>
        </p:txBody>
      </p:sp>
      <p:sp>
        <p:nvSpPr>
          <p:cNvPr id="8" name="a2_card_200"/>
          <p:cNvSpPr/>
          <p:nvPr/>
        </p:nvSpPr>
        <p:spPr>
          <a:xfrm>
            <a:off x="457200" y="1847088"/>
            <a:ext cx="3931920" cy="822960"/>
          </a:xfrm>
          <a:prstGeom prst="roundRect">
            <a:avLst>
              <a:gd name="adj" fmla="val 8889"/>
            </a:avLst>
          </a:prstGeom>
          <a:solidFill>
            <a:srgbClr val="1C2F36"/>
          </a:solidFill>
          <a:ln w="9525">
            <a:solidFill>
              <a:srgbClr val="35505A"/>
            </a:solidFill>
            <a:prstDash val="solid"/>
          </a:ln>
        </p:spPr>
      </p:sp>
      <p:sp>
        <p:nvSpPr>
          <p:cNvPr id="9" name="a2_ic_201"/>
          <p:cNvSpPr/>
          <p:nvPr/>
        </p:nvSpPr>
        <p:spPr>
          <a:xfrm>
            <a:off x="594360" y="2020824"/>
            <a:ext cx="475488" cy="475488"/>
          </a:xfrm>
          <a:prstGeom prst="ellipse">
            <a:avLst/>
          </a:prstGeom>
          <a:solidFill>
            <a:srgbClr val="12232A"/>
          </a:solidFill>
          <a:ln/>
        </p:spPr>
      </p:sp>
      <p:pic>
        <p:nvPicPr>
          <p:cNvPr id="10" name="a2_icimg_202" descr="preencoded.png">    </p:cNvPr>
          <p:cNvPicPr>
            <a:picLocks noChangeAspect="1"/>
          </p:cNvPicPr>
          <p:nvPr/>
        </p:nvPicPr>
        <p:blipFill>
          <a:blip r:embed="rId2"/>
          <a:stretch>
            <a:fillRect/>
          </a:stretch>
        </p:blipFill>
        <p:spPr>
          <a:xfrm>
            <a:off x="708477" y="2134941"/>
            <a:ext cx="247254" cy="247254"/>
          </a:xfrm>
          <a:prstGeom prst="rect">
            <a:avLst/>
          </a:prstGeom>
        </p:spPr>
      </p:pic>
      <p:sp>
        <p:nvSpPr>
          <p:cNvPr id="11" name="a2_txt_203"/>
          <p:cNvSpPr txBox="1"/>
          <p:nvPr/>
        </p:nvSpPr>
        <p:spPr>
          <a:xfrm>
            <a:off x="1188720" y="1920240"/>
            <a:ext cx="3108960" cy="274320"/>
          </a:xfrm>
          <a:prstGeom prst="rect">
            <a:avLst/>
          </a:prstGeom>
          <a:noFill/>
          <a:ln/>
        </p:spPr>
        <p:txBody>
          <a:bodyPr wrap="square" lIns="0" tIns="0" rIns="0" bIns="0" rtlCol="0" anchor="t"/>
          <a:lstStyle/>
          <a:p>
            <a:pPr indent="0" marL="0">
              <a:buNone/>
            </a:pPr>
            <a:r>
              <a:rPr lang="en-US" sz="1400" b="1" dirty="0">
                <a:solidFill>
                  <a:srgbClr val="7CCFC7"/>
                </a:solidFill>
                <a:latin typeface="Calibri" pitchFamily="34" charset="0"/>
                <a:ea typeface="Calibri" pitchFamily="34" charset="-122"/>
                <a:cs typeface="Calibri" pitchFamily="34" charset="-120"/>
              </a:rPr>
              <a:t>Backend  </a:t>
            </a:r>
            <a:pPr indent="0" marL="0">
              <a:buNone/>
            </a:pPr>
            <a:r>
              <a:rPr lang="en-US" sz="1050" dirty="0">
                <a:solidFill>
                  <a:srgbClr val="A3B8B3"/>
                </a:solidFill>
                <a:latin typeface="Calibri" pitchFamily="34" charset="0"/>
                <a:ea typeface="Calibri" pitchFamily="34" charset="-122"/>
                <a:cs typeface="Calibri" pitchFamily="34" charset="-120"/>
              </a:rPr>
              <a:t>app.py · Flask + SQLite</a:t>
            </a:r>
            <a:endParaRPr lang="en-US" sz="1400" dirty="0"/>
          </a:p>
        </p:txBody>
      </p:sp>
      <p:sp>
        <p:nvSpPr>
          <p:cNvPr id="12" name="a2_txt_204"/>
          <p:cNvSpPr txBox="1"/>
          <p:nvPr/>
        </p:nvSpPr>
        <p:spPr>
          <a:xfrm>
            <a:off x="1188720" y="2212848"/>
            <a:ext cx="3127248" cy="411480"/>
          </a:xfrm>
          <a:prstGeom prst="rect">
            <a:avLst/>
          </a:prstGeom>
          <a:noFill/>
          <a:ln/>
        </p:spPr>
        <p:txBody>
          <a:bodyPr wrap="square" lIns="0" tIns="0" rIns="0" bIns="0" rtlCol="0" anchor="t"/>
          <a:lstStyle/>
          <a:p>
            <a:pPr indent="0" marL="0">
              <a:buNone/>
            </a:pPr>
            <a:r>
              <a:rPr lang="en-US" sz="1100" dirty="0">
                <a:solidFill>
                  <a:srgbClr val="E8F1EE"/>
                </a:solidFill>
                <a:latin typeface="Calibri" pitchFamily="34" charset="0"/>
                <a:ea typeface="Calibri" pitchFamily="34" charset="-122"/>
                <a:cs typeface="Calibri" pitchFamily="34" charset="-120"/>
              </a:rPr>
              <a:t>Stores readings, validates settings ranges, relays commands, detects watering events</a:t>
            </a:r>
            <a:endParaRPr lang="en-US" sz="1100" dirty="0"/>
          </a:p>
        </p:txBody>
      </p:sp>
      <p:sp>
        <p:nvSpPr>
          <p:cNvPr id="13" name="a3_card_205"/>
          <p:cNvSpPr/>
          <p:nvPr/>
        </p:nvSpPr>
        <p:spPr>
          <a:xfrm>
            <a:off x="457200" y="2779776"/>
            <a:ext cx="3931920" cy="822960"/>
          </a:xfrm>
          <a:prstGeom prst="roundRect">
            <a:avLst>
              <a:gd name="adj" fmla="val 8889"/>
            </a:avLst>
          </a:prstGeom>
          <a:solidFill>
            <a:srgbClr val="1C2F36"/>
          </a:solidFill>
          <a:ln w="9525">
            <a:solidFill>
              <a:srgbClr val="35505A"/>
            </a:solidFill>
            <a:prstDash val="solid"/>
          </a:ln>
        </p:spPr>
      </p:sp>
      <p:sp>
        <p:nvSpPr>
          <p:cNvPr id="14" name="a3_ic_206"/>
          <p:cNvSpPr/>
          <p:nvPr/>
        </p:nvSpPr>
        <p:spPr>
          <a:xfrm>
            <a:off x="594360" y="2953512"/>
            <a:ext cx="475488" cy="475488"/>
          </a:xfrm>
          <a:prstGeom prst="ellipse">
            <a:avLst/>
          </a:prstGeom>
          <a:solidFill>
            <a:srgbClr val="12232A"/>
          </a:solidFill>
          <a:ln/>
        </p:spPr>
      </p:sp>
      <p:pic>
        <p:nvPicPr>
          <p:cNvPr id="15" name="a3_icimg_207" descr="preencoded.png">    </p:cNvPr>
          <p:cNvPicPr>
            <a:picLocks noChangeAspect="1"/>
          </p:cNvPicPr>
          <p:nvPr/>
        </p:nvPicPr>
        <p:blipFill>
          <a:blip r:embed="rId3"/>
          <a:stretch>
            <a:fillRect/>
          </a:stretch>
        </p:blipFill>
        <p:spPr>
          <a:xfrm>
            <a:off x="708477" y="3067629"/>
            <a:ext cx="247254" cy="247254"/>
          </a:xfrm>
          <a:prstGeom prst="rect">
            <a:avLst/>
          </a:prstGeom>
        </p:spPr>
      </p:pic>
      <p:sp>
        <p:nvSpPr>
          <p:cNvPr id="16" name="a3_txt_208"/>
          <p:cNvSpPr txBox="1"/>
          <p:nvPr/>
        </p:nvSpPr>
        <p:spPr>
          <a:xfrm>
            <a:off x="1188720" y="2852928"/>
            <a:ext cx="3108960" cy="274320"/>
          </a:xfrm>
          <a:prstGeom prst="rect">
            <a:avLst/>
          </a:prstGeom>
          <a:noFill/>
          <a:ln/>
        </p:spPr>
        <p:txBody>
          <a:bodyPr wrap="square" lIns="0" tIns="0" rIns="0" bIns="0" rtlCol="0" anchor="t"/>
          <a:lstStyle/>
          <a:p>
            <a:pPr indent="0" marL="0">
              <a:buNone/>
            </a:pPr>
            <a:r>
              <a:rPr lang="en-US" sz="1400" b="1" dirty="0">
                <a:solidFill>
                  <a:srgbClr val="EDA265"/>
                </a:solidFill>
                <a:latin typeface="Calibri" pitchFamily="34" charset="0"/>
                <a:ea typeface="Calibri" pitchFamily="34" charset="-122"/>
                <a:cs typeface="Calibri" pitchFamily="34" charset="-120"/>
              </a:rPr>
              <a:t>Simulator  </a:t>
            </a:r>
            <a:pPr indent="0" marL="0">
              <a:buNone/>
            </a:pPr>
            <a:r>
              <a:rPr lang="en-US" sz="1050" dirty="0">
                <a:solidFill>
                  <a:srgbClr val="A3B8B3"/>
                </a:solidFill>
                <a:latin typeface="Calibri" pitchFamily="34" charset="0"/>
                <a:ea typeface="Calibri" pitchFamily="34" charset="-122"/>
                <a:cs typeface="Calibri" pitchFamily="34" charset="-120"/>
              </a:rPr>
              <a:t>simulator.py · Python stdlib</a:t>
            </a:r>
            <a:endParaRPr lang="en-US" sz="1400" dirty="0"/>
          </a:p>
        </p:txBody>
      </p:sp>
      <p:sp>
        <p:nvSpPr>
          <p:cNvPr id="17" name="a3_txt_209"/>
          <p:cNvSpPr txBox="1"/>
          <p:nvPr/>
        </p:nvSpPr>
        <p:spPr>
          <a:xfrm>
            <a:off x="1188720" y="3145536"/>
            <a:ext cx="3127248" cy="411480"/>
          </a:xfrm>
          <a:prstGeom prst="rect">
            <a:avLst/>
          </a:prstGeom>
          <a:noFill/>
          <a:ln/>
        </p:spPr>
        <p:txBody>
          <a:bodyPr wrap="square" lIns="0" tIns="0" rIns="0" bIns="0" rtlCol="0" anchor="t"/>
          <a:lstStyle/>
          <a:p>
            <a:pPr indent="0" marL="0">
              <a:buNone/>
            </a:pPr>
            <a:r>
              <a:rPr lang="en-US" sz="1100" dirty="0">
                <a:solidFill>
                  <a:srgbClr val="E8F1EE"/>
                </a:solidFill>
                <a:latin typeface="Calibri" pitchFamily="34" charset="0"/>
                <a:ea typeface="Calibri" pitchFamily="34" charset="-122"/>
                <a:cs typeface="Calibri" pitchFamily="34" charset="-120"/>
              </a:rPr>
              <a:t>Stand-in ESP32 with identical logic and a 2 L pot physics model</a:t>
            </a:r>
            <a:endParaRPr lang="en-US" sz="1100" dirty="0"/>
          </a:p>
        </p:txBody>
      </p:sp>
      <p:sp>
        <p:nvSpPr>
          <p:cNvPr id="18" name="a4_card_210"/>
          <p:cNvSpPr/>
          <p:nvPr/>
        </p:nvSpPr>
        <p:spPr>
          <a:xfrm>
            <a:off x="457200" y="3712464"/>
            <a:ext cx="3931920" cy="822960"/>
          </a:xfrm>
          <a:prstGeom prst="roundRect">
            <a:avLst>
              <a:gd name="adj" fmla="val 8889"/>
            </a:avLst>
          </a:prstGeom>
          <a:solidFill>
            <a:srgbClr val="1C2F36"/>
          </a:solidFill>
          <a:ln w="9525">
            <a:solidFill>
              <a:srgbClr val="35505A"/>
            </a:solidFill>
            <a:prstDash val="solid"/>
          </a:ln>
        </p:spPr>
      </p:sp>
      <p:sp>
        <p:nvSpPr>
          <p:cNvPr id="19" name="a4_ic_211"/>
          <p:cNvSpPr/>
          <p:nvPr/>
        </p:nvSpPr>
        <p:spPr>
          <a:xfrm>
            <a:off x="594360" y="3886200"/>
            <a:ext cx="475488" cy="475488"/>
          </a:xfrm>
          <a:prstGeom prst="ellipse">
            <a:avLst/>
          </a:prstGeom>
          <a:solidFill>
            <a:srgbClr val="12232A"/>
          </a:solidFill>
          <a:ln/>
        </p:spPr>
      </p:sp>
      <p:pic>
        <p:nvPicPr>
          <p:cNvPr id="20" name="a4_icimg_212" descr="preencoded.png">    </p:cNvPr>
          <p:cNvPicPr>
            <a:picLocks noChangeAspect="1"/>
          </p:cNvPicPr>
          <p:nvPr/>
        </p:nvPicPr>
        <p:blipFill>
          <a:blip r:embed="rId4"/>
          <a:stretch>
            <a:fillRect/>
          </a:stretch>
        </p:blipFill>
        <p:spPr>
          <a:xfrm>
            <a:off x="708477" y="4000317"/>
            <a:ext cx="247254" cy="247254"/>
          </a:xfrm>
          <a:prstGeom prst="rect">
            <a:avLst/>
          </a:prstGeom>
        </p:spPr>
      </p:pic>
      <p:sp>
        <p:nvSpPr>
          <p:cNvPr id="21" name="a4_txt_213"/>
          <p:cNvSpPr txBox="1"/>
          <p:nvPr/>
        </p:nvSpPr>
        <p:spPr>
          <a:xfrm>
            <a:off x="1188720" y="3785616"/>
            <a:ext cx="3108960" cy="274320"/>
          </a:xfrm>
          <a:prstGeom prst="rect">
            <a:avLst/>
          </a:prstGeom>
          <a:noFill/>
          <a:ln/>
        </p:spPr>
        <p:txBody>
          <a:bodyPr wrap="square" lIns="0" tIns="0" rIns="0" bIns="0" rtlCol="0" anchor="t"/>
          <a:lstStyle/>
          <a:p>
            <a:pPr indent="0" marL="0">
              <a:buNone/>
            </a:pPr>
            <a:r>
              <a:rPr lang="en-US" sz="1400" b="1" dirty="0">
                <a:solidFill>
                  <a:srgbClr val="9BE7C4"/>
                </a:solidFill>
                <a:latin typeface="Calibri" pitchFamily="34" charset="0"/>
                <a:ea typeface="Calibri" pitchFamily="34" charset="-122"/>
                <a:cs typeface="Calibri" pitchFamily="34" charset="-120"/>
              </a:rPr>
              <a:t>Dashboard  </a:t>
            </a:r>
            <a:pPr indent="0" marL="0">
              <a:buNone/>
            </a:pPr>
            <a:r>
              <a:rPr lang="en-US" sz="1050" dirty="0">
                <a:solidFill>
                  <a:srgbClr val="A3B8B3"/>
                </a:solidFill>
                <a:latin typeface="Calibri" pitchFamily="34" charset="0"/>
                <a:ea typeface="Calibri" pitchFamily="34" charset="-122"/>
                <a:cs typeface="Calibri" pitchFamily="34" charset="-120"/>
              </a:rPr>
              <a:t>HTML · CSS · JavaScript</a:t>
            </a:r>
            <a:endParaRPr lang="en-US" sz="1400" dirty="0"/>
          </a:p>
        </p:txBody>
      </p:sp>
      <p:sp>
        <p:nvSpPr>
          <p:cNvPr id="22" name="a4_txt_214"/>
          <p:cNvSpPr txBox="1"/>
          <p:nvPr/>
        </p:nvSpPr>
        <p:spPr>
          <a:xfrm>
            <a:off x="1188720" y="4078224"/>
            <a:ext cx="3127248" cy="411480"/>
          </a:xfrm>
          <a:prstGeom prst="rect">
            <a:avLst/>
          </a:prstGeom>
          <a:noFill/>
          <a:ln/>
        </p:spPr>
        <p:txBody>
          <a:bodyPr wrap="square" lIns="0" tIns="0" rIns="0" bIns="0" rtlCol="0" anchor="t"/>
          <a:lstStyle/>
          <a:p>
            <a:pPr indent="0" marL="0">
              <a:buNone/>
            </a:pPr>
            <a:r>
              <a:rPr lang="en-US" sz="1100" dirty="0">
                <a:solidFill>
                  <a:srgbClr val="E8F1EE"/>
                </a:solidFill>
                <a:latin typeface="Calibri" pitchFamily="34" charset="0"/>
                <a:ea typeface="Calibri" pitchFamily="34" charset="-122"/>
                <a:cs typeface="Calibri" pitchFamily="34" charset="-120"/>
              </a:rPr>
              <a:t>Gauge, charts, alerts, settings; simulated or live-server mode</a:t>
            </a:r>
            <a:endParaRPr lang="en-US" sz="1100" dirty="0"/>
          </a:p>
        </p:txBody>
      </p:sp>
      <p:sp>
        <p:nvSpPr>
          <p:cNvPr id="23" name="a5_code_215"/>
          <p:cNvSpPr/>
          <p:nvPr/>
        </p:nvSpPr>
        <p:spPr>
          <a:xfrm>
            <a:off x="4663440" y="914400"/>
            <a:ext cx="4023360" cy="2514600"/>
          </a:xfrm>
          <a:prstGeom prst="roundRect">
            <a:avLst>
              <a:gd name="adj" fmla="val 2909"/>
            </a:avLst>
          </a:prstGeom>
          <a:solidFill>
            <a:srgbClr val="0B171B"/>
          </a:solidFill>
          <a:ln w="9525">
            <a:solidFill>
              <a:srgbClr val="35505A"/>
            </a:solidFill>
            <a:prstDash val="solid"/>
          </a:ln>
        </p:spPr>
      </p:sp>
      <p:sp>
        <p:nvSpPr>
          <p:cNvPr id="24" name="a5_txt_216"/>
          <p:cNvSpPr txBox="1"/>
          <p:nvPr/>
        </p:nvSpPr>
        <p:spPr>
          <a:xfrm>
            <a:off x="4800600" y="987552"/>
            <a:ext cx="3749040" cy="228600"/>
          </a:xfrm>
          <a:prstGeom prst="rect">
            <a:avLst/>
          </a:prstGeom>
          <a:noFill/>
          <a:ln/>
        </p:spPr>
        <p:txBody>
          <a:bodyPr wrap="square" lIns="0" tIns="0" rIns="0" bIns="0" rtlCol="0" anchor="t"/>
          <a:lstStyle/>
          <a:p>
            <a:pPr indent="0" marL="0">
              <a:buNone/>
            </a:pPr>
            <a:r>
              <a:rPr lang="en-US" sz="1000" dirty="0">
                <a:solidFill>
                  <a:srgbClr val="A3B8B3"/>
                </a:solidFill>
                <a:latin typeface="Calibri" pitchFamily="34" charset="0"/>
                <a:ea typeface="Calibri" pitchFamily="34" charset="-122"/>
                <a:cs typeface="Calibri" pitchFamily="34" charset="-120"/>
              </a:rPr>
              <a:t>controlStep()  ·  firmware excerpt</a:t>
            </a:r>
            <a:endParaRPr lang="en-US" sz="1000" dirty="0"/>
          </a:p>
        </p:txBody>
      </p:sp>
      <p:sp>
        <p:nvSpPr>
          <p:cNvPr id="25" name="a5_txt_217"/>
          <p:cNvSpPr txBox="1"/>
          <p:nvPr/>
        </p:nvSpPr>
        <p:spPr>
          <a:xfrm>
            <a:off x="4800600" y="1261872"/>
            <a:ext cx="3794760" cy="2103120"/>
          </a:xfrm>
          <a:prstGeom prst="rect">
            <a:avLst/>
          </a:prstGeom>
          <a:noFill/>
          <a:ln/>
        </p:spPr>
        <p:txBody>
          <a:bodyPr wrap="square" lIns="0" tIns="0" rIns="0" bIns="0" rtlCol="0" anchor="t"/>
          <a:lstStyle/>
          <a:p>
            <a:pPr indent="0" marL="0">
              <a:buNone/>
            </a:pPr>
            <a:r>
              <a:rPr lang="en-US" sz="950" b="1" dirty="0">
                <a:solidFill>
                  <a:srgbClr val="EDA265"/>
                </a:solidFill>
                <a:latin typeface="Courier New" pitchFamily="34" charset="0"/>
                <a:ea typeface="Courier New" pitchFamily="34" charset="-122"/>
                <a:cs typeface="Courier New" pitchFamily="34" charset="-120"/>
              </a:rPr>
              <a:t>if</a:t>
            </a:r>
            <a:pPr indent="0" marL="0">
              <a:buNone/>
            </a:pPr>
            <a:r>
              <a:rPr lang="en-US" sz="950" dirty="0">
                <a:solidFill>
                  <a:srgbClr val="D5E4E0"/>
                </a:solidFill>
                <a:latin typeface="Courier New" pitchFamily="34" charset="0"/>
                <a:ea typeface="Courier New" pitchFamily="34" charset="-122"/>
                <a:cs typeface="Courier New" pitchFamily="34" charset="-120"/>
              </a:rPr>
              <a:t> (pumpOn &amp;&amp; now - pumpStartMs &gt;= hardMaxMs)</a:t>
            </a:r>
            <a:endParaRPr lang="en-US" sz="950" dirty="0"/>
          </a:p>
          <a:p>
            <a:pPr indent="0" marL="0">
              <a:buNone/>
            </a:pPr>
            <a:pPr indent="0" marL="0">
              <a:buNone/>
            </a:pPr>
            <a:r>
              <a:rPr lang="en-US" sz="950" dirty="0">
                <a:solidFill>
                  <a:srgbClr val="E5736B"/>
                </a:solidFill>
                <a:latin typeface="Courier New" pitchFamily="34" charset="0"/>
                <a:ea typeface="Courier New" pitchFamily="34" charset="-122"/>
                <a:cs typeface="Courier New" pitchFamily="34" charset="-120"/>
              </a:rPr>
              <a:t>  stopPump("failsafe max run time");</a:t>
            </a:r>
            <a:endParaRPr lang="en-US" sz="950" dirty="0"/>
          </a:p>
          <a:p>
            <a:pPr indent="0" marL="0">
              <a:buNone/>
            </a:pPr>
            <a:r>
              <a:rPr lang="en-US" sz="950" b="1" dirty="0">
                <a:solidFill>
                  <a:srgbClr val="EDA265"/>
                </a:solidFill>
                <a:latin typeface="Courier New" pitchFamily="34" charset="0"/>
                <a:ea typeface="Courier New" pitchFamily="34" charset="-122"/>
                <a:cs typeface="Courier New" pitchFamily="34" charset="-120"/>
              </a:rPr>
              <a:t>if</a:t>
            </a:r>
            <a:pPr indent="0" marL="0">
              <a:buNone/>
            </a:pPr>
            <a:r>
              <a:rPr lang="en-US" sz="950" dirty="0">
                <a:solidFill>
                  <a:srgbClr val="D5E4E0"/>
                </a:solidFill>
                <a:latin typeface="Courier New" pitchFamily="34" charset="0"/>
                <a:ea typeface="Courier New" pitchFamily="34" charset="-122"/>
                <a:cs typeface="Courier New" pitchFamily="34" charset="-120"/>
              </a:rPr>
              <a:t> (reservoirPct &lt;= RESERVOIR_LOCK_PCT)</a:t>
            </a:r>
            <a:endParaRPr lang="en-US" sz="950" dirty="0"/>
          </a:p>
          <a:p>
            <a:pPr indent="0" marL="0">
              <a:buNone/>
            </a:pPr>
            <a:pPr indent="0" marL="0">
              <a:buNone/>
            </a:pPr>
            <a:r>
              <a:rPr lang="en-US" sz="950" dirty="0">
                <a:solidFill>
                  <a:srgbClr val="E5736B"/>
                </a:solidFill>
                <a:latin typeface="Courier New" pitchFamily="34" charset="0"/>
                <a:ea typeface="Courier New" pitchFamily="34" charset="-122"/>
                <a:cs typeface="Courier New" pitchFamily="34" charset="-120"/>
              </a:rPr>
              <a:t>  { stopPump("reservoir empty"); return; }</a:t>
            </a:r>
            <a:endParaRPr lang="en-US" sz="950" dirty="0"/>
          </a:p>
          <a:p>
            <a:pPr indent="0" marL="0">
              <a:buNone/>
            </a:pPr>
            <a:r>
              <a:rPr lang="en-US" sz="950" b="1" dirty="0">
                <a:solidFill>
                  <a:srgbClr val="EDA265"/>
                </a:solidFill>
                <a:latin typeface="Courier New" pitchFamily="34" charset="0"/>
                <a:ea typeface="Courier New" pitchFamily="34" charset="-122"/>
                <a:cs typeface="Courier New" pitchFamily="34" charset="-120"/>
              </a:rPr>
              <a:t>if</a:t>
            </a:r>
            <a:pPr indent="0" marL="0">
              <a:buNone/>
            </a:pPr>
            <a:r>
              <a:rPr lang="en-US" sz="950" dirty="0">
                <a:solidFill>
                  <a:srgbClr val="D5E4E0"/>
                </a:solidFill>
                <a:latin typeface="Courier New" pitchFamily="34" charset="0"/>
                <a:ea typeface="Courier New" pitchFamily="34" charset="-122"/>
                <a:cs typeface="Courier New" pitchFamily="34" charset="-120"/>
              </a:rPr>
              <a:t> (moisturePct &gt;= settings.overLimit)</a:t>
            </a:r>
            <a:endParaRPr lang="en-US" sz="950" dirty="0"/>
          </a:p>
          <a:p>
            <a:pPr indent="0" marL="0">
              <a:buNone/>
            </a:pPr>
            <a:pPr indent="0" marL="0">
              <a:buNone/>
            </a:pPr>
            <a:r>
              <a:rPr lang="en-US" sz="950" dirty="0">
                <a:solidFill>
                  <a:srgbClr val="E5736B"/>
                </a:solidFill>
                <a:latin typeface="Courier New" pitchFamily="34" charset="0"/>
                <a:ea typeface="Courier New" pitchFamily="34" charset="-122"/>
                <a:cs typeface="Courier New" pitchFamily="34" charset="-120"/>
              </a:rPr>
              <a:t>  { stopPump("overwatering limit"); return; }</a:t>
            </a:r>
            <a:endParaRPr lang="en-US" sz="950" dirty="0"/>
          </a:p>
          <a:p>
            <a:pPr indent="0" marL="0">
              <a:buNone/>
            </a:pPr>
            <a:r>
              <a:rPr lang="en-US" sz="950" b="1" dirty="0">
                <a:solidFill>
                  <a:srgbClr val="EDA265"/>
                </a:solidFill>
                <a:latin typeface="Courier New" pitchFamily="34" charset="0"/>
                <a:ea typeface="Courier New" pitchFamily="34" charset="-122"/>
                <a:cs typeface="Courier New" pitchFamily="34" charset="-120"/>
              </a:rPr>
              <a:t>if</a:t>
            </a:r>
            <a:pPr indent="0" marL="0">
              <a:buNone/>
            </a:pPr>
            <a:r>
              <a:rPr lang="en-US" sz="950" dirty="0">
                <a:solidFill>
                  <a:srgbClr val="D5E4E0"/>
                </a:solidFill>
                <a:latin typeface="Courier New" pitchFamily="34" charset="0"/>
                <a:ea typeface="Courier New" pitchFamily="34" charset="-122"/>
                <a:cs typeface="Courier New" pitchFamily="34" charset="-120"/>
              </a:rPr>
              <a:t> (autoMode &amp;&amp; !pumpOn &amp;&amp; !settling</a:t>
            </a:r>
            <a:endParaRPr lang="en-US" sz="950" dirty="0"/>
          </a:p>
          <a:p>
            <a:pPr indent="0" marL="0">
              <a:buNone/>
            </a:pPr>
            <a:pPr indent="0" marL="0">
              <a:buNone/>
            </a:pPr>
            <a:r>
              <a:rPr lang="en-US" sz="950" dirty="0">
                <a:solidFill>
                  <a:srgbClr val="D5E4E0"/>
                </a:solidFill>
                <a:latin typeface="Courier New" pitchFamily="34" charset="0"/>
                <a:ea typeface="Courier New" pitchFamily="34" charset="-122"/>
                <a:cs typeface="Courier New" pitchFamily="34" charset="-120"/>
              </a:rPr>
              <a:t>    &amp;&amp; moisturePct &lt; settings.threshold)</a:t>
            </a:r>
            <a:endParaRPr lang="en-US" sz="950" dirty="0"/>
          </a:p>
          <a:p>
            <a:pPr indent="0" marL="0">
              <a:buNone/>
            </a:pPr>
            <a:pPr indent="0" marL="0">
              <a:buNone/>
            </a:pPr>
            <a:r>
              <a:rPr lang="en-US" sz="950" dirty="0">
                <a:solidFill>
                  <a:srgbClr val="6CC08B"/>
                </a:solidFill>
                <a:latin typeface="Courier New" pitchFamily="34" charset="0"/>
                <a:ea typeface="Courier New" pitchFamily="34" charset="-122"/>
                <a:cs typeface="Courier New" pitchFamily="34" charset="-120"/>
              </a:rPr>
              <a:t>  startPump(settings.duration, false);</a:t>
            </a:r>
            <a:endParaRPr lang="en-US" sz="950" dirty="0"/>
          </a:p>
        </p:txBody>
      </p:sp>
      <p:sp>
        <p:nvSpPr>
          <p:cNvPr id="26" name="a6_card_218"/>
          <p:cNvSpPr/>
          <p:nvPr/>
        </p:nvSpPr>
        <p:spPr>
          <a:xfrm>
            <a:off x="4663440" y="3566160"/>
            <a:ext cx="4023360" cy="1024128"/>
          </a:xfrm>
          <a:prstGeom prst="roundRect">
            <a:avLst>
              <a:gd name="adj" fmla="val 7143"/>
            </a:avLst>
          </a:prstGeom>
          <a:solidFill>
            <a:srgbClr val="1C2F36"/>
          </a:solidFill>
          <a:ln w="9525">
            <a:solidFill>
              <a:srgbClr val="35505A"/>
            </a:solidFill>
            <a:prstDash val="solid"/>
          </a:ln>
        </p:spPr>
      </p:sp>
      <p:sp>
        <p:nvSpPr>
          <p:cNvPr id="27" name="a6_txt_219"/>
          <p:cNvSpPr txBox="1"/>
          <p:nvPr/>
        </p:nvSpPr>
        <p:spPr>
          <a:xfrm>
            <a:off x="4800600" y="3630168"/>
            <a:ext cx="1828800" cy="228600"/>
          </a:xfrm>
          <a:prstGeom prst="rect">
            <a:avLst/>
          </a:prstGeom>
          <a:noFill/>
          <a:ln/>
        </p:spPr>
        <p:txBody>
          <a:bodyPr wrap="square" lIns="0" tIns="0" rIns="0" bIns="0" rtlCol="0" anchor="t"/>
          <a:lstStyle/>
          <a:p>
            <a:pPr indent="0" marL="0">
              <a:buNone/>
            </a:pPr>
            <a:r>
              <a:rPr lang="en-US" sz="1200" b="1" dirty="0">
                <a:solidFill>
                  <a:srgbClr val="7CCFC7"/>
                </a:solidFill>
                <a:latin typeface="Calibri" pitchFamily="34" charset="0"/>
                <a:ea typeface="Calibri" pitchFamily="34" charset="-122"/>
                <a:cs typeface="Calibri" pitchFamily="34" charset="-120"/>
              </a:rPr>
              <a:t>REST API</a:t>
            </a:r>
            <a:endParaRPr lang="en-US" sz="1200" dirty="0"/>
          </a:p>
        </p:txBody>
      </p:sp>
      <p:sp>
        <p:nvSpPr>
          <p:cNvPr id="28" name="a6_txt_220"/>
          <p:cNvSpPr txBox="1"/>
          <p:nvPr/>
        </p:nvSpPr>
        <p:spPr>
          <a:xfrm>
            <a:off x="4800600" y="3877056"/>
            <a:ext cx="3794760" cy="676656"/>
          </a:xfrm>
          <a:prstGeom prst="rect">
            <a:avLst/>
          </a:prstGeom>
          <a:noFill/>
          <a:ln/>
        </p:spPr>
        <p:txBody>
          <a:bodyPr wrap="square" lIns="0" tIns="0" rIns="0" bIns="0" rtlCol="0" anchor="t"/>
          <a:lstStyle/>
          <a:p>
            <a:pPr indent="0" marL="0">
              <a:buNone/>
            </a:pPr>
            <a:r>
              <a:rPr lang="en-US" sz="900" dirty="0">
                <a:solidFill>
                  <a:srgbClr val="E8F1EE"/>
                </a:solidFill>
                <a:latin typeface="Courier New" pitchFamily="34" charset="0"/>
                <a:ea typeface="Courier New" pitchFamily="34" charset="-122"/>
                <a:cs typeface="Courier New" pitchFamily="34" charset="-120"/>
              </a:rPr>
              <a:t>ESP32:   POST /api/device/readings</a:t>
            </a:r>
            <a:endParaRPr lang="en-US" sz="900" dirty="0"/>
          </a:p>
          <a:p>
            <a:pPr indent="0" marL="0">
              <a:buNone/>
            </a:pPr>
            <a:r>
              <a:rPr lang="en-US" sz="900" dirty="0">
                <a:solidFill>
                  <a:srgbClr val="E8F1EE"/>
                </a:solidFill>
                <a:latin typeface="Courier New" pitchFamily="34" charset="0"/>
                <a:ea typeface="Courier New" pitchFamily="34" charset="-122"/>
                <a:cs typeface="Courier New" pitchFamily="34" charset="-120"/>
              </a:rPr>
              <a:t>         GET  /api/device/commands</a:t>
            </a:r>
            <a:endParaRPr lang="en-US" sz="900" dirty="0"/>
          </a:p>
          <a:p>
            <a:pPr indent="0" marL="0">
              <a:buNone/>
            </a:pPr>
            <a:r>
              <a:rPr lang="en-US" sz="900" dirty="0">
                <a:solidFill>
                  <a:srgbClr val="E8F1EE"/>
                </a:solidFill>
                <a:latin typeface="Courier New" pitchFamily="34" charset="0"/>
                <a:ea typeface="Courier New" pitchFamily="34" charset="-122"/>
                <a:cs typeface="Courier New" pitchFamily="34" charset="-120"/>
              </a:rPr>
              <a:t>Browser: GET  /api/readings/latest</a:t>
            </a:r>
            <a:endParaRPr lang="en-US" sz="900" dirty="0"/>
          </a:p>
          <a:p>
            <a:pPr indent="0" marL="0">
              <a:buNone/>
            </a:pPr>
            <a:r>
              <a:rPr lang="en-US" sz="900" dirty="0">
                <a:solidFill>
                  <a:srgbClr val="E8F1EE"/>
                </a:solidFill>
                <a:latin typeface="Courier New" pitchFamily="34" charset="0"/>
                <a:ea typeface="Courier New" pitchFamily="34" charset="-122"/>
                <a:cs typeface="Courier New" pitchFamily="34" charset="-120"/>
              </a:rPr>
              <a:t>         POST /api/pump · /api/mode</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
                            </p:stCondLst>
                            <p:childTnLst>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par>
                          <p:cTn id="36" fill="hold">
                            <p:stCondLst>
                              <p:cond delay="700"/>
                            </p:stCondLst>
                            <p:childTnLst>
                              <p:par>
                                <p:cTn id="37" presetID="10" presetClass="entr" presetSubtype="0" fill="hold"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par>
                          <p:cTn id="52" fill="hold">
                            <p:stCondLst>
                              <p:cond delay="1050"/>
                            </p:stCondLst>
                            <p:childTnLst>
                              <p:par>
                                <p:cTn id="53" presetID="10" presetClass="entr" presetSubtype="0" fill="hold"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par>
                          <p:cTn id="68" fill="hold">
                            <p:stCondLst>
                              <p:cond delay="1400"/>
                            </p:stCondLst>
                            <p:childTnLst>
                              <p:par>
                                <p:cTn id="69" presetID="10" presetClass="entr" presetSubtype="0" fill="hold" nodeType="after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par>
                          <p:cTn id="78" fill="hold">
                            <p:stCondLst>
                              <p:cond delay="1750"/>
                            </p:stCondLst>
                            <p:childTnLst>
                              <p:par>
                                <p:cTn id="79" presetID="10" presetClass="entr" presetSubtype="0" fill="hold" nodeType="after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Web dashboard (completed)</a:t>
            </a:r>
            <a:endParaRPr lang="en-US" sz="2600" dirty="0"/>
          </a:p>
        </p:txBody>
      </p:sp>
      <p:sp>
        <p:nvSpPr>
          <p:cNvPr id="3" name="a1_card_221"/>
          <p:cNvSpPr/>
          <p:nvPr/>
        </p:nvSpPr>
        <p:spPr>
          <a:xfrm>
            <a:off x="448056" y="859536"/>
            <a:ext cx="4041648" cy="2567178"/>
          </a:xfrm>
          <a:prstGeom prst="roundRect">
            <a:avLst>
              <a:gd name="adj" fmla="val 2850"/>
            </a:avLst>
          </a:prstGeom>
          <a:solidFill>
            <a:srgbClr val="233A42"/>
          </a:solidFill>
          <a:ln w="9525">
            <a:solidFill>
              <a:srgbClr val="35505A"/>
            </a:solidFill>
            <a:prstDash val="solid"/>
          </a:ln>
        </p:spPr>
      </p:sp>
      <p:pic>
        <p:nvPicPr>
          <p:cNvPr id="4" name="a1_shot_222" descr="shot_dashboard.png">    </p:cNvPr>
          <p:cNvPicPr>
            <a:picLocks noChangeAspect="1"/>
          </p:cNvPicPr>
          <p:nvPr/>
        </p:nvPicPr>
        <p:blipFill>
          <a:blip r:embed="rId1"/>
          <a:stretch>
            <a:fillRect/>
          </a:stretch>
        </p:blipFill>
        <p:spPr>
          <a:xfrm>
            <a:off x="502920" y="914400"/>
            <a:ext cx="3931920" cy="2457450"/>
          </a:xfrm>
          <a:prstGeom prst="rect">
            <a:avLst/>
          </a:prstGeom>
        </p:spPr>
      </p:pic>
      <p:sp>
        <p:nvSpPr>
          <p:cNvPr id="5" name="a1_txt_223"/>
          <p:cNvSpPr txBox="1"/>
          <p:nvPr/>
        </p:nvSpPr>
        <p:spPr>
          <a:xfrm>
            <a:off x="502920" y="3509010"/>
            <a:ext cx="3931920" cy="457200"/>
          </a:xfrm>
          <a:prstGeom prst="rect">
            <a:avLst/>
          </a:prstGeom>
          <a:noFill/>
          <a:ln/>
        </p:spPr>
        <p:txBody>
          <a:bodyPr wrap="square" lIns="0" tIns="0" rIns="0" bIns="0" rtlCol="0" anchor="t"/>
          <a:lstStyle/>
          <a:p>
            <a:pPr indent="0" marL="0">
              <a:buNone/>
            </a:pPr>
            <a:r>
              <a:rPr lang="en-US" sz="1200" dirty="0">
                <a:solidFill>
                  <a:srgbClr val="A3B8B3"/>
                </a:solidFill>
                <a:latin typeface="Calibri" pitchFamily="34" charset="0"/>
                <a:ea typeface="Calibri" pitchFamily="34" charset="-122"/>
                <a:cs typeface="Calibri" pitchFamily="34" charset="-120"/>
              </a:rPr>
              <a:t>Live view: moisture gauge with both limits, pump control, auto/manual switch, live control-logic steps</a:t>
            </a:r>
            <a:endParaRPr lang="en-US" sz="1200" dirty="0"/>
          </a:p>
        </p:txBody>
      </p:sp>
      <p:sp>
        <p:nvSpPr>
          <p:cNvPr id="6" name="a2_card_224"/>
          <p:cNvSpPr/>
          <p:nvPr/>
        </p:nvSpPr>
        <p:spPr>
          <a:xfrm>
            <a:off x="4654296" y="859536"/>
            <a:ext cx="4041648" cy="2567178"/>
          </a:xfrm>
          <a:prstGeom prst="roundRect">
            <a:avLst>
              <a:gd name="adj" fmla="val 2850"/>
            </a:avLst>
          </a:prstGeom>
          <a:solidFill>
            <a:srgbClr val="233A42"/>
          </a:solidFill>
          <a:ln w="9525">
            <a:solidFill>
              <a:srgbClr val="35505A"/>
            </a:solidFill>
            <a:prstDash val="solid"/>
          </a:ln>
        </p:spPr>
      </p:sp>
      <p:pic>
        <p:nvPicPr>
          <p:cNvPr id="7" name="a2_shot_225" descr="shot_history.png">    </p:cNvPr>
          <p:cNvPicPr>
            <a:picLocks noChangeAspect="1"/>
          </p:cNvPicPr>
          <p:nvPr/>
        </p:nvPicPr>
        <p:blipFill>
          <a:blip r:embed="rId2"/>
          <a:stretch>
            <a:fillRect/>
          </a:stretch>
        </p:blipFill>
        <p:spPr>
          <a:xfrm>
            <a:off x="4709160" y="914400"/>
            <a:ext cx="3931920" cy="2457450"/>
          </a:xfrm>
          <a:prstGeom prst="rect">
            <a:avLst/>
          </a:prstGeom>
        </p:spPr>
      </p:pic>
      <p:sp>
        <p:nvSpPr>
          <p:cNvPr id="8" name="a2_txt_226"/>
          <p:cNvSpPr txBox="1"/>
          <p:nvPr/>
        </p:nvSpPr>
        <p:spPr>
          <a:xfrm>
            <a:off x="4709160" y="3509010"/>
            <a:ext cx="3931920" cy="457200"/>
          </a:xfrm>
          <a:prstGeom prst="rect">
            <a:avLst/>
          </a:prstGeom>
          <a:noFill/>
          <a:ln/>
        </p:spPr>
        <p:txBody>
          <a:bodyPr wrap="square" lIns="0" tIns="0" rIns="0" bIns="0" rtlCol="0" anchor="t"/>
          <a:lstStyle/>
          <a:p>
            <a:pPr indent="0" marL="0">
              <a:buNone/>
            </a:pPr>
            <a:r>
              <a:rPr lang="en-US" sz="1200" dirty="0">
                <a:solidFill>
                  <a:srgbClr val="A3B8B3"/>
                </a:solidFill>
                <a:latin typeface="Calibri" pitchFamily="34" charset="0"/>
                <a:ea typeface="Calibri" pitchFamily="34" charset="-122"/>
                <a:cs typeface="Calibri" pitchFamily="34" charset="-120"/>
              </a:rPr>
              <a:t>History: 24 h moisture with threshold and overwatering lines, watering events, temperature and humidity</a:t>
            </a:r>
            <a:endParaRPr lang="en-US" sz="1200" dirty="0"/>
          </a:p>
        </p:txBody>
      </p:sp>
      <p:sp>
        <p:nvSpPr>
          <p:cNvPr id="9" name="a3_chip_227"/>
          <p:cNvSpPr/>
          <p:nvPr/>
        </p:nvSpPr>
        <p:spPr>
          <a:xfrm>
            <a:off x="502920" y="4206240"/>
            <a:ext cx="2377440" cy="237744"/>
          </a:xfrm>
          <a:prstGeom prst="roundRect">
            <a:avLst>
              <a:gd name="adj" fmla="val 50000"/>
            </a:avLst>
          </a:prstGeom>
          <a:solidFill>
            <a:srgbClr val="6CC08B">
              <a:alpha val="20000"/>
            </a:srgbClr>
          </a:solidFill>
          <a:ln w="9525">
            <a:solidFill>
              <a:srgbClr val="6CC08B"/>
            </a:solidFill>
            <a:prstDash val="solid"/>
          </a:ln>
        </p:spPr>
      </p:sp>
      <p:sp>
        <p:nvSpPr>
          <p:cNvPr id="10" name="a3_txt_228"/>
          <p:cNvSpPr txBox="1"/>
          <p:nvPr/>
        </p:nvSpPr>
        <p:spPr>
          <a:xfrm>
            <a:off x="502920" y="4206240"/>
            <a:ext cx="2377440" cy="237744"/>
          </a:xfrm>
          <a:prstGeom prst="rect">
            <a:avLst/>
          </a:prstGeom>
          <a:noFill/>
          <a:ln/>
        </p:spPr>
        <p:txBody>
          <a:bodyPr wrap="square" lIns="0" tIns="0" rIns="0" bIns="0" rtlCol="0" anchor="ctr"/>
          <a:lstStyle/>
          <a:p>
            <a:pPr algn="ctr" indent="0" marL="0">
              <a:buNone/>
            </a:pPr>
            <a:r>
              <a:rPr lang="en-US" sz="1000" b="1" dirty="0">
                <a:solidFill>
                  <a:srgbClr val="6CC08B"/>
                </a:solidFill>
                <a:latin typeface="Calibri" pitchFamily="34" charset="0"/>
                <a:ea typeface="Calibri" pitchFamily="34" charset="-122"/>
                <a:cs typeface="Calibri" pitchFamily="34" charset="-120"/>
              </a:rPr>
              <a:t>Tested at desktop &amp; phone widths</a:t>
            </a:r>
            <a:endParaRPr lang="en-US" sz="1000" dirty="0"/>
          </a:p>
        </p:txBody>
      </p:sp>
      <p:sp>
        <p:nvSpPr>
          <p:cNvPr id="11" name="a3_chip_229"/>
          <p:cNvSpPr/>
          <p:nvPr/>
        </p:nvSpPr>
        <p:spPr>
          <a:xfrm>
            <a:off x="3017520" y="4206240"/>
            <a:ext cx="2057400" cy="237744"/>
          </a:xfrm>
          <a:prstGeom prst="roundRect">
            <a:avLst>
              <a:gd name="adj" fmla="val 50000"/>
            </a:avLst>
          </a:prstGeom>
          <a:solidFill>
            <a:srgbClr val="7CCFC7">
              <a:alpha val="20000"/>
            </a:srgbClr>
          </a:solidFill>
          <a:ln w="9525">
            <a:solidFill>
              <a:srgbClr val="7CCFC7"/>
            </a:solidFill>
            <a:prstDash val="solid"/>
          </a:ln>
        </p:spPr>
      </p:sp>
      <p:sp>
        <p:nvSpPr>
          <p:cNvPr id="12" name="a3_txt_230"/>
          <p:cNvSpPr txBox="1"/>
          <p:nvPr/>
        </p:nvSpPr>
        <p:spPr>
          <a:xfrm>
            <a:off x="3017520" y="4206240"/>
            <a:ext cx="2057400" cy="237744"/>
          </a:xfrm>
          <a:prstGeom prst="rect">
            <a:avLst/>
          </a:prstGeom>
          <a:noFill/>
          <a:ln/>
        </p:spPr>
        <p:txBody>
          <a:bodyPr wrap="square" lIns="0" tIns="0" rIns="0" bIns="0" rtlCol="0" anchor="ctr"/>
          <a:lstStyle/>
          <a:p>
            <a:pPr algn="ctr" indent="0" marL="0">
              <a:buNone/>
            </a:pPr>
            <a:r>
              <a:rPr lang="en-US" sz="1000" b="1" dirty="0">
                <a:solidFill>
                  <a:srgbClr val="7CCFC7"/>
                </a:solidFill>
                <a:latin typeface="Calibri" pitchFamily="34" charset="0"/>
                <a:ea typeface="Calibri" pitchFamily="34" charset="-122"/>
                <a:cs typeface="Calibri" pitchFamily="34" charset="-120"/>
              </a:rPr>
              <a:t>Alerts + settings pages</a:t>
            </a:r>
            <a:endParaRPr lang="en-US" sz="1000" dirty="0"/>
          </a:p>
        </p:txBody>
      </p:sp>
      <p:sp>
        <p:nvSpPr>
          <p:cNvPr id="13" name="a3_chip_231"/>
          <p:cNvSpPr/>
          <p:nvPr/>
        </p:nvSpPr>
        <p:spPr>
          <a:xfrm>
            <a:off x="5212080" y="4206240"/>
            <a:ext cx="1828800" cy="237744"/>
          </a:xfrm>
          <a:prstGeom prst="roundRect">
            <a:avLst>
              <a:gd name="adj" fmla="val 50000"/>
            </a:avLst>
          </a:prstGeom>
          <a:solidFill>
            <a:srgbClr val="EDA265">
              <a:alpha val="20000"/>
            </a:srgbClr>
          </a:solidFill>
          <a:ln w="9525">
            <a:solidFill>
              <a:srgbClr val="EDA265"/>
            </a:solidFill>
            <a:prstDash val="solid"/>
          </a:ln>
        </p:spPr>
      </p:sp>
      <p:sp>
        <p:nvSpPr>
          <p:cNvPr id="14" name="a3_txt_232"/>
          <p:cNvSpPr txBox="1"/>
          <p:nvPr/>
        </p:nvSpPr>
        <p:spPr>
          <a:xfrm>
            <a:off x="5212080" y="4206240"/>
            <a:ext cx="1828800" cy="237744"/>
          </a:xfrm>
          <a:prstGeom prst="rect">
            <a:avLst/>
          </a:prstGeom>
          <a:noFill/>
          <a:ln/>
        </p:spPr>
        <p:txBody>
          <a:bodyPr wrap="square" lIns="0" tIns="0" rIns="0" bIns="0" rtlCol="0" anchor="ctr"/>
          <a:lstStyle/>
          <a:p>
            <a:pPr algn="ctr" indent="0" marL="0">
              <a:buNone/>
            </a:pPr>
            <a:r>
              <a:rPr lang="en-US" sz="1000" b="1" dirty="0">
                <a:solidFill>
                  <a:srgbClr val="EDA265"/>
                </a:solidFill>
                <a:latin typeface="Calibri" pitchFamily="34" charset="0"/>
                <a:ea typeface="Calibri" pitchFamily="34" charset="-122"/>
                <a:cs typeface="Calibri" pitchFamily="34" charset="-120"/>
              </a:rPr>
              <a:t>Simulated data label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11</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par>
                          <p:cTn id="14" fill="hold">
                            <p:stCondLst>
                              <p:cond delay="350"/>
                            </p:stCondLst>
                            <p:childTnLst>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70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Results: 48 h moisture, closed loop vs timer</a:t>
            </a:r>
            <a:endParaRPr lang="en-US" sz="2600" dirty="0"/>
          </a:p>
        </p:txBody>
      </p:sp>
      <p:graphicFrame>
        <p:nvGraphicFramePr>
          <p:cNvPr id="3" name="w1_chart_233" descr=""/>
          <p:cNvGraphicFramePr/>
          <p:nvPr/>
        </p:nvGraphicFramePr>
        <p:xfrm>
          <a:off x="457200" y="914400"/>
          <a:ext cx="5760720" cy="3703320"/>
        </p:xfrm>
        <a:graphic xmlns:a="http://schemas.openxmlformats.org/drawingml/2006/main">
          <a:graphicData uri="http://schemas.openxmlformats.org/drawingml/2006/chart">
            <c:chart xmlns:c="http://schemas.openxmlformats.org/drawingml/2006/chart" r:id="rId1"/>
          </a:graphicData>
        </a:graphic>
      </p:graphicFrame>
      <p:sp>
        <p:nvSpPr>
          <p:cNvPr id="4" name="a2_card_234"/>
          <p:cNvSpPr/>
          <p:nvPr/>
        </p:nvSpPr>
        <p:spPr>
          <a:xfrm>
            <a:off x="6446520" y="914400"/>
            <a:ext cx="2240280" cy="3703320"/>
          </a:xfrm>
          <a:prstGeom prst="roundRect">
            <a:avLst>
              <a:gd name="adj" fmla="val 3265"/>
            </a:avLst>
          </a:prstGeom>
          <a:solidFill>
            <a:srgbClr val="233A42"/>
          </a:solidFill>
          <a:ln w="9525">
            <a:solidFill>
              <a:srgbClr val="35505A"/>
            </a:solidFill>
            <a:prstDash val="solid"/>
          </a:ln>
        </p:spPr>
      </p:sp>
      <p:sp>
        <p:nvSpPr>
          <p:cNvPr id="5" name="a2_txt_235"/>
          <p:cNvSpPr txBox="1"/>
          <p:nvPr/>
        </p:nvSpPr>
        <p:spPr>
          <a:xfrm>
            <a:off x="6601968" y="1024128"/>
            <a:ext cx="1920240" cy="274320"/>
          </a:xfrm>
          <a:prstGeom prst="rect">
            <a:avLst/>
          </a:prstGeom>
          <a:noFill/>
          <a:ln/>
        </p:spPr>
        <p:txBody>
          <a:bodyPr wrap="square" lIns="0" tIns="0" rIns="0" bIns="0" rtlCol="0" anchor="t"/>
          <a:lstStyle/>
          <a:p>
            <a:pPr indent="0" marL="0">
              <a:buNone/>
            </a:pPr>
            <a:r>
              <a:rPr lang="en-US" sz="1400" b="1" dirty="0">
                <a:solidFill>
                  <a:srgbClr val="6CC08B"/>
                </a:solidFill>
                <a:latin typeface="Calibri" pitchFamily="34" charset="0"/>
                <a:ea typeface="Calibri" pitchFamily="34" charset="-122"/>
                <a:cs typeface="Calibri" pitchFamily="34" charset="-120"/>
              </a:rPr>
              <a:t>What it shows</a:t>
            </a:r>
            <a:endParaRPr lang="en-US" sz="1400" dirty="0"/>
          </a:p>
        </p:txBody>
      </p:sp>
      <p:sp>
        <p:nvSpPr>
          <p:cNvPr id="6" name="a2_txt_236"/>
          <p:cNvSpPr txBox="1"/>
          <p:nvPr/>
        </p:nvSpPr>
        <p:spPr>
          <a:xfrm>
            <a:off x="6601968" y="1353312"/>
            <a:ext cx="1965960" cy="2011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8F1EE"/>
                </a:solidFill>
                <a:latin typeface="Calibri" pitchFamily="34" charset="0"/>
                <a:ea typeface="Calibri" pitchFamily="34" charset="-122"/>
                <a:cs typeface="Calibri" pitchFamily="34" charset="-120"/>
              </a:rPr>
              <a:t>Ours stays in a 30–42% band: short bursts only when needed</a:t>
            </a:r>
            <a:endParaRPr lang="en-US" sz="1200" dirty="0"/>
          </a:p>
          <a:p>
            <a:pPr marL="342900" indent="-342900">
              <a:spcAft>
                <a:spcPts val="600"/>
              </a:spcAft>
              <a:buSzPct val="100000"/>
              <a:buChar char="•"/>
            </a:pPr>
            <a:r>
              <a:rPr lang="en-US" sz="1200" dirty="0">
                <a:solidFill>
                  <a:srgbClr val="E8F1EE"/>
                </a:solidFill>
                <a:latin typeface="Calibri" pitchFamily="34" charset="0"/>
                <a:ea typeface="Calibri" pitchFamily="34" charset="-122"/>
                <a:cs typeface="Calibri" pitchFamily="34" charset="-120"/>
              </a:rPr>
              <a:t>Timer overshoots toward 60% on cool days and keeps watering</a:t>
            </a:r>
            <a:endParaRPr lang="en-US" sz="1200" dirty="0"/>
          </a:p>
          <a:p>
            <a:pPr marL="342900" indent="-342900">
              <a:buSzPct val="100000"/>
              <a:buChar char="•"/>
            </a:pPr>
            <a:r>
              <a:rPr lang="en-US" sz="1200" dirty="0">
                <a:solidFill>
                  <a:srgbClr val="E8F1EE"/>
                </a:solidFill>
                <a:latin typeface="Calibri" pitchFamily="34" charset="0"/>
                <a:ea typeface="Calibri" pitchFamily="34" charset="-122"/>
                <a:cs typeface="Calibri" pitchFamily="34" charset="-120"/>
              </a:rPr>
              <a:t>Neither drops below the stress zone</a:t>
            </a:r>
            <a:endParaRPr lang="en-US" sz="1200" dirty="0"/>
          </a:p>
        </p:txBody>
      </p:sp>
      <p:sp>
        <p:nvSpPr>
          <p:cNvPr id="7" name="a3_txt_237"/>
          <p:cNvSpPr txBox="1"/>
          <p:nvPr/>
        </p:nvSpPr>
        <p:spPr>
          <a:xfrm>
            <a:off x="6601968" y="3429000"/>
            <a:ext cx="1965960" cy="1097280"/>
          </a:xfrm>
          <a:prstGeom prst="rect">
            <a:avLst/>
          </a:prstGeom>
          <a:noFill/>
          <a:ln/>
        </p:spPr>
        <p:txBody>
          <a:bodyPr wrap="square" lIns="0" tIns="0" rIns="0" bIns="0" rtlCol="0" anchor="t"/>
          <a:lstStyle/>
          <a:p>
            <a:pPr indent="0" marL="0">
              <a:buNone/>
            </a:pPr>
            <a:r>
              <a:rPr lang="en-US" sz="1000" i="1" dirty="0">
                <a:solidFill>
                  <a:srgbClr val="EDA265"/>
                </a:solidFill>
                <a:latin typeface="Calibri" pitchFamily="34" charset="0"/>
                <a:ea typeface="Calibri" pitchFamily="34" charset="-122"/>
                <a:cs typeface="Calibri" pitchFamily="34" charset="-120"/>
              </a:rPr>
              <a:t>Simulation of a 2 L pot with the project's simulator model; timer = 2 × 14 s/day. Real-sensor data follows once the ESP32 arrives.</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12</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35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par>
                          <p:cTn id="18" fill="hold">
                            <p:stCondLst>
                              <p:cond delay="700"/>
                            </p:stCondLst>
                            <p:childTnLst>
                              <p:par>
                                <p:cTn id="19" presetID="10"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Results &amp; analysis: 7-day comparison</a:t>
            </a:r>
            <a:endParaRPr lang="en-US" sz="2600" dirty="0"/>
          </a:p>
        </p:txBody>
      </p:sp>
      <p:sp>
        <p:nvSpPr>
          <p:cNvPr id="3" name="a1_card_238"/>
          <p:cNvSpPr/>
          <p:nvPr/>
        </p:nvSpPr>
        <p:spPr>
          <a:xfrm>
            <a:off x="457200" y="914400"/>
            <a:ext cx="1645920" cy="1691640"/>
          </a:xfrm>
          <a:prstGeom prst="roundRect">
            <a:avLst>
              <a:gd name="adj" fmla="val 4444"/>
            </a:avLst>
          </a:prstGeom>
          <a:solidFill>
            <a:srgbClr val="233A42"/>
          </a:solidFill>
          <a:ln w="9525">
            <a:solidFill>
              <a:srgbClr val="35505A"/>
            </a:solidFill>
            <a:prstDash val="solid"/>
          </a:ln>
        </p:spPr>
      </p:sp>
      <p:sp>
        <p:nvSpPr>
          <p:cNvPr id="4" name="a1_txt_239"/>
          <p:cNvSpPr txBox="1"/>
          <p:nvPr/>
        </p:nvSpPr>
        <p:spPr>
          <a:xfrm>
            <a:off x="457200" y="1005840"/>
            <a:ext cx="1645920" cy="685800"/>
          </a:xfrm>
          <a:prstGeom prst="rect">
            <a:avLst/>
          </a:prstGeom>
          <a:noFill/>
          <a:ln/>
        </p:spPr>
        <p:txBody>
          <a:bodyPr wrap="square" lIns="0" tIns="0" rIns="0" bIns="0" rtlCol="0" anchor="ctr"/>
          <a:lstStyle/>
          <a:p>
            <a:pPr algn="ctr" indent="0" marL="0">
              <a:buNone/>
            </a:pPr>
            <a:r>
              <a:rPr lang="en-US" sz="3400" b="1" dirty="0">
                <a:solidFill>
                  <a:srgbClr val="6CC08B"/>
                </a:solidFill>
                <a:latin typeface="Arial" pitchFamily="34" charset="0"/>
                <a:ea typeface="Arial" pitchFamily="34" charset="-122"/>
                <a:cs typeface="Arial" pitchFamily="34" charset="-120"/>
              </a:rPr>
              <a:t>45%</a:t>
            </a:r>
            <a:endParaRPr lang="en-US" sz="3400" dirty="0"/>
          </a:p>
        </p:txBody>
      </p:sp>
      <p:sp>
        <p:nvSpPr>
          <p:cNvPr id="5" name="a1_txt_240"/>
          <p:cNvSpPr txBox="1"/>
          <p:nvPr/>
        </p:nvSpPr>
        <p:spPr>
          <a:xfrm>
            <a:off x="457200" y="1691640"/>
            <a:ext cx="1645920" cy="274320"/>
          </a:xfrm>
          <a:prstGeom prst="rect">
            <a:avLst/>
          </a:prstGeom>
          <a:noFill/>
          <a:ln/>
        </p:spPr>
        <p:txBody>
          <a:bodyPr wrap="square" lIns="0" tIns="0" rIns="0" bIns="0" rtlCol="0" anchor="t"/>
          <a:lstStyle/>
          <a:p>
            <a:pPr algn="ctr" indent="0" marL="0">
              <a:buNone/>
            </a:pPr>
            <a:r>
              <a:rPr lang="en-US" sz="1300" b="1" dirty="0">
                <a:solidFill>
                  <a:srgbClr val="E8F1EE"/>
                </a:solidFill>
                <a:latin typeface="Calibri" pitchFamily="34" charset="0"/>
                <a:ea typeface="Calibri" pitchFamily="34" charset="-122"/>
                <a:cs typeface="Calibri" pitchFamily="34" charset="-120"/>
              </a:rPr>
              <a:t>less water</a:t>
            </a:r>
            <a:endParaRPr lang="en-US" sz="1300" dirty="0"/>
          </a:p>
        </p:txBody>
      </p:sp>
      <p:sp>
        <p:nvSpPr>
          <p:cNvPr id="6" name="a1_txt_241"/>
          <p:cNvSpPr txBox="1"/>
          <p:nvPr/>
        </p:nvSpPr>
        <p:spPr>
          <a:xfrm>
            <a:off x="548640" y="1984248"/>
            <a:ext cx="1463040" cy="548640"/>
          </a:xfrm>
          <a:prstGeom prst="rect">
            <a:avLst/>
          </a:prstGeom>
          <a:noFill/>
          <a:ln/>
        </p:spPr>
        <p:txBody>
          <a:bodyPr wrap="square" lIns="0" tIns="0" rIns="0" bIns="0" rtlCol="0" anchor="t"/>
          <a:lstStyle/>
          <a:p>
            <a:pPr algn="ctr" indent="0" marL="0">
              <a:buNone/>
            </a:pPr>
            <a:r>
              <a:rPr lang="en-US" sz="1050" dirty="0">
                <a:solidFill>
                  <a:srgbClr val="A3B8B3"/>
                </a:solidFill>
                <a:latin typeface="Calibri" pitchFamily="34" charset="0"/>
                <a:ea typeface="Calibri" pitchFamily="34" charset="-122"/>
                <a:cs typeface="Calibri" pitchFamily="34" charset="-120"/>
              </a:rPr>
              <a:t>2.7 L vs 4.9 L in 7 days</a:t>
            </a:r>
            <a:endParaRPr lang="en-US" sz="1050" dirty="0"/>
          </a:p>
        </p:txBody>
      </p:sp>
      <p:sp>
        <p:nvSpPr>
          <p:cNvPr id="7" name="a2_card_242"/>
          <p:cNvSpPr/>
          <p:nvPr/>
        </p:nvSpPr>
        <p:spPr>
          <a:xfrm>
            <a:off x="2240280" y="914400"/>
            <a:ext cx="1645920" cy="1691640"/>
          </a:xfrm>
          <a:prstGeom prst="roundRect">
            <a:avLst>
              <a:gd name="adj" fmla="val 4444"/>
            </a:avLst>
          </a:prstGeom>
          <a:solidFill>
            <a:srgbClr val="233A42"/>
          </a:solidFill>
          <a:ln w="9525">
            <a:solidFill>
              <a:srgbClr val="35505A"/>
            </a:solidFill>
            <a:prstDash val="solid"/>
          </a:ln>
        </p:spPr>
      </p:sp>
      <p:sp>
        <p:nvSpPr>
          <p:cNvPr id="8" name="a2_txt_243"/>
          <p:cNvSpPr txBox="1"/>
          <p:nvPr/>
        </p:nvSpPr>
        <p:spPr>
          <a:xfrm>
            <a:off x="2240280" y="1005840"/>
            <a:ext cx="1645920" cy="685800"/>
          </a:xfrm>
          <a:prstGeom prst="rect">
            <a:avLst/>
          </a:prstGeom>
          <a:noFill/>
          <a:ln/>
        </p:spPr>
        <p:txBody>
          <a:bodyPr wrap="square" lIns="0" tIns="0" rIns="0" bIns="0" rtlCol="0" anchor="ctr"/>
          <a:lstStyle/>
          <a:p>
            <a:pPr algn="ctr" indent="0" marL="0">
              <a:buNone/>
            </a:pPr>
            <a:r>
              <a:rPr lang="en-US" sz="3400" b="1" dirty="0">
                <a:solidFill>
                  <a:srgbClr val="7CCFC7"/>
                </a:solidFill>
                <a:latin typeface="Arial" pitchFamily="34" charset="0"/>
                <a:ea typeface="Arial" pitchFamily="34" charset="-122"/>
                <a:cs typeface="Arial" pitchFamily="34" charset="-120"/>
              </a:rPr>
              <a:t>0 h</a:t>
            </a:r>
            <a:endParaRPr lang="en-US" sz="3400" dirty="0"/>
          </a:p>
        </p:txBody>
      </p:sp>
      <p:sp>
        <p:nvSpPr>
          <p:cNvPr id="9" name="a2_txt_244"/>
          <p:cNvSpPr txBox="1"/>
          <p:nvPr/>
        </p:nvSpPr>
        <p:spPr>
          <a:xfrm>
            <a:off x="2240280" y="1691640"/>
            <a:ext cx="1645920" cy="274320"/>
          </a:xfrm>
          <a:prstGeom prst="rect">
            <a:avLst/>
          </a:prstGeom>
          <a:noFill/>
          <a:ln/>
        </p:spPr>
        <p:txBody>
          <a:bodyPr wrap="square" lIns="0" tIns="0" rIns="0" bIns="0" rtlCol="0" anchor="t"/>
          <a:lstStyle/>
          <a:p>
            <a:pPr algn="ctr" indent="0" marL="0">
              <a:buNone/>
            </a:pPr>
            <a:r>
              <a:rPr lang="en-US" sz="1300" b="1" dirty="0">
                <a:solidFill>
                  <a:srgbClr val="E8F1EE"/>
                </a:solidFill>
                <a:latin typeface="Calibri" pitchFamily="34" charset="0"/>
                <a:ea typeface="Calibri" pitchFamily="34" charset="-122"/>
                <a:cs typeface="Calibri" pitchFamily="34" charset="-120"/>
              </a:rPr>
              <a:t>near waterlogging</a:t>
            </a:r>
            <a:endParaRPr lang="en-US" sz="1300" dirty="0"/>
          </a:p>
        </p:txBody>
      </p:sp>
      <p:sp>
        <p:nvSpPr>
          <p:cNvPr id="10" name="a2_txt_245"/>
          <p:cNvSpPr txBox="1"/>
          <p:nvPr/>
        </p:nvSpPr>
        <p:spPr>
          <a:xfrm>
            <a:off x="2331720" y="1984248"/>
            <a:ext cx="1463040" cy="548640"/>
          </a:xfrm>
          <a:prstGeom prst="rect">
            <a:avLst/>
          </a:prstGeom>
          <a:noFill/>
          <a:ln/>
        </p:spPr>
        <p:txBody>
          <a:bodyPr wrap="square" lIns="0" tIns="0" rIns="0" bIns="0" rtlCol="0" anchor="t"/>
          <a:lstStyle/>
          <a:p>
            <a:pPr algn="ctr" indent="0" marL="0">
              <a:buNone/>
            </a:pPr>
            <a:r>
              <a:rPr lang="en-US" sz="1050" dirty="0">
                <a:solidFill>
                  <a:srgbClr val="A3B8B3"/>
                </a:solidFill>
                <a:latin typeface="Calibri" pitchFamily="34" charset="0"/>
                <a:ea typeface="Calibri" pitchFamily="34" charset="-122"/>
                <a:cs typeface="Calibri" pitchFamily="34" charset="-120"/>
              </a:rPr>
              <a:t>vs 11.8 h for the timer (moisture &gt; 50%)</a:t>
            </a:r>
            <a:endParaRPr lang="en-US" sz="1050" dirty="0"/>
          </a:p>
        </p:txBody>
      </p:sp>
      <p:sp>
        <p:nvSpPr>
          <p:cNvPr id="11" name="a3_card_246"/>
          <p:cNvSpPr/>
          <p:nvPr/>
        </p:nvSpPr>
        <p:spPr>
          <a:xfrm>
            <a:off x="4023360" y="914400"/>
            <a:ext cx="1645920" cy="1691640"/>
          </a:xfrm>
          <a:prstGeom prst="roundRect">
            <a:avLst>
              <a:gd name="adj" fmla="val 4444"/>
            </a:avLst>
          </a:prstGeom>
          <a:solidFill>
            <a:srgbClr val="233A42"/>
          </a:solidFill>
          <a:ln w="9525">
            <a:solidFill>
              <a:srgbClr val="35505A"/>
            </a:solidFill>
            <a:prstDash val="solid"/>
          </a:ln>
        </p:spPr>
      </p:sp>
      <p:sp>
        <p:nvSpPr>
          <p:cNvPr id="12" name="a3_txt_247"/>
          <p:cNvSpPr txBox="1"/>
          <p:nvPr/>
        </p:nvSpPr>
        <p:spPr>
          <a:xfrm>
            <a:off x="4023360" y="1005840"/>
            <a:ext cx="1645920" cy="685800"/>
          </a:xfrm>
          <a:prstGeom prst="rect">
            <a:avLst/>
          </a:prstGeom>
          <a:noFill/>
          <a:ln/>
        </p:spPr>
        <p:txBody>
          <a:bodyPr wrap="square" lIns="0" tIns="0" rIns="0" bIns="0" rtlCol="0" anchor="ctr"/>
          <a:lstStyle/>
          <a:p>
            <a:pPr algn="ctr" indent="0" marL="0">
              <a:buNone/>
            </a:pPr>
            <a:r>
              <a:rPr lang="en-US" sz="3400" b="1" dirty="0">
                <a:solidFill>
                  <a:srgbClr val="EDA265"/>
                </a:solidFill>
                <a:latin typeface="Arial" pitchFamily="34" charset="0"/>
                <a:ea typeface="Arial" pitchFamily="34" charset="-122"/>
                <a:cs typeface="Arial" pitchFamily="34" charset="-120"/>
              </a:rPr>
              <a:t>0 h</a:t>
            </a:r>
            <a:endParaRPr lang="en-US" sz="3400" dirty="0"/>
          </a:p>
        </p:txBody>
      </p:sp>
      <p:sp>
        <p:nvSpPr>
          <p:cNvPr id="13" name="a3_txt_248"/>
          <p:cNvSpPr txBox="1"/>
          <p:nvPr/>
        </p:nvSpPr>
        <p:spPr>
          <a:xfrm>
            <a:off x="4023360" y="1691640"/>
            <a:ext cx="1645920" cy="274320"/>
          </a:xfrm>
          <a:prstGeom prst="rect">
            <a:avLst/>
          </a:prstGeom>
          <a:noFill/>
          <a:ln/>
        </p:spPr>
        <p:txBody>
          <a:bodyPr wrap="square" lIns="0" tIns="0" rIns="0" bIns="0" rtlCol="0" anchor="t"/>
          <a:lstStyle/>
          <a:p>
            <a:pPr algn="ctr" indent="0" marL="0">
              <a:buNone/>
            </a:pPr>
            <a:r>
              <a:rPr lang="en-US" sz="1300" b="1" dirty="0">
                <a:solidFill>
                  <a:srgbClr val="E8F1EE"/>
                </a:solidFill>
                <a:latin typeface="Calibri" pitchFamily="34" charset="0"/>
                <a:ea typeface="Calibri" pitchFamily="34" charset="-122"/>
                <a:cs typeface="Calibri" pitchFamily="34" charset="-120"/>
              </a:rPr>
              <a:t>in water stress</a:t>
            </a:r>
            <a:endParaRPr lang="en-US" sz="1300" dirty="0"/>
          </a:p>
        </p:txBody>
      </p:sp>
      <p:sp>
        <p:nvSpPr>
          <p:cNvPr id="14" name="a3_txt_249"/>
          <p:cNvSpPr txBox="1"/>
          <p:nvPr/>
        </p:nvSpPr>
        <p:spPr>
          <a:xfrm>
            <a:off x="4114800" y="1984248"/>
            <a:ext cx="1463040" cy="548640"/>
          </a:xfrm>
          <a:prstGeom prst="rect">
            <a:avLst/>
          </a:prstGeom>
          <a:noFill/>
          <a:ln/>
        </p:spPr>
        <p:txBody>
          <a:bodyPr wrap="square" lIns="0" tIns="0" rIns="0" bIns="0" rtlCol="0" anchor="t"/>
          <a:lstStyle/>
          <a:p>
            <a:pPr algn="ctr" indent="0" marL="0">
              <a:buNone/>
            </a:pPr>
            <a:r>
              <a:rPr lang="en-US" sz="1050" dirty="0">
                <a:solidFill>
                  <a:srgbClr val="A3B8B3"/>
                </a:solidFill>
                <a:latin typeface="Calibri" pitchFamily="34" charset="0"/>
                <a:ea typeface="Calibri" pitchFamily="34" charset="-122"/>
                <a:cs typeface="Calibri" pitchFamily="34" charset="-120"/>
              </a:rPr>
              <a:t>moisture never fell below 27%</a:t>
            </a:r>
            <a:endParaRPr lang="en-US" sz="1050" dirty="0"/>
          </a:p>
        </p:txBody>
      </p:sp>
      <p:graphicFrame>
        <p:nvGraphicFramePr>
          <p:cNvPr id="15" name="w4_bar_250" descr=""/>
          <p:cNvGraphicFramePr/>
          <p:nvPr/>
        </p:nvGraphicFramePr>
        <p:xfrm>
          <a:off x="457200" y="2743200"/>
          <a:ext cx="5212080" cy="1874520"/>
        </p:xfrm>
        <a:graphic xmlns:a="http://schemas.openxmlformats.org/drawingml/2006/main">
          <a:graphicData uri="http://schemas.openxmlformats.org/drawingml/2006/chart">
            <c:chart xmlns:c="http://schemas.openxmlformats.org/drawingml/2006/chart" r:id="rId1"/>
          </a:graphicData>
        </a:graphic>
      </p:graphicFrame>
      <p:sp>
        <p:nvSpPr>
          <p:cNvPr id="16" name="a5_card_251"/>
          <p:cNvSpPr/>
          <p:nvPr/>
        </p:nvSpPr>
        <p:spPr>
          <a:xfrm>
            <a:off x="5897880" y="914400"/>
            <a:ext cx="2788920" cy="3703320"/>
          </a:xfrm>
          <a:prstGeom prst="roundRect">
            <a:avLst>
              <a:gd name="adj" fmla="val 2623"/>
            </a:avLst>
          </a:prstGeom>
          <a:solidFill>
            <a:srgbClr val="1C2F36"/>
          </a:solidFill>
          <a:ln w="9525">
            <a:solidFill>
              <a:srgbClr val="35505A"/>
            </a:solidFill>
            <a:prstDash val="solid"/>
          </a:ln>
        </p:spPr>
      </p:sp>
      <p:sp>
        <p:nvSpPr>
          <p:cNvPr id="17" name="a5_txt_252"/>
          <p:cNvSpPr txBox="1"/>
          <p:nvPr/>
        </p:nvSpPr>
        <p:spPr>
          <a:xfrm>
            <a:off x="6053328" y="1005840"/>
            <a:ext cx="2560320" cy="274320"/>
          </a:xfrm>
          <a:prstGeom prst="rect">
            <a:avLst/>
          </a:prstGeom>
          <a:noFill/>
          <a:ln/>
        </p:spPr>
        <p:txBody>
          <a:bodyPr wrap="square" lIns="0" tIns="0" rIns="0" bIns="0" rtlCol="0" anchor="t"/>
          <a:lstStyle/>
          <a:p>
            <a:pPr indent="0" marL="0">
              <a:buNone/>
            </a:pPr>
            <a:r>
              <a:rPr lang="en-US" sz="1400" b="1" dirty="0">
                <a:solidFill>
                  <a:srgbClr val="7CCFC7"/>
                </a:solidFill>
                <a:latin typeface="Calibri" pitchFamily="34" charset="0"/>
                <a:ea typeface="Calibri" pitchFamily="34" charset="-122"/>
                <a:cs typeface="Calibri" pitchFamily="34" charset="-120"/>
              </a:rPr>
              <a:t>Integration tests</a:t>
            </a:r>
            <a:endParaRPr lang="en-US" sz="1400" dirty="0"/>
          </a:p>
        </p:txBody>
      </p:sp>
      <p:pic>
        <p:nvPicPr>
          <p:cNvPr id="18" name="a6_tk_253" descr="preencoded.png">    </p:cNvPr>
          <p:cNvPicPr>
            <a:picLocks noChangeAspect="1"/>
          </p:cNvPicPr>
          <p:nvPr/>
        </p:nvPicPr>
        <p:blipFill>
          <a:blip r:embed="rId2"/>
          <a:stretch>
            <a:fillRect/>
          </a:stretch>
        </p:blipFill>
        <p:spPr>
          <a:xfrm>
            <a:off x="6053328" y="1408176"/>
            <a:ext cx="237744" cy="237744"/>
          </a:xfrm>
          <a:prstGeom prst="rect">
            <a:avLst/>
          </a:prstGeom>
        </p:spPr>
      </p:pic>
      <p:sp>
        <p:nvSpPr>
          <p:cNvPr id="19" name="a6_txt_254"/>
          <p:cNvSpPr txBox="1"/>
          <p:nvPr/>
        </p:nvSpPr>
        <p:spPr>
          <a:xfrm>
            <a:off x="6382512" y="1371600"/>
            <a:ext cx="2212848" cy="548640"/>
          </a:xfrm>
          <a:prstGeom prst="rect">
            <a:avLst/>
          </a:prstGeom>
          <a:noFill/>
          <a:ln/>
        </p:spPr>
        <p:txBody>
          <a:bodyPr wrap="square" lIns="0" tIns="0" rIns="0" bIns="0" rtlCol="0" anchor="t"/>
          <a:lstStyle/>
          <a:p>
            <a:pPr indent="0" marL="0">
              <a:buNone/>
            </a:pPr>
            <a:r>
              <a:rPr lang="en-US" sz="1100" dirty="0">
                <a:solidFill>
                  <a:srgbClr val="E8F1EE"/>
                </a:solidFill>
                <a:latin typeface="Calibri" pitchFamily="34" charset="0"/>
                <a:ea typeface="Calibri" pitchFamily="34" charset="-122"/>
                <a:cs typeface="Calibri" pitchFamily="34" charset="-120"/>
              </a:rPr>
              <a:t>Server ⇄ simulator ⇄ dashboard, live mode</a:t>
            </a:r>
            <a:endParaRPr lang="en-US" sz="1100" dirty="0"/>
          </a:p>
        </p:txBody>
      </p:sp>
      <p:pic>
        <p:nvPicPr>
          <p:cNvPr id="20" name="a7_tk_255" descr="preencoded.png">    </p:cNvPr>
          <p:cNvPicPr>
            <a:picLocks noChangeAspect="1"/>
          </p:cNvPicPr>
          <p:nvPr/>
        </p:nvPicPr>
        <p:blipFill>
          <a:blip r:embed="rId3"/>
          <a:stretch>
            <a:fillRect/>
          </a:stretch>
        </p:blipFill>
        <p:spPr>
          <a:xfrm>
            <a:off x="6053328" y="2011680"/>
            <a:ext cx="237744" cy="237744"/>
          </a:xfrm>
          <a:prstGeom prst="rect">
            <a:avLst/>
          </a:prstGeom>
        </p:spPr>
      </p:pic>
      <p:sp>
        <p:nvSpPr>
          <p:cNvPr id="21" name="a7_txt_256"/>
          <p:cNvSpPr txBox="1"/>
          <p:nvPr/>
        </p:nvSpPr>
        <p:spPr>
          <a:xfrm>
            <a:off x="6382512" y="1975104"/>
            <a:ext cx="2212848" cy="548640"/>
          </a:xfrm>
          <a:prstGeom prst="rect">
            <a:avLst/>
          </a:prstGeom>
          <a:noFill/>
          <a:ln/>
        </p:spPr>
        <p:txBody>
          <a:bodyPr wrap="square" lIns="0" tIns="0" rIns="0" bIns="0" rtlCol="0" anchor="t"/>
          <a:lstStyle/>
          <a:p>
            <a:pPr indent="0" marL="0">
              <a:buNone/>
            </a:pPr>
            <a:r>
              <a:rPr lang="en-US" sz="1100" dirty="0">
                <a:solidFill>
                  <a:srgbClr val="E8F1EE"/>
                </a:solidFill>
                <a:latin typeface="Calibri" pitchFamily="34" charset="0"/>
                <a:ea typeface="Calibri" pitchFamily="34" charset="-122"/>
                <a:cs typeface="Calibri" pitchFamily="34" charset="-120"/>
              </a:rPr>
              <a:t>API checklist (curl): readings, pump, mode, settings</a:t>
            </a:r>
            <a:endParaRPr lang="en-US" sz="1100" dirty="0"/>
          </a:p>
        </p:txBody>
      </p:sp>
      <p:pic>
        <p:nvPicPr>
          <p:cNvPr id="22" name="a8_tk_257" descr="preencoded.png">    </p:cNvPr>
          <p:cNvPicPr>
            <a:picLocks noChangeAspect="1"/>
          </p:cNvPicPr>
          <p:nvPr/>
        </p:nvPicPr>
        <p:blipFill>
          <a:blip r:embed="rId4"/>
          <a:stretch>
            <a:fillRect/>
          </a:stretch>
        </p:blipFill>
        <p:spPr>
          <a:xfrm>
            <a:off x="6053328" y="2615184"/>
            <a:ext cx="237744" cy="237744"/>
          </a:xfrm>
          <a:prstGeom prst="rect">
            <a:avLst/>
          </a:prstGeom>
        </p:spPr>
      </p:pic>
      <p:sp>
        <p:nvSpPr>
          <p:cNvPr id="23" name="a8_txt_258"/>
          <p:cNvSpPr txBox="1"/>
          <p:nvPr/>
        </p:nvSpPr>
        <p:spPr>
          <a:xfrm>
            <a:off x="6382512" y="2578608"/>
            <a:ext cx="2212848" cy="548640"/>
          </a:xfrm>
          <a:prstGeom prst="rect">
            <a:avLst/>
          </a:prstGeom>
          <a:noFill/>
          <a:ln/>
        </p:spPr>
        <p:txBody>
          <a:bodyPr wrap="square" lIns="0" tIns="0" rIns="0" bIns="0" rtlCol="0" anchor="t"/>
          <a:lstStyle/>
          <a:p>
            <a:pPr indent="0" marL="0">
              <a:buNone/>
            </a:pPr>
            <a:r>
              <a:rPr lang="en-US" sz="1100" dirty="0">
                <a:solidFill>
                  <a:srgbClr val="E8F1EE"/>
                </a:solidFill>
                <a:latin typeface="Calibri" pitchFamily="34" charset="0"/>
                <a:ea typeface="Calibri" pitchFamily="34" charset="-122"/>
                <a:cs typeface="Calibri" pitchFamily="34" charset="-120"/>
              </a:rPr>
              <a:t>Browser tests at desktop and phone widths</a:t>
            </a:r>
            <a:endParaRPr lang="en-US" sz="1100" dirty="0"/>
          </a:p>
        </p:txBody>
      </p:sp>
      <p:pic>
        <p:nvPicPr>
          <p:cNvPr id="24" name="a9_tk_259" descr="preencoded.png">    </p:cNvPr>
          <p:cNvPicPr>
            <a:picLocks noChangeAspect="1"/>
          </p:cNvPicPr>
          <p:nvPr/>
        </p:nvPicPr>
        <p:blipFill>
          <a:blip r:embed="rId5"/>
          <a:stretch>
            <a:fillRect/>
          </a:stretch>
        </p:blipFill>
        <p:spPr>
          <a:xfrm>
            <a:off x="6053328" y="3218688"/>
            <a:ext cx="237744" cy="237744"/>
          </a:xfrm>
          <a:prstGeom prst="rect">
            <a:avLst/>
          </a:prstGeom>
        </p:spPr>
      </p:pic>
      <p:sp>
        <p:nvSpPr>
          <p:cNvPr id="25" name="a9_txt_260"/>
          <p:cNvSpPr txBox="1"/>
          <p:nvPr/>
        </p:nvSpPr>
        <p:spPr>
          <a:xfrm>
            <a:off x="6382512" y="3182112"/>
            <a:ext cx="2212848" cy="548640"/>
          </a:xfrm>
          <a:prstGeom prst="rect">
            <a:avLst/>
          </a:prstGeom>
          <a:noFill/>
          <a:ln/>
        </p:spPr>
        <p:txBody>
          <a:bodyPr wrap="square" lIns="0" tIns="0" rIns="0" bIns="0" rtlCol="0" anchor="t"/>
          <a:lstStyle/>
          <a:p>
            <a:pPr indent="0" marL="0">
              <a:buNone/>
            </a:pPr>
            <a:r>
              <a:rPr lang="en-US" sz="1100" dirty="0">
                <a:solidFill>
                  <a:srgbClr val="E8F1EE"/>
                </a:solidFill>
                <a:latin typeface="Calibri" pitchFamily="34" charset="0"/>
                <a:ea typeface="Calibri" pitchFamily="34" charset="-122"/>
                <a:cs typeface="Calibri" pitchFamily="34" charset="-120"/>
              </a:rPr>
              <a:t>Board offline / no-sensor scenarios flagged</a:t>
            </a:r>
            <a:endParaRPr lang="en-US" sz="1100" dirty="0"/>
          </a:p>
        </p:txBody>
      </p:sp>
      <p:pic>
        <p:nvPicPr>
          <p:cNvPr id="26" name="a10_tk_261" descr="preencoded.png">    </p:cNvPr>
          <p:cNvPicPr>
            <a:picLocks noChangeAspect="1"/>
          </p:cNvPicPr>
          <p:nvPr/>
        </p:nvPicPr>
        <p:blipFill>
          <a:blip r:embed="rId6"/>
          <a:stretch>
            <a:fillRect/>
          </a:stretch>
        </p:blipFill>
        <p:spPr>
          <a:xfrm>
            <a:off x="6053328" y="3822192"/>
            <a:ext cx="237744" cy="237744"/>
          </a:xfrm>
          <a:prstGeom prst="rect">
            <a:avLst/>
          </a:prstGeom>
        </p:spPr>
      </p:pic>
      <p:sp>
        <p:nvSpPr>
          <p:cNvPr id="27" name="a10_txt_262"/>
          <p:cNvSpPr txBox="1"/>
          <p:nvPr/>
        </p:nvSpPr>
        <p:spPr>
          <a:xfrm>
            <a:off x="6382512" y="3785616"/>
            <a:ext cx="2212848" cy="548640"/>
          </a:xfrm>
          <a:prstGeom prst="rect">
            <a:avLst/>
          </a:prstGeom>
          <a:noFill/>
          <a:ln/>
        </p:spPr>
        <p:txBody>
          <a:bodyPr wrap="square" lIns="0" tIns="0" rIns="0" bIns="0" rtlCol="0" anchor="t"/>
          <a:lstStyle/>
          <a:p>
            <a:pPr indent="0" marL="0">
              <a:buNone/>
            </a:pPr>
            <a:r>
              <a:rPr lang="en-US" sz="1100" dirty="0">
                <a:solidFill>
                  <a:srgbClr val="EDA265"/>
                </a:solidFill>
                <a:latin typeface="Calibri" pitchFamily="34" charset="0"/>
                <a:ea typeface="Calibri" pitchFamily="34" charset="-122"/>
                <a:cs typeface="Calibri" pitchFamily="34" charset="-120"/>
              </a:rPr>
              <a:t>Firmware on real ESP32 (pending hardware)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13</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35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30" fill="hold">
                            <p:stCondLst>
                              <p:cond delay="700"/>
                            </p:stCondLst>
                            <p:childTnLst>
                              <p:par>
                                <p:cTn id="31" presetID="10" presetClass="entr" presetSubtype="0"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par>
                          <p:cTn id="43" fill="hold">
                            <p:stCondLst>
                              <p:cond delay="1050"/>
                            </p:stCondLst>
                            <p:childTnLst>
                              <p:par>
                                <p:cTn id="44" presetID="22" presetClass="entr" presetSubtype="8" fill="hold"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childTnLst>
                          </p:cTn>
                        </p:par>
                        <p:par>
                          <p:cTn id="47" fill="hold">
                            <p:stCondLst>
                              <p:cond delay="1400"/>
                            </p:stCondLst>
                            <p:childTnLst>
                              <p:par>
                                <p:cTn id="48" presetID="10" presetClass="entr" presetSubtype="0"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10" presetClass="entr" presetSubtype="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500"/>
                                        <p:tgtEl>
                                          <p:spTgt spid="17"/>
                                        </p:tgtEl>
                                      </p:cBhvr>
                                    </p:animEffect>
                                  </p:childTnLst>
                                </p:cTn>
                              </p:par>
                            </p:childTnLst>
                          </p:cTn>
                        </p:par>
                        <p:par>
                          <p:cTn id="54" fill="hold">
                            <p:stCondLst>
                              <p:cond delay="1750"/>
                            </p:stCondLst>
                            <p:childTnLst>
                              <p:par>
                                <p:cTn id="55" presetID="10" presetClass="entr" presetSubtype="0" fill="hold" nodeType="after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ntr" presetSubtype="0" fill="hold"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childTnLst>
                          </p:cTn>
                        </p:par>
                        <p:par>
                          <p:cTn id="61" fill="hold">
                            <p:stCondLst>
                              <p:cond delay="2100"/>
                            </p:stCondLst>
                            <p:childTnLst>
                              <p:par>
                                <p:cTn id="62" presetID="10" presetClass="entr" presetSubtype="0" fill="hold"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par>
                                <p:cTn id="65" presetID="10" presetClass="entr" presetSubtype="0" fill="hold"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childTnLst>
                          </p:cTn>
                        </p:par>
                        <p:par>
                          <p:cTn id="68" fill="hold">
                            <p:stCondLst>
                              <p:cond delay="2450"/>
                            </p:stCondLst>
                            <p:childTnLst>
                              <p:par>
                                <p:cTn id="69" presetID="10" presetClass="entr" presetSubtype="0" fill="hold" nodeType="after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par>
                                <p:cTn id="72" presetID="10" presetClass="entr" presetSubtype="0" fill="hold"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par>
                          <p:cTn id="75" fill="hold">
                            <p:stCondLst>
                              <p:cond delay="2800"/>
                            </p:stCondLst>
                            <p:childTnLst>
                              <p:par>
                                <p:cTn id="76" presetID="10" presetClass="entr" presetSubtype="0" fill="hold" nodeType="after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500"/>
                                        <p:tgtEl>
                                          <p:spTgt spid="24"/>
                                        </p:tgtEl>
                                      </p:cBhvr>
                                    </p:animEffect>
                                  </p:childTnLst>
                                </p:cTn>
                              </p:par>
                              <p:par>
                                <p:cTn id="79" presetID="10" presetClass="entr" presetSubtype="0" fill="hold" nodeType="with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childTnLst>
                                </p:cTn>
                              </p:par>
                            </p:childTnLst>
                          </p:cTn>
                        </p:par>
                        <p:par>
                          <p:cTn id="82" fill="hold">
                            <p:stCondLst>
                              <p:cond delay="3150"/>
                            </p:stCondLst>
                            <p:childTnLst>
                              <p:par>
                                <p:cTn id="83" presetID="10" presetClass="entr" presetSubtype="0" fill="hold" nodeType="afterEffect">
                                  <p:stCondLst>
                                    <p:cond delay="0"/>
                                  </p:stCondLst>
                                  <p:childTnLst>
                                    <p:set>
                                      <p:cBhvr>
                                        <p:cTn id="84" dur="1" fill="hold">
                                          <p:stCondLst>
                                            <p:cond delay="0"/>
                                          </p:stCondLst>
                                        </p:cTn>
                                        <p:tgtEl>
                                          <p:spTgt spid="26"/>
                                        </p:tgtEl>
                                        <p:attrNameLst>
                                          <p:attrName>style.visibility</p:attrName>
                                        </p:attrNameLst>
                                      </p:cBhvr>
                                      <p:to>
                                        <p:strVal val="visible"/>
                                      </p:to>
                                    </p:set>
                                    <p:animEffect transition="in" filter="fade">
                                      <p:cBhvr>
                                        <p:cTn id="85" dur="500"/>
                                        <p:tgtEl>
                                          <p:spTgt spid="26"/>
                                        </p:tgtEl>
                                      </p:cBhvr>
                                    </p:animEffect>
                                  </p:childTnLst>
                                </p:cTn>
                              </p:par>
                              <p:par>
                                <p:cTn id="86" presetID="10" presetClass="entr" presetSubtype="0" fill="hold" nodeType="with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Challenges &amp; how we handled them</a:t>
            </a:r>
            <a:endParaRPr lang="en-US" sz="2600" dirty="0"/>
          </a:p>
        </p:txBody>
      </p:sp>
      <p:sp>
        <p:nvSpPr>
          <p:cNvPr id="3" name="a1_card_263"/>
          <p:cNvSpPr/>
          <p:nvPr/>
        </p:nvSpPr>
        <p:spPr>
          <a:xfrm>
            <a:off x="457200" y="914400"/>
            <a:ext cx="4023360" cy="1115568"/>
          </a:xfrm>
          <a:prstGeom prst="roundRect">
            <a:avLst>
              <a:gd name="adj" fmla="val 6557"/>
            </a:avLst>
          </a:prstGeom>
          <a:solidFill>
            <a:srgbClr val="1C2F36"/>
          </a:solidFill>
          <a:ln w="9525">
            <a:solidFill>
              <a:srgbClr val="35505A"/>
            </a:solidFill>
            <a:prstDash val="solid"/>
          </a:ln>
        </p:spPr>
      </p:sp>
      <p:sp>
        <p:nvSpPr>
          <p:cNvPr id="4" name="a1_ic_264"/>
          <p:cNvSpPr/>
          <p:nvPr/>
        </p:nvSpPr>
        <p:spPr>
          <a:xfrm>
            <a:off x="612648" y="1188720"/>
            <a:ext cx="548640" cy="548640"/>
          </a:xfrm>
          <a:prstGeom prst="ellipse">
            <a:avLst/>
          </a:prstGeom>
          <a:solidFill>
            <a:srgbClr val="12232A"/>
          </a:solidFill>
          <a:ln/>
        </p:spPr>
      </p:sp>
      <p:pic>
        <p:nvPicPr>
          <p:cNvPr id="5" name="a1_icimg_265" descr="preencoded.png">    </p:cNvPr>
          <p:cNvPicPr>
            <a:picLocks noChangeAspect="1"/>
          </p:cNvPicPr>
          <p:nvPr/>
        </p:nvPicPr>
        <p:blipFill>
          <a:blip r:embed="rId1"/>
          <a:stretch>
            <a:fillRect/>
          </a:stretch>
        </p:blipFill>
        <p:spPr>
          <a:xfrm>
            <a:off x="744322" y="1320394"/>
            <a:ext cx="285293" cy="285293"/>
          </a:xfrm>
          <a:prstGeom prst="rect">
            <a:avLst/>
          </a:prstGeom>
        </p:spPr>
      </p:pic>
      <p:sp>
        <p:nvSpPr>
          <p:cNvPr id="6" name="a1_txt_266"/>
          <p:cNvSpPr txBox="1"/>
          <p:nvPr/>
        </p:nvSpPr>
        <p:spPr>
          <a:xfrm>
            <a:off x="1325880" y="1033272"/>
            <a:ext cx="3017520" cy="274320"/>
          </a:xfrm>
          <a:prstGeom prst="rect">
            <a:avLst/>
          </a:prstGeom>
          <a:noFill/>
          <a:ln/>
        </p:spPr>
        <p:txBody>
          <a:bodyPr wrap="square" lIns="0" tIns="0" rIns="0" bIns="0" rtlCol="0" anchor="t"/>
          <a:lstStyle/>
          <a:p>
            <a:pPr indent="0" marL="0">
              <a:buNone/>
            </a:pPr>
            <a:r>
              <a:rPr lang="en-US" sz="1400" b="1" dirty="0">
                <a:solidFill>
                  <a:srgbClr val="EDA265"/>
                </a:solidFill>
                <a:latin typeface="Calibri" pitchFamily="34" charset="0"/>
                <a:ea typeface="Calibri" pitchFamily="34" charset="-122"/>
                <a:cs typeface="Calibri" pitchFamily="34" charset="-120"/>
              </a:rPr>
              <a:t>ESP32 not yet available</a:t>
            </a:r>
            <a:endParaRPr lang="en-US" sz="1400" dirty="0"/>
          </a:p>
        </p:txBody>
      </p:sp>
      <p:sp>
        <p:nvSpPr>
          <p:cNvPr id="7" name="a1_txt_267"/>
          <p:cNvSpPr txBox="1"/>
          <p:nvPr/>
        </p:nvSpPr>
        <p:spPr>
          <a:xfrm>
            <a:off x="1325880" y="1344168"/>
            <a:ext cx="3035808" cy="621792"/>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Built a simulator with identical control logic to test everything end to end</a:t>
            </a:r>
            <a:endParaRPr lang="en-US" sz="1200" dirty="0"/>
          </a:p>
        </p:txBody>
      </p:sp>
      <p:sp>
        <p:nvSpPr>
          <p:cNvPr id="8" name="a2_card_268"/>
          <p:cNvSpPr/>
          <p:nvPr/>
        </p:nvSpPr>
        <p:spPr>
          <a:xfrm>
            <a:off x="4663440" y="914400"/>
            <a:ext cx="4023360" cy="1115568"/>
          </a:xfrm>
          <a:prstGeom prst="roundRect">
            <a:avLst>
              <a:gd name="adj" fmla="val 6557"/>
            </a:avLst>
          </a:prstGeom>
          <a:solidFill>
            <a:srgbClr val="1C2F36"/>
          </a:solidFill>
          <a:ln w="9525">
            <a:solidFill>
              <a:srgbClr val="35505A"/>
            </a:solidFill>
            <a:prstDash val="solid"/>
          </a:ln>
        </p:spPr>
      </p:sp>
      <p:sp>
        <p:nvSpPr>
          <p:cNvPr id="9" name="a2_ic_269"/>
          <p:cNvSpPr/>
          <p:nvPr/>
        </p:nvSpPr>
        <p:spPr>
          <a:xfrm>
            <a:off x="4818888" y="1188720"/>
            <a:ext cx="548640" cy="548640"/>
          </a:xfrm>
          <a:prstGeom prst="ellipse">
            <a:avLst/>
          </a:prstGeom>
          <a:solidFill>
            <a:srgbClr val="12232A"/>
          </a:solidFill>
          <a:ln/>
        </p:spPr>
      </p:sp>
      <p:pic>
        <p:nvPicPr>
          <p:cNvPr id="10" name="a2_icimg_270" descr="preencoded.png">    </p:cNvPr>
          <p:cNvPicPr>
            <a:picLocks noChangeAspect="1"/>
          </p:cNvPicPr>
          <p:nvPr/>
        </p:nvPicPr>
        <p:blipFill>
          <a:blip r:embed="rId2"/>
          <a:stretch>
            <a:fillRect/>
          </a:stretch>
        </p:blipFill>
        <p:spPr>
          <a:xfrm>
            <a:off x="4950562" y="1320394"/>
            <a:ext cx="285293" cy="285293"/>
          </a:xfrm>
          <a:prstGeom prst="rect">
            <a:avLst/>
          </a:prstGeom>
        </p:spPr>
      </p:pic>
      <p:sp>
        <p:nvSpPr>
          <p:cNvPr id="11" name="a2_txt_271"/>
          <p:cNvSpPr txBox="1"/>
          <p:nvPr/>
        </p:nvSpPr>
        <p:spPr>
          <a:xfrm>
            <a:off x="5532120" y="1033272"/>
            <a:ext cx="3017520" cy="274320"/>
          </a:xfrm>
          <a:prstGeom prst="rect">
            <a:avLst/>
          </a:prstGeom>
          <a:noFill/>
          <a:ln/>
        </p:spPr>
        <p:txBody>
          <a:bodyPr wrap="square" lIns="0" tIns="0" rIns="0" bIns="0" rtlCol="0" anchor="t"/>
          <a:lstStyle/>
          <a:p>
            <a:pPr indent="0" marL="0">
              <a:buNone/>
            </a:pPr>
            <a:r>
              <a:rPr lang="en-US" sz="1400" b="1" dirty="0">
                <a:solidFill>
                  <a:srgbClr val="7CCFC7"/>
                </a:solidFill>
                <a:latin typeface="Calibri" pitchFamily="34" charset="0"/>
                <a:ea typeface="Calibri" pitchFamily="34" charset="-122"/>
                <a:cs typeface="Calibri" pitchFamily="34" charset="-120"/>
              </a:rPr>
              <a:t>Sensor calibration</a:t>
            </a:r>
            <a:endParaRPr lang="en-US" sz="1400" dirty="0"/>
          </a:p>
        </p:txBody>
      </p:sp>
      <p:sp>
        <p:nvSpPr>
          <p:cNvPr id="12" name="a2_txt_272"/>
          <p:cNvSpPr txBox="1"/>
          <p:nvPr/>
        </p:nvSpPr>
        <p:spPr>
          <a:xfrm>
            <a:off x="5532120" y="1344168"/>
            <a:ext cx="3035808" cy="621792"/>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Soil-specific calibration as in [4][8]; thresholds editable from the dashboard</a:t>
            </a:r>
            <a:endParaRPr lang="en-US" sz="1200" dirty="0"/>
          </a:p>
        </p:txBody>
      </p:sp>
      <p:sp>
        <p:nvSpPr>
          <p:cNvPr id="13" name="a3_card_273"/>
          <p:cNvSpPr/>
          <p:nvPr/>
        </p:nvSpPr>
        <p:spPr>
          <a:xfrm>
            <a:off x="457200" y="2167128"/>
            <a:ext cx="4023360" cy="1115568"/>
          </a:xfrm>
          <a:prstGeom prst="roundRect">
            <a:avLst>
              <a:gd name="adj" fmla="val 6557"/>
            </a:avLst>
          </a:prstGeom>
          <a:solidFill>
            <a:srgbClr val="1C2F36"/>
          </a:solidFill>
          <a:ln w="9525">
            <a:solidFill>
              <a:srgbClr val="35505A"/>
            </a:solidFill>
            <a:prstDash val="solid"/>
          </a:ln>
        </p:spPr>
      </p:sp>
      <p:sp>
        <p:nvSpPr>
          <p:cNvPr id="14" name="a3_ic_274"/>
          <p:cNvSpPr/>
          <p:nvPr/>
        </p:nvSpPr>
        <p:spPr>
          <a:xfrm>
            <a:off x="612648" y="2441448"/>
            <a:ext cx="548640" cy="548640"/>
          </a:xfrm>
          <a:prstGeom prst="ellipse">
            <a:avLst/>
          </a:prstGeom>
          <a:solidFill>
            <a:srgbClr val="12232A"/>
          </a:solidFill>
          <a:ln/>
        </p:spPr>
      </p:sp>
      <p:pic>
        <p:nvPicPr>
          <p:cNvPr id="15" name="a3_icimg_275" descr="preencoded.png">    </p:cNvPr>
          <p:cNvPicPr>
            <a:picLocks noChangeAspect="1"/>
          </p:cNvPicPr>
          <p:nvPr/>
        </p:nvPicPr>
        <p:blipFill>
          <a:blip r:embed="rId3"/>
          <a:stretch>
            <a:fillRect/>
          </a:stretch>
        </p:blipFill>
        <p:spPr>
          <a:xfrm>
            <a:off x="744322" y="2573122"/>
            <a:ext cx="285293" cy="285293"/>
          </a:xfrm>
          <a:prstGeom prst="rect">
            <a:avLst/>
          </a:prstGeom>
        </p:spPr>
      </p:pic>
      <p:sp>
        <p:nvSpPr>
          <p:cNvPr id="16" name="a3_txt_276"/>
          <p:cNvSpPr txBox="1"/>
          <p:nvPr/>
        </p:nvSpPr>
        <p:spPr>
          <a:xfrm>
            <a:off x="1325880" y="2286000"/>
            <a:ext cx="3017520" cy="274320"/>
          </a:xfrm>
          <a:prstGeom prst="rect">
            <a:avLst/>
          </a:prstGeom>
          <a:noFill/>
          <a:ln/>
        </p:spPr>
        <p:txBody>
          <a:bodyPr wrap="square" lIns="0" tIns="0" rIns="0" bIns="0" rtlCol="0" anchor="t"/>
          <a:lstStyle/>
          <a:p>
            <a:pPr indent="0" marL="0">
              <a:buNone/>
            </a:pPr>
            <a:r>
              <a:rPr lang="en-US" sz="1400" b="1" dirty="0">
                <a:solidFill>
                  <a:srgbClr val="6CC08B"/>
                </a:solidFill>
                <a:latin typeface="Calibri" pitchFamily="34" charset="0"/>
                <a:ea typeface="Calibri" pitchFamily="34" charset="-122"/>
                <a:cs typeface="Calibri" pitchFamily="34" charset="-120"/>
              </a:rPr>
              <a:t>Wi-Fi drops</a:t>
            </a:r>
            <a:endParaRPr lang="en-US" sz="1400" dirty="0"/>
          </a:p>
        </p:txBody>
      </p:sp>
      <p:sp>
        <p:nvSpPr>
          <p:cNvPr id="17" name="a3_txt_277"/>
          <p:cNvSpPr txBox="1"/>
          <p:nvPr/>
        </p:nvSpPr>
        <p:spPr>
          <a:xfrm>
            <a:off x="1325880" y="2596896"/>
            <a:ext cx="3035808" cy="621792"/>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Board decides locally; reverts to auto mode after 60 s without the server</a:t>
            </a:r>
            <a:endParaRPr lang="en-US" sz="1200" dirty="0"/>
          </a:p>
        </p:txBody>
      </p:sp>
      <p:sp>
        <p:nvSpPr>
          <p:cNvPr id="18" name="a4_card_278"/>
          <p:cNvSpPr/>
          <p:nvPr/>
        </p:nvSpPr>
        <p:spPr>
          <a:xfrm>
            <a:off x="4663440" y="2167128"/>
            <a:ext cx="4023360" cy="1115568"/>
          </a:xfrm>
          <a:prstGeom prst="roundRect">
            <a:avLst>
              <a:gd name="adj" fmla="val 6557"/>
            </a:avLst>
          </a:prstGeom>
          <a:solidFill>
            <a:srgbClr val="1C2F36"/>
          </a:solidFill>
          <a:ln w="9525">
            <a:solidFill>
              <a:srgbClr val="35505A"/>
            </a:solidFill>
            <a:prstDash val="solid"/>
          </a:ln>
        </p:spPr>
      </p:sp>
      <p:sp>
        <p:nvSpPr>
          <p:cNvPr id="19" name="a4_ic_279"/>
          <p:cNvSpPr/>
          <p:nvPr/>
        </p:nvSpPr>
        <p:spPr>
          <a:xfrm>
            <a:off x="4818888" y="2441448"/>
            <a:ext cx="548640" cy="548640"/>
          </a:xfrm>
          <a:prstGeom prst="ellipse">
            <a:avLst/>
          </a:prstGeom>
          <a:solidFill>
            <a:srgbClr val="12232A"/>
          </a:solidFill>
          <a:ln/>
        </p:spPr>
      </p:sp>
      <p:pic>
        <p:nvPicPr>
          <p:cNvPr id="20" name="a4_icimg_280" descr="preencoded.png">    </p:cNvPr>
          <p:cNvPicPr>
            <a:picLocks noChangeAspect="1"/>
          </p:cNvPicPr>
          <p:nvPr/>
        </p:nvPicPr>
        <p:blipFill>
          <a:blip r:embed="rId4"/>
          <a:stretch>
            <a:fillRect/>
          </a:stretch>
        </p:blipFill>
        <p:spPr>
          <a:xfrm>
            <a:off x="4950562" y="2573122"/>
            <a:ext cx="285293" cy="285293"/>
          </a:xfrm>
          <a:prstGeom prst="rect">
            <a:avLst/>
          </a:prstGeom>
        </p:spPr>
      </p:pic>
      <p:sp>
        <p:nvSpPr>
          <p:cNvPr id="21" name="a4_txt_281"/>
          <p:cNvSpPr txBox="1"/>
          <p:nvPr/>
        </p:nvSpPr>
        <p:spPr>
          <a:xfrm>
            <a:off x="5532120" y="2286000"/>
            <a:ext cx="3017520" cy="274320"/>
          </a:xfrm>
          <a:prstGeom prst="rect">
            <a:avLst/>
          </a:prstGeom>
          <a:noFill/>
          <a:ln/>
        </p:spPr>
        <p:txBody>
          <a:bodyPr wrap="square" lIns="0" tIns="0" rIns="0" bIns="0" rtlCol="0" anchor="t"/>
          <a:lstStyle/>
          <a:p>
            <a:pPr indent="0" marL="0">
              <a:buNone/>
            </a:pPr>
            <a:r>
              <a:rPr lang="en-US" sz="1400" b="1" dirty="0">
                <a:solidFill>
                  <a:srgbClr val="E5736B"/>
                </a:solidFill>
                <a:latin typeface="Calibri" pitchFamily="34" charset="0"/>
                <a:ea typeface="Calibri" pitchFamily="34" charset="-122"/>
                <a:cs typeface="Calibri" pitchFamily="34" charset="-120"/>
              </a:rPr>
              <a:t>Pump runaway / waterlogging</a:t>
            </a:r>
            <a:endParaRPr lang="en-US" sz="1400" dirty="0"/>
          </a:p>
        </p:txBody>
      </p:sp>
      <p:sp>
        <p:nvSpPr>
          <p:cNvPr id="22" name="a4_txt_282"/>
          <p:cNvSpPr txBox="1"/>
          <p:nvPr/>
        </p:nvSpPr>
        <p:spPr>
          <a:xfrm>
            <a:off x="5532120" y="2596896"/>
            <a:ext cx="3035808" cy="621792"/>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Overwatering lock, 15 s manual cap, 60 s hard failsafe</a:t>
            </a:r>
            <a:endParaRPr lang="en-US" sz="1200" dirty="0"/>
          </a:p>
        </p:txBody>
      </p:sp>
      <p:sp>
        <p:nvSpPr>
          <p:cNvPr id="23" name="a5_card_283"/>
          <p:cNvSpPr/>
          <p:nvPr/>
        </p:nvSpPr>
        <p:spPr>
          <a:xfrm>
            <a:off x="457200" y="3419856"/>
            <a:ext cx="4023360" cy="1115568"/>
          </a:xfrm>
          <a:prstGeom prst="roundRect">
            <a:avLst>
              <a:gd name="adj" fmla="val 6557"/>
            </a:avLst>
          </a:prstGeom>
          <a:solidFill>
            <a:srgbClr val="1C2F36"/>
          </a:solidFill>
          <a:ln w="9525">
            <a:solidFill>
              <a:srgbClr val="35505A"/>
            </a:solidFill>
            <a:prstDash val="solid"/>
          </a:ln>
        </p:spPr>
      </p:sp>
      <p:sp>
        <p:nvSpPr>
          <p:cNvPr id="24" name="a5_ic_284"/>
          <p:cNvSpPr/>
          <p:nvPr/>
        </p:nvSpPr>
        <p:spPr>
          <a:xfrm>
            <a:off x="612648" y="3694176"/>
            <a:ext cx="548640" cy="548640"/>
          </a:xfrm>
          <a:prstGeom prst="ellipse">
            <a:avLst/>
          </a:prstGeom>
          <a:solidFill>
            <a:srgbClr val="12232A"/>
          </a:solidFill>
          <a:ln/>
        </p:spPr>
      </p:sp>
      <p:pic>
        <p:nvPicPr>
          <p:cNvPr id="25" name="a5_icimg_285" descr="preencoded.png">    </p:cNvPr>
          <p:cNvPicPr>
            <a:picLocks noChangeAspect="1"/>
          </p:cNvPicPr>
          <p:nvPr/>
        </p:nvPicPr>
        <p:blipFill>
          <a:blip r:embed="rId5"/>
          <a:stretch>
            <a:fillRect/>
          </a:stretch>
        </p:blipFill>
        <p:spPr>
          <a:xfrm>
            <a:off x="744322" y="3825850"/>
            <a:ext cx="285293" cy="285293"/>
          </a:xfrm>
          <a:prstGeom prst="rect">
            <a:avLst/>
          </a:prstGeom>
        </p:spPr>
      </p:pic>
      <p:sp>
        <p:nvSpPr>
          <p:cNvPr id="26" name="a5_txt_286"/>
          <p:cNvSpPr txBox="1"/>
          <p:nvPr/>
        </p:nvSpPr>
        <p:spPr>
          <a:xfrm>
            <a:off x="1325880" y="3538728"/>
            <a:ext cx="3017520" cy="274320"/>
          </a:xfrm>
          <a:prstGeom prst="rect">
            <a:avLst/>
          </a:prstGeom>
          <a:noFill/>
          <a:ln/>
        </p:spPr>
        <p:txBody>
          <a:bodyPr wrap="square" lIns="0" tIns="0" rIns="0" bIns="0" rtlCol="0" anchor="t"/>
          <a:lstStyle/>
          <a:p>
            <a:pPr indent="0" marL="0">
              <a:buNone/>
            </a:pPr>
            <a:r>
              <a:rPr lang="en-US" sz="1400" b="1" dirty="0">
                <a:solidFill>
                  <a:srgbClr val="9BE7C4"/>
                </a:solidFill>
                <a:latin typeface="Calibri" pitchFamily="34" charset="0"/>
                <a:ea typeface="Calibri" pitchFamily="34" charset="-122"/>
                <a:cs typeface="Calibri" pitchFamily="34" charset="-120"/>
              </a:rPr>
              <a:t>Three-discipline integration</a:t>
            </a:r>
            <a:endParaRPr lang="en-US" sz="1400" dirty="0"/>
          </a:p>
        </p:txBody>
      </p:sp>
      <p:sp>
        <p:nvSpPr>
          <p:cNvPr id="27" name="a5_txt_287"/>
          <p:cNvSpPr txBox="1"/>
          <p:nvPr/>
        </p:nvSpPr>
        <p:spPr>
          <a:xfrm>
            <a:off x="1325880" y="3849624"/>
            <a:ext cx="3035808" cy="621792"/>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One fixed JSON API contract shared by firmware, server and dashboard</a:t>
            </a:r>
            <a:endParaRPr lang="en-US" sz="1200" dirty="0"/>
          </a:p>
        </p:txBody>
      </p:sp>
      <p:sp>
        <p:nvSpPr>
          <p:cNvPr id="28" name="a6_card_288"/>
          <p:cNvSpPr/>
          <p:nvPr/>
        </p:nvSpPr>
        <p:spPr>
          <a:xfrm>
            <a:off x="4663440" y="3419856"/>
            <a:ext cx="4023360" cy="1115568"/>
          </a:xfrm>
          <a:prstGeom prst="roundRect">
            <a:avLst>
              <a:gd name="adj" fmla="val 6557"/>
            </a:avLst>
          </a:prstGeom>
          <a:solidFill>
            <a:srgbClr val="1C2F36"/>
          </a:solidFill>
          <a:ln w="9525">
            <a:solidFill>
              <a:srgbClr val="35505A"/>
            </a:solidFill>
            <a:prstDash val="solid"/>
          </a:ln>
        </p:spPr>
      </p:sp>
      <p:sp>
        <p:nvSpPr>
          <p:cNvPr id="29" name="a6_ic_289"/>
          <p:cNvSpPr/>
          <p:nvPr/>
        </p:nvSpPr>
        <p:spPr>
          <a:xfrm>
            <a:off x="4818888" y="3694176"/>
            <a:ext cx="548640" cy="548640"/>
          </a:xfrm>
          <a:prstGeom prst="ellipse">
            <a:avLst/>
          </a:prstGeom>
          <a:solidFill>
            <a:srgbClr val="12232A"/>
          </a:solidFill>
          <a:ln/>
        </p:spPr>
      </p:sp>
      <p:pic>
        <p:nvPicPr>
          <p:cNvPr id="30" name="a6_icimg_290" descr="preencoded.png">    </p:cNvPr>
          <p:cNvPicPr>
            <a:picLocks noChangeAspect="1"/>
          </p:cNvPicPr>
          <p:nvPr/>
        </p:nvPicPr>
        <p:blipFill>
          <a:blip r:embed="rId6"/>
          <a:stretch>
            <a:fillRect/>
          </a:stretch>
        </p:blipFill>
        <p:spPr>
          <a:xfrm>
            <a:off x="4950562" y="3825850"/>
            <a:ext cx="285293" cy="285293"/>
          </a:xfrm>
          <a:prstGeom prst="rect">
            <a:avLst/>
          </a:prstGeom>
        </p:spPr>
      </p:pic>
      <p:sp>
        <p:nvSpPr>
          <p:cNvPr id="31" name="a6_txt_291"/>
          <p:cNvSpPr txBox="1"/>
          <p:nvPr/>
        </p:nvSpPr>
        <p:spPr>
          <a:xfrm>
            <a:off x="5532120" y="3538728"/>
            <a:ext cx="3017520" cy="274320"/>
          </a:xfrm>
          <a:prstGeom prst="rect">
            <a:avLst/>
          </a:prstGeom>
          <a:noFill/>
          <a:ln/>
        </p:spPr>
        <p:txBody>
          <a:bodyPr wrap="square" lIns="0" tIns="0" rIns="0" bIns="0" rtlCol="0" anchor="t"/>
          <a:lstStyle/>
          <a:p>
            <a:pPr indent="0" marL="0">
              <a:buNone/>
            </a:pPr>
            <a:r>
              <a:rPr lang="en-US" sz="1400" b="1" dirty="0">
                <a:solidFill>
                  <a:srgbClr val="7CCFC7"/>
                </a:solidFill>
                <a:latin typeface="Calibri" pitchFamily="34" charset="0"/>
                <a:ea typeface="Calibri" pitchFamily="34" charset="-122"/>
                <a:cs typeface="Calibri" pitchFamily="34" charset="-120"/>
              </a:rPr>
              <a:t>Honest data</a:t>
            </a:r>
            <a:endParaRPr lang="en-US" sz="1400" dirty="0"/>
          </a:p>
        </p:txBody>
      </p:sp>
      <p:sp>
        <p:nvSpPr>
          <p:cNvPr id="32" name="a6_txt_292"/>
          <p:cNvSpPr txBox="1"/>
          <p:nvPr/>
        </p:nvSpPr>
        <p:spPr>
          <a:xfrm>
            <a:off x="5532120" y="3849624"/>
            <a:ext cx="3035808" cy="621792"/>
          </a:xfrm>
          <a:prstGeom prst="rect">
            <a:avLst/>
          </a:prstGeom>
          <a:noFill/>
          <a:ln/>
        </p:spPr>
        <p:txBody>
          <a:bodyPr wrap="square" lIns="0" tIns="0" rIns="0" bIns="0" rtlCol="0" anchor="t"/>
          <a:lstStyle/>
          <a:p>
            <a:pPr indent="0" marL="0">
              <a:buNone/>
            </a:pPr>
            <a:r>
              <a:rPr lang="en-US" sz="1200" dirty="0">
                <a:solidFill>
                  <a:srgbClr val="E8F1EE"/>
                </a:solidFill>
                <a:latin typeface="Calibri" pitchFamily="34" charset="0"/>
                <a:ea typeface="Calibri" pitchFamily="34" charset="-122"/>
                <a:cs typeface="Calibri" pitchFamily="34" charset="-120"/>
              </a:rPr>
              <a:t>Dashboard labels simulated data; no simulated value shown as real</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
                            </p:stCondLst>
                            <p:childTnLst>
                              <p:par>
                                <p:cTn id="21" presetID="10" presetClass="entr" presetSubtype="0"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par>
                          <p:cTn id="36" fill="hold">
                            <p:stCondLst>
                              <p:cond delay="700"/>
                            </p:stCondLst>
                            <p:childTnLst>
                              <p:par>
                                <p:cTn id="37" presetID="10" presetClass="entr" presetSubtype="0" fill="hold"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par>
                          <p:cTn id="52" fill="hold">
                            <p:stCondLst>
                              <p:cond delay="1050"/>
                            </p:stCondLst>
                            <p:childTnLst>
                              <p:par>
                                <p:cTn id="53" presetID="10" presetClass="entr" presetSubtype="0" fill="hold"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par>
                          <p:cTn id="68" fill="hold">
                            <p:stCondLst>
                              <p:cond delay="1400"/>
                            </p:stCondLst>
                            <p:childTnLst>
                              <p:par>
                                <p:cTn id="69" presetID="10" presetClass="entr" presetSubtype="0" fill="hold" nodeType="after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par>
                          <p:cTn id="84" fill="hold">
                            <p:stCondLst>
                              <p:cond delay="1750"/>
                            </p:stCondLst>
                            <p:childTnLst>
                              <p:par>
                                <p:cTn id="85" presetID="10" presetClass="entr" presetSubtype="0" fill="hold"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par>
                                <p:cTn id="88" presetID="10" presetClass="entr" presetSubtype="0" fill="hold"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500"/>
                                        <p:tgtEl>
                                          <p:spTgt spid="29"/>
                                        </p:tgtEl>
                                      </p:cBhvr>
                                    </p:animEffect>
                                  </p:childTnLst>
                                </p:cTn>
                              </p:par>
                              <p:par>
                                <p:cTn id="91" presetID="10" presetClass="entr" presetSubtype="0" fill="hold"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par>
                                <p:cTn id="94" presetID="10" presetClass="entr" presetSubtype="0" fill="hold"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500"/>
                                        <p:tgtEl>
                                          <p:spTgt spid="31"/>
                                        </p:tgtEl>
                                      </p:cBhvr>
                                    </p:animEffect>
                                  </p:childTnLst>
                                </p:cTn>
                              </p:par>
                              <p:par>
                                <p:cTn id="97" presetID="10" presetClass="entr" presetSubtype="0" fill="hold"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Work completed &amp; timeline</a:t>
            </a:r>
            <a:endParaRPr lang="en-US" sz="2600" dirty="0"/>
          </a:p>
        </p:txBody>
      </p:sp>
      <p:sp>
        <p:nvSpPr>
          <p:cNvPr id="3" name="a1_txt_293"/>
          <p:cNvSpPr txBox="1"/>
          <p:nvPr/>
        </p:nvSpPr>
        <p:spPr>
          <a:xfrm>
            <a:off x="457200" y="960120"/>
            <a:ext cx="3657600" cy="347472"/>
          </a:xfrm>
          <a:prstGeom prst="rect">
            <a:avLst/>
          </a:prstGeom>
          <a:noFill/>
          <a:ln/>
        </p:spPr>
        <p:txBody>
          <a:bodyPr wrap="square" lIns="0" tIns="0" rIns="0" bIns="0" rtlCol="0" anchor="ctr"/>
          <a:lstStyle/>
          <a:p>
            <a:pPr indent="0" marL="0">
              <a:buNone/>
            </a:pPr>
            <a:r>
              <a:rPr lang="en-US" sz="1200" dirty="0">
                <a:solidFill>
                  <a:srgbClr val="E8F1EE"/>
                </a:solidFill>
                <a:latin typeface="Calibri" pitchFamily="34" charset="0"/>
                <a:ea typeface="Calibri" pitchFamily="34" charset="-122"/>
                <a:cs typeface="Calibri" pitchFamily="34" charset="-120"/>
              </a:rPr>
              <a:t>Literature survey &amp; problem formulation</a:t>
            </a:r>
            <a:endParaRPr lang="en-US" sz="1200" dirty="0"/>
          </a:p>
        </p:txBody>
      </p:sp>
      <p:sp>
        <p:nvSpPr>
          <p:cNvPr id="4" name="a1_trk_294"/>
          <p:cNvSpPr/>
          <p:nvPr/>
        </p:nvSpPr>
        <p:spPr>
          <a:xfrm>
            <a:off x="4206240" y="1051560"/>
            <a:ext cx="3291840" cy="164592"/>
          </a:xfrm>
          <a:prstGeom prst="roundRect">
            <a:avLst>
              <a:gd name="adj" fmla="val 50000"/>
            </a:avLst>
          </a:prstGeom>
          <a:solidFill>
            <a:srgbClr val="233A42"/>
          </a:solidFill>
          <a:ln/>
        </p:spPr>
      </p:sp>
      <p:sp>
        <p:nvSpPr>
          <p:cNvPr id="5" name="w1_bar_295"/>
          <p:cNvSpPr/>
          <p:nvPr/>
        </p:nvSpPr>
        <p:spPr>
          <a:xfrm>
            <a:off x="4206240" y="1051560"/>
            <a:ext cx="3291840" cy="164592"/>
          </a:xfrm>
          <a:prstGeom prst="roundRect">
            <a:avLst>
              <a:gd name="adj" fmla="val 50000"/>
            </a:avLst>
          </a:prstGeom>
          <a:solidFill>
            <a:srgbClr val="6CC08B"/>
          </a:solidFill>
          <a:ln/>
        </p:spPr>
      </p:sp>
      <p:sp>
        <p:nvSpPr>
          <p:cNvPr id="6" name="a1_txt_296"/>
          <p:cNvSpPr txBox="1"/>
          <p:nvPr/>
        </p:nvSpPr>
        <p:spPr>
          <a:xfrm>
            <a:off x="7635240" y="960120"/>
            <a:ext cx="1051560" cy="347472"/>
          </a:xfrm>
          <a:prstGeom prst="rect">
            <a:avLst/>
          </a:prstGeom>
          <a:noFill/>
          <a:ln/>
        </p:spPr>
        <p:txBody>
          <a:bodyPr wrap="square" lIns="0" tIns="0" rIns="0" bIns="0" rtlCol="0" anchor="ctr"/>
          <a:lstStyle/>
          <a:p>
            <a:pPr indent="0" marL="0">
              <a:buNone/>
            </a:pPr>
            <a:r>
              <a:rPr lang="en-US" sz="1100" b="1" dirty="0">
                <a:solidFill>
                  <a:srgbClr val="6CC08B"/>
                </a:solidFill>
                <a:latin typeface="Calibri" pitchFamily="34" charset="0"/>
                <a:ea typeface="Calibri" pitchFamily="34" charset="-122"/>
                <a:cs typeface="Calibri" pitchFamily="34" charset="-120"/>
              </a:rPr>
              <a:t>Done</a:t>
            </a:r>
            <a:endParaRPr lang="en-US" sz="1100" dirty="0"/>
          </a:p>
        </p:txBody>
      </p:sp>
      <p:sp>
        <p:nvSpPr>
          <p:cNvPr id="7" name="a1_txt_297"/>
          <p:cNvSpPr txBox="1"/>
          <p:nvPr/>
        </p:nvSpPr>
        <p:spPr>
          <a:xfrm>
            <a:off x="457200" y="1417320"/>
            <a:ext cx="3657600" cy="347472"/>
          </a:xfrm>
          <a:prstGeom prst="rect">
            <a:avLst/>
          </a:prstGeom>
          <a:noFill/>
          <a:ln/>
        </p:spPr>
        <p:txBody>
          <a:bodyPr wrap="square" lIns="0" tIns="0" rIns="0" bIns="0" rtlCol="0" anchor="ctr"/>
          <a:lstStyle/>
          <a:p>
            <a:pPr indent="0" marL="0">
              <a:buNone/>
            </a:pPr>
            <a:r>
              <a:rPr lang="en-US" sz="1200" dirty="0">
                <a:solidFill>
                  <a:srgbClr val="E8F1EE"/>
                </a:solidFill>
                <a:latin typeface="Calibri" pitchFamily="34" charset="0"/>
                <a:ea typeface="Calibri" pitchFamily="34" charset="-122"/>
                <a:cs typeface="Calibri" pitchFamily="34" charset="-120"/>
              </a:rPr>
              <a:t>System design &amp; architecture</a:t>
            </a:r>
            <a:endParaRPr lang="en-US" sz="1200" dirty="0"/>
          </a:p>
        </p:txBody>
      </p:sp>
      <p:sp>
        <p:nvSpPr>
          <p:cNvPr id="8" name="a1_trk_298"/>
          <p:cNvSpPr/>
          <p:nvPr/>
        </p:nvSpPr>
        <p:spPr>
          <a:xfrm>
            <a:off x="4206240" y="1508760"/>
            <a:ext cx="3291840" cy="164592"/>
          </a:xfrm>
          <a:prstGeom prst="roundRect">
            <a:avLst>
              <a:gd name="adj" fmla="val 50000"/>
            </a:avLst>
          </a:prstGeom>
          <a:solidFill>
            <a:srgbClr val="233A42"/>
          </a:solidFill>
          <a:ln/>
        </p:spPr>
      </p:sp>
      <p:sp>
        <p:nvSpPr>
          <p:cNvPr id="9" name="w1_bar_299"/>
          <p:cNvSpPr/>
          <p:nvPr/>
        </p:nvSpPr>
        <p:spPr>
          <a:xfrm>
            <a:off x="4206240" y="1508760"/>
            <a:ext cx="3291840" cy="164592"/>
          </a:xfrm>
          <a:prstGeom prst="roundRect">
            <a:avLst>
              <a:gd name="adj" fmla="val 50000"/>
            </a:avLst>
          </a:prstGeom>
          <a:solidFill>
            <a:srgbClr val="6CC08B"/>
          </a:solidFill>
          <a:ln/>
        </p:spPr>
      </p:sp>
      <p:sp>
        <p:nvSpPr>
          <p:cNvPr id="10" name="a1_txt_300"/>
          <p:cNvSpPr txBox="1"/>
          <p:nvPr/>
        </p:nvSpPr>
        <p:spPr>
          <a:xfrm>
            <a:off x="7635240" y="1417320"/>
            <a:ext cx="1051560" cy="347472"/>
          </a:xfrm>
          <a:prstGeom prst="rect">
            <a:avLst/>
          </a:prstGeom>
          <a:noFill/>
          <a:ln/>
        </p:spPr>
        <p:txBody>
          <a:bodyPr wrap="square" lIns="0" tIns="0" rIns="0" bIns="0" rtlCol="0" anchor="ctr"/>
          <a:lstStyle/>
          <a:p>
            <a:pPr indent="0" marL="0">
              <a:buNone/>
            </a:pPr>
            <a:r>
              <a:rPr lang="en-US" sz="1100" b="1" dirty="0">
                <a:solidFill>
                  <a:srgbClr val="6CC08B"/>
                </a:solidFill>
                <a:latin typeface="Calibri" pitchFamily="34" charset="0"/>
                <a:ea typeface="Calibri" pitchFamily="34" charset="-122"/>
                <a:cs typeface="Calibri" pitchFamily="34" charset="-120"/>
              </a:rPr>
              <a:t>Done</a:t>
            </a:r>
            <a:endParaRPr lang="en-US" sz="1100" dirty="0"/>
          </a:p>
        </p:txBody>
      </p:sp>
      <p:sp>
        <p:nvSpPr>
          <p:cNvPr id="11" name="a2_txt_301"/>
          <p:cNvSpPr txBox="1"/>
          <p:nvPr/>
        </p:nvSpPr>
        <p:spPr>
          <a:xfrm>
            <a:off x="457200" y="1874520"/>
            <a:ext cx="3657600" cy="347472"/>
          </a:xfrm>
          <a:prstGeom prst="rect">
            <a:avLst/>
          </a:prstGeom>
          <a:noFill/>
          <a:ln/>
        </p:spPr>
        <p:txBody>
          <a:bodyPr wrap="square" lIns="0" tIns="0" rIns="0" bIns="0" rtlCol="0" anchor="ctr"/>
          <a:lstStyle/>
          <a:p>
            <a:pPr indent="0" marL="0">
              <a:buNone/>
            </a:pPr>
            <a:r>
              <a:rPr lang="en-US" sz="1200" dirty="0">
                <a:solidFill>
                  <a:srgbClr val="E8F1EE"/>
                </a:solidFill>
                <a:latin typeface="Calibri" pitchFamily="34" charset="0"/>
                <a:ea typeface="Calibri" pitchFamily="34" charset="-122"/>
                <a:cs typeface="Calibri" pitchFamily="34" charset="-120"/>
              </a:rPr>
              <a:t>Web dashboard (CSE)</a:t>
            </a:r>
            <a:endParaRPr lang="en-US" sz="1200" dirty="0"/>
          </a:p>
        </p:txBody>
      </p:sp>
      <p:sp>
        <p:nvSpPr>
          <p:cNvPr id="12" name="a2_trk_302"/>
          <p:cNvSpPr/>
          <p:nvPr/>
        </p:nvSpPr>
        <p:spPr>
          <a:xfrm>
            <a:off x="4206240" y="1965960"/>
            <a:ext cx="3291840" cy="164592"/>
          </a:xfrm>
          <a:prstGeom prst="roundRect">
            <a:avLst>
              <a:gd name="adj" fmla="val 50000"/>
            </a:avLst>
          </a:prstGeom>
          <a:solidFill>
            <a:srgbClr val="233A42"/>
          </a:solidFill>
          <a:ln/>
        </p:spPr>
      </p:sp>
      <p:sp>
        <p:nvSpPr>
          <p:cNvPr id="13" name="w2_bar_303"/>
          <p:cNvSpPr/>
          <p:nvPr/>
        </p:nvSpPr>
        <p:spPr>
          <a:xfrm>
            <a:off x="4206240" y="1965960"/>
            <a:ext cx="3291840" cy="164592"/>
          </a:xfrm>
          <a:prstGeom prst="roundRect">
            <a:avLst>
              <a:gd name="adj" fmla="val 50000"/>
            </a:avLst>
          </a:prstGeom>
          <a:solidFill>
            <a:srgbClr val="6CC08B"/>
          </a:solidFill>
          <a:ln/>
        </p:spPr>
      </p:sp>
      <p:sp>
        <p:nvSpPr>
          <p:cNvPr id="14" name="a2_txt_304"/>
          <p:cNvSpPr txBox="1"/>
          <p:nvPr/>
        </p:nvSpPr>
        <p:spPr>
          <a:xfrm>
            <a:off x="7635240" y="1874520"/>
            <a:ext cx="1051560" cy="347472"/>
          </a:xfrm>
          <a:prstGeom prst="rect">
            <a:avLst/>
          </a:prstGeom>
          <a:noFill/>
          <a:ln/>
        </p:spPr>
        <p:txBody>
          <a:bodyPr wrap="square" lIns="0" tIns="0" rIns="0" bIns="0" rtlCol="0" anchor="ctr"/>
          <a:lstStyle/>
          <a:p>
            <a:pPr indent="0" marL="0">
              <a:buNone/>
            </a:pPr>
            <a:r>
              <a:rPr lang="en-US" sz="1100" b="1" dirty="0">
                <a:solidFill>
                  <a:srgbClr val="6CC08B"/>
                </a:solidFill>
                <a:latin typeface="Calibri" pitchFamily="34" charset="0"/>
                <a:ea typeface="Calibri" pitchFamily="34" charset="-122"/>
                <a:cs typeface="Calibri" pitchFamily="34" charset="-120"/>
              </a:rPr>
              <a:t>Done</a:t>
            </a:r>
            <a:endParaRPr lang="en-US" sz="1100" dirty="0"/>
          </a:p>
        </p:txBody>
      </p:sp>
      <p:sp>
        <p:nvSpPr>
          <p:cNvPr id="15" name="a2_txt_305"/>
          <p:cNvSpPr txBox="1"/>
          <p:nvPr/>
        </p:nvSpPr>
        <p:spPr>
          <a:xfrm>
            <a:off x="457200" y="2331720"/>
            <a:ext cx="3657600" cy="347472"/>
          </a:xfrm>
          <a:prstGeom prst="rect">
            <a:avLst/>
          </a:prstGeom>
          <a:noFill/>
          <a:ln/>
        </p:spPr>
        <p:txBody>
          <a:bodyPr wrap="square" lIns="0" tIns="0" rIns="0" bIns="0" rtlCol="0" anchor="ctr"/>
          <a:lstStyle/>
          <a:p>
            <a:pPr indent="0" marL="0">
              <a:buNone/>
            </a:pPr>
            <a:r>
              <a:rPr lang="en-US" sz="1200" dirty="0">
                <a:solidFill>
                  <a:srgbClr val="E8F1EE"/>
                </a:solidFill>
                <a:latin typeface="Calibri" pitchFamily="34" charset="0"/>
                <a:ea typeface="Calibri" pitchFamily="34" charset="-122"/>
                <a:cs typeface="Calibri" pitchFamily="34" charset="-120"/>
              </a:rPr>
              <a:t>Backend API + simulator, integration tests (CSE)</a:t>
            </a:r>
            <a:endParaRPr lang="en-US" sz="1200" dirty="0"/>
          </a:p>
        </p:txBody>
      </p:sp>
      <p:sp>
        <p:nvSpPr>
          <p:cNvPr id="16" name="a2_trk_306"/>
          <p:cNvSpPr/>
          <p:nvPr/>
        </p:nvSpPr>
        <p:spPr>
          <a:xfrm>
            <a:off x="4206240" y="2423160"/>
            <a:ext cx="3291840" cy="164592"/>
          </a:xfrm>
          <a:prstGeom prst="roundRect">
            <a:avLst>
              <a:gd name="adj" fmla="val 50000"/>
            </a:avLst>
          </a:prstGeom>
          <a:solidFill>
            <a:srgbClr val="233A42"/>
          </a:solidFill>
          <a:ln/>
        </p:spPr>
      </p:sp>
      <p:sp>
        <p:nvSpPr>
          <p:cNvPr id="17" name="w2_bar_307"/>
          <p:cNvSpPr/>
          <p:nvPr/>
        </p:nvSpPr>
        <p:spPr>
          <a:xfrm>
            <a:off x="4206240" y="2423160"/>
            <a:ext cx="3291840" cy="164592"/>
          </a:xfrm>
          <a:prstGeom prst="roundRect">
            <a:avLst>
              <a:gd name="adj" fmla="val 50000"/>
            </a:avLst>
          </a:prstGeom>
          <a:solidFill>
            <a:srgbClr val="6CC08B"/>
          </a:solidFill>
          <a:ln/>
        </p:spPr>
      </p:sp>
      <p:sp>
        <p:nvSpPr>
          <p:cNvPr id="18" name="a2_txt_308"/>
          <p:cNvSpPr txBox="1"/>
          <p:nvPr/>
        </p:nvSpPr>
        <p:spPr>
          <a:xfrm>
            <a:off x="7635240" y="2331720"/>
            <a:ext cx="1051560" cy="347472"/>
          </a:xfrm>
          <a:prstGeom prst="rect">
            <a:avLst/>
          </a:prstGeom>
          <a:noFill/>
          <a:ln/>
        </p:spPr>
        <p:txBody>
          <a:bodyPr wrap="square" lIns="0" tIns="0" rIns="0" bIns="0" rtlCol="0" anchor="ctr"/>
          <a:lstStyle/>
          <a:p>
            <a:pPr indent="0" marL="0">
              <a:buNone/>
            </a:pPr>
            <a:r>
              <a:rPr lang="en-US" sz="1100" b="1" dirty="0">
                <a:solidFill>
                  <a:srgbClr val="6CC08B"/>
                </a:solidFill>
                <a:latin typeface="Calibri" pitchFamily="34" charset="0"/>
                <a:ea typeface="Calibri" pitchFamily="34" charset="-122"/>
                <a:cs typeface="Calibri" pitchFamily="34" charset="-120"/>
              </a:rPr>
              <a:t>Done</a:t>
            </a:r>
            <a:endParaRPr lang="en-US" sz="1100" dirty="0"/>
          </a:p>
        </p:txBody>
      </p:sp>
      <p:sp>
        <p:nvSpPr>
          <p:cNvPr id="19" name="a3_txt_309"/>
          <p:cNvSpPr txBox="1"/>
          <p:nvPr/>
        </p:nvSpPr>
        <p:spPr>
          <a:xfrm>
            <a:off x="457200" y="2788920"/>
            <a:ext cx="3657600" cy="347472"/>
          </a:xfrm>
          <a:prstGeom prst="rect">
            <a:avLst/>
          </a:prstGeom>
          <a:noFill/>
          <a:ln/>
        </p:spPr>
        <p:txBody>
          <a:bodyPr wrap="square" lIns="0" tIns="0" rIns="0" bIns="0" rtlCol="0" anchor="ctr"/>
          <a:lstStyle/>
          <a:p>
            <a:pPr indent="0" marL="0">
              <a:buNone/>
            </a:pPr>
            <a:r>
              <a:rPr lang="en-US" sz="1200" dirty="0">
                <a:solidFill>
                  <a:srgbClr val="E8F1EE"/>
                </a:solidFill>
                <a:latin typeface="Calibri" pitchFamily="34" charset="0"/>
                <a:ea typeface="Calibri" pitchFamily="34" charset="-122"/>
                <a:cs typeface="Calibri" pitchFamily="34" charset="-120"/>
              </a:rPr>
              <a:t>ESP32 firmware (written, untested)</a:t>
            </a:r>
            <a:endParaRPr lang="en-US" sz="1200" dirty="0"/>
          </a:p>
        </p:txBody>
      </p:sp>
      <p:sp>
        <p:nvSpPr>
          <p:cNvPr id="20" name="a3_trk_310"/>
          <p:cNvSpPr/>
          <p:nvPr/>
        </p:nvSpPr>
        <p:spPr>
          <a:xfrm>
            <a:off x="4206240" y="2880360"/>
            <a:ext cx="3291840" cy="164592"/>
          </a:xfrm>
          <a:prstGeom prst="roundRect">
            <a:avLst>
              <a:gd name="adj" fmla="val 50000"/>
            </a:avLst>
          </a:prstGeom>
          <a:solidFill>
            <a:srgbClr val="233A42"/>
          </a:solidFill>
          <a:ln/>
        </p:spPr>
      </p:sp>
      <p:sp>
        <p:nvSpPr>
          <p:cNvPr id="21" name="w3_bar_311"/>
          <p:cNvSpPr/>
          <p:nvPr/>
        </p:nvSpPr>
        <p:spPr>
          <a:xfrm>
            <a:off x="4206240" y="2880360"/>
            <a:ext cx="1975104" cy="164592"/>
          </a:xfrm>
          <a:prstGeom prst="roundRect">
            <a:avLst>
              <a:gd name="adj" fmla="val 50000"/>
            </a:avLst>
          </a:prstGeom>
          <a:solidFill>
            <a:srgbClr val="EDA265"/>
          </a:solidFill>
          <a:ln/>
        </p:spPr>
      </p:sp>
      <p:sp>
        <p:nvSpPr>
          <p:cNvPr id="22" name="a3_txt_312"/>
          <p:cNvSpPr txBox="1"/>
          <p:nvPr/>
        </p:nvSpPr>
        <p:spPr>
          <a:xfrm>
            <a:off x="7635240" y="2788920"/>
            <a:ext cx="1051560" cy="347472"/>
          </a:xfrm>
          <a:prstGeom prst="rect">
            <a:avLst/>
          </a:prstGeom>
          <a:noFill/>
          <a:ln/>
        </p:spPr>
        <p:txBody>
          <a:bodyPr wrap="square" lIns="0" tIns="0" rIns="0" bIns="0" rtlCol="0" anchor="ctr"/>
          <a:lstStyle/>
          <a:p>
            <a:pPr indent="0" marL="0">
              <a:buNone/>
            </a:pPr>
            <a:r>
              <a:rPr lang="en-US" sz="1100" b="1" dirty="0">
                <a:solidFill>
                  <a:srgbClr val="EDA265"/>
                </a:solidFill>
                <a:latin typeface="Calibri" pitchFamily="34" charset="0"/>
                <a:ea typeface="Calibri" pitchFamily="34" charset="-122"/>
                <a:cs typeface="Calibri" pitchFamily="34" charset="-120"/>
              </a:rPr>
              <a:t>In progress</a:t>
            </a:r>
            <a:endParaRPr lang="en-US" sz="1100" dirty="0"/>
          </a:p>
        </p:txBody>
      </p:sp>
      <p:sp>
        <p:nvSpPr>
          <p:cNvPr id="23" name="a3_txt_313"/>
          <p:cNvSpPr txBox="1"/>
          <p:nvPr/>
        </p:nvSpPr>
        <p:spPr>
          <a:xfrm>
            <a:off x="457200" y="3246120"/>
            <a:ext cx="3657600" cy="347472"/>
          </a:xfrm>
          <a:prstGeom prst="rect">
            <a:avLst/>
          </a:prstGeom>
          <a:noFill/>
          <a:ln/>
        </p:spPr>
        <p:txBody>
          <a:bodyPr wrap="square" lIns="0" tIns="0" rIns="0" bIns="0" rtlCol="0" anchor="ctr"/>
          <a:lstStyle/>
          <a:p>
            <a:pPr indent="0" marL="0">
              <a:buNone/>
            </a:pPr>
            <a:r>
              <a:rPr lang="en-US" sz="1200" dirty="0">
                <a:solidFill>
                  <a:srgbClr val="E8F1EE"/>
                </a:solidFill>
                <a:latin typeface="Calibri" pitchFamily="34" charset="0"/>
                <a:ea typeface="Calibri" pitchFamily="34" charset="-122"/>
                <a:cs typeface="Calibri" pitchFamily="34" charset="-120"/>
              </a:rPr>
              <a:t>Hardware rig: sensors, relay, pump, tank (ECE + Mech)</a:t>
            </a:r>
            <a:endParaRPr lang="en-US" sz="1200" dirty="0"/>
          </a:p>
        </p:txBody>
      </p:sp>
      <p:sp>
        <p:nvSpPr>
          <p:cNvPr id="24" name="a3_trk_314"/>
          <p:cNvSpPr/>
          <p:nvPr/>
        </p:nvSpPr>
        <p:spPr>
          <a:xfrm>
            <a:off x="4206240" y="3337560"/>
            <a:ext cx="3291840" cy="164592"/>
          </a:xfrm>
          <a:prstGeom prst="roundRect">
            <a:avLst>
              <a:gd name="adj" fmla="val 50000"/>
            </a:avLst>
          </a:prstGeom>
          <a:solidFill>
            <a:srgbClr val="233A42"/>
          </a:solidFill>
          <a:ln/>
        </p:spPr>
      </p:sp>
      <p:sp>
        <p:nvSpPr>
          <p:cNvPr id="25" name="w3_bar_315"/>
          <p:cNvSpPr/>
          <p:nvPr/>
        </p:nvSpPr>
        <p:spPr>
          <a:xfrm>
            <a:off x="4206240" y="3337560"/>
            <a:ext cx="658368" cy="164592"/>
          </a:xfrm>
          <a:prstGeom prst="roundRect">
            <a:avLst>
              <a:gd name="adj" fmla="val 50000"/>
            </a:avLst>
          </a:prstGeom>
          <a:solidFill>
            <a:srgbClr val="EDA265"/>
          </a:solidFill>
          <a:ln/>
        </p:spPr>
      </p:sp>
      <p:sp>
        <p:nvSpPr>
          <p:cNvPr id="26" name="a3_txt_316"/>
          <p:cNvSpPr txBox="1"/>
          <p:nvPr/>
        </p:nvSpPr>
        <p:spPr>
          <a:xfrm>
            <a:off x="7635240" y="3246120"/>
            <a:ext cx="1051560" cy="347472"/>
          </a:xfrm>
          <a:prstGeom prst="rect">
            <a:avLst/>
          </a:prstGeom>
          <a:noFill/>
          <a:ln/>
        </p:spPr>
        <p:txBody>
          <a:bodyPr wrap="square" lIns="0" tIns="0" rIns="0" bIns="0" rtlCol="0" anchor="ctr"/>
          <a:lstStyle/>
          <a:p>
            <a:pPr indent="0" marL="0">
              <a:buNone/>
            </a:pPr>
            <a:r>
              <a:rPr lang="en-US" sz="1100" b="1" dirty="0">
                <a:solidFill>
                  <a:srgbClr val="EDA265"/>
                </a:solidFill>
                <a:latin typeface="Calibri" pitchFamily="34" charset="0"/>
                <a:ea typeface="Calibri" pitchFamily="34" charset="-122"/>
                <a:cs typeface="Calibri" pitchFamily="34" charset="-120"/>
              </a:rPr>
              <a:t>In progress</a:t>
            </a:r>
            <a:endParaRPr lang="en-US" sz="1100" dirty="0"/>
          </a:p>
        </p:txBody>
      </p:sp>
      <p:sp>
        <p:nvSpPr>
          <p:cNvPr id="27" name="a4_txt_317"/>
          <p:cNvSpPr txBox="1"/>
          <p:nvPr/>
        </p:nvSpPr>
        <p:spPr>
          <a:xfrm>
            <a:off x="457200" y="3703320"/>
            <a:ext cx="3657600" cy="347472"/>
          </a:xfrm>
          <a:prstGeom prst="rect">
            <a:avLst/>
          </a:prstGeom>
          <a:noFill/>
          <a:ln/>
        </p:spPr>
        <p:txBody>
          <a:bodyPr wrap="square" lIns="0" tIns="0" rIns="0" bIns="0" rtlCol="0" anchor="ctr"/>
          <a:lstStyle/>
          <a:p>
            <a:pPr indent="0" marL="0">
              <a:buNone/>
            </a:pPr>
            <a:r>
              <a:rPr lang="en-US" sz="1200" dirty="0">
                <a:solidFill>
                  <a:srgbClr val="E8F1EE"/>
                </a:solidFill>
                <a:latin typeface="Calibri" pitchFamily="34" charset="0"/>
                <a:ea typeface="Calibri" pitchFamily="34" charset="-122"/>
                <a:cs typeface="Calibri" pitchFamily="34" charset="-120"/>
              </a:rPr>
              <a:t>Calibration &amp; real-plant data collection</a:t>
            </a:r>
            <a:endParaRPr lang="en-US" sz="1200" dirty="0"/>
          </a:p>
        </p:txBody>
      </p:sp>
      <p:sp>
        <p:nvSpPr>
          <p:cNvPr id="28" name="a4_trk_318"/>
          <p:cNvSpPr/>
          <p:nvPr/>
        </p:nvSpPr>
        <p:spPr>
          <a:xfrm>
            <a:off x="4206240" y="3794760"/>
            <a:ext cx="3291840" cy="164592"/>
          </a:xfrm>
          <a:prstGeom prst="roundRect">
            <a:avLst>
              <a:gd name="adj" fmla="val 50000"/>
            </a:avLst>
          </a:prstGeom>
          <a:solidFill>
            <a:srgbClr val="233A42"/>
          </a:solidFill>
          <a:ln/>
        </p:spPr>
      </p:sp>
      <p:sp>
        <p:nvSpPr>
          <p:cNvPr id="29" name="a4_txt_319"/>
          <p:cNvSpPr txBox="1"/>
          <p:nvPr/>
        </p:nvSpPr>
        <p:spPr>
          <a:xfrm>
            <a:off x="7635240" y="3703320"/>
            <a:ext cx="1051560" cy="347472"/>
          </a:xfrm>
          <a:prstGeom prst="rect">
            <a:avLst/>
          </a:prstGeom>
          <a:noFill/>
          <a:ln/>
        </p:spPr>
        <p:txBody>
          <a:bodyPr wrap="square" lIns="0" tIns="0" rIns="0" bIns="0" rtlCol="0" anchor="ctr"/>
          <a:lstStyle/>
          <a:p>
            <a:pPr indent="0" marL="0">
              <a:buNone/>
            </a:pPr>
            <a:r>
              <a:rPr lang="en-US" sz="1100" b="1" dirty="0">
                <a:solidFill>
                  <a:srgbClr val="A3B8B3"/>
                </a:solidFill>
                <a:latin typeface="Calibri" pitchFamily="34" charset="0"/>
                <a:ea typeface="Calibri" pitchFamily="34" charset="-122"/>
                <a:cs typeface="Calibri" pitchFamily="34" charset="-120"/>
              </a:rPr>
              <a:t>Next</a:t>
            </a:r>
            <a:endParaRPr lang="en-US" sz="1100" dirty="0"/>
          </a:p>
        </p:txBody>
      </p:sp>
      <p:sp>
        <p:nvSpPr>
          <p:cNvPr id="30" name="a4_txt_320"/>
          <p:cNvSpPr txBox="1"/>
          <p:nvPr/>
        </p:nvSpPr>
        <p:spPr>
          <a:xfrm>
            <a:off x="457200" y="4160520"/>
            <a:ext cx="3657600" cy="347472"/>
          </a:xfrm>
          <a:prstGeom prst="rect">
            <a:avLst/>
          </a:prstGeom>
          <a:noFill/>
          <a:ln/>
        </p:spPr>
        <p:txBody>
          <a:bodyPr wrap="square" lIns="0" tIns="0" rIns="0" bIns="0" rtlCol="0" anchor="ctr"/>
          <a:lstStyle/>
          <a:p>
            <a:pPr indent="0" marL="0">
              <a:buNone/>
            </a:pPr>
            <a:r>
              <a:rPr lang="en-US" sz="1200" dirty="0">
                <a:solidFill>
                  <a:srgbClr val="E8F1EE"/>
                </a:solidFill>
                <a:latin typeface="Calibri" pitchFamily="34" charset="0"/>
                <a:ea typeface="Calibri" pitchFamily="34" charset="-122"/>
                <a:cs typeface="Calibri" pitchFamily="34" charset="-120"/>
              </a:rPr>
              <a:t>AI prediction, anomaly detection, feedback check</a:t>
            </a:r>
            <a:endParaRPr lang="en-US" sz="1200" dirty="0"/>
          </a:p>
        </p:txBody>
      </p:sp>
      <p:sp>
        <p:nvSpPr>
          <p:cNvPr id="31" name="a4_trk_321"/>
          <p:cNvSpPr/>
          <p:nvPr/>
        </p:nvSpPr>
        <p:spPr>
          <a:xfrm>
            <a:off x="4206240" y="4251960"/>
            <a:ext cx="3291840" cy="164592"/>
          </a:xfrm>
          <a:prstGeom prst="roundRect">
            <a:avLst>
              <a:gd name="adj" fmla="val 50000"/>
            </a:avLst>
          </a:prstGeom>
          <a:solidFill>
            <a:srgbClr val="233A42"/>
          </a:solidFill>
          <a:ln/>
        </p:spPr>
      </p:sp>
      <p:sp>
        <p:nvSpPr>
          <p:cNvPr id="32" name="a4_txt_322"/>
          <p:cNvSpPr txBox="1"/>
          <p:nvPr/>
        </p:nvSpPr>
        <p:spPr>
          <a:xfrm>
            <a:off x="7635240" y="4160520"/>
            <a:ext cx="1051560" cy="347472"/>
          </a:xfrm>
          <a:prstGeom prst="rect">
            <a:avLst/>
          </a:prstGeom>
          <a:noFill/>
          <a:ln/>
        </p:spPr>
        <p:txBody>
          <a:bodyPr wrap="square" lIns="0" tIns="0" rIns="0" bIns="0" rtlCol="0" anchor="ctr"/>
          <a:lstStyle/>
          <a:p>
            <a:pPr indent="0" marL="0">
              <a:buNone/>
            </a:pPr>
            <a:r>
              <a:rPr lang="en-US" sz="1100" b="1" dirty="0">
                <a:solidFill>
                  <a:srgbClr val="A3B8B3"/>
                </a:solidFill>
                <a:latin typeface="Calibri" pitchFamily="34" charset="0"/>
                <a:ea typeface="Calibri" pitchFamily="34" charset="-122"/>
                <a:cs typeface="Calibri" pitchFamily="34" charset="-120"/>
              </a:rPr>
              <a:t>Next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15</a:t>
            </a:fld>
            <a:endParaRPr lang="en-US"/>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22" presetClass="entr" presetSubtype="8"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22" presetClass="entr" presetSubtype="8"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par>
                          <p:cTn id="29" fill="hold">
                            <p:stCondLst>
                              <p:cond delay="350"/>
                            </p:stCondLst>
                            <p:childTnLst>
                              <p:par>
                                <p:cTn id="30" presetID="10" presetClass="entr" presetSubtype="0"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22" presetClass="entr" presetSubtype="8"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22" presetClass="entr" presetSubtype="8"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par>
                          <p:cTn id="54" fill="hold">
                            <p:stCondLst>
                              <p:cond delay="700"/>
                            </p:stCondLst>
                            <p:childTnLst>
                              <p:par>
                                <p:cTn id="55" presetID="10" presetClass="entr" presetSubtype="0" fill="hold"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22" presetClass="entr" presetSubtype="8"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par>
                                <p:cTn id="64" presetID="10" presetClass="entr" presetSubtype="0" fill="hold"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par>
                                <p:cTn id="73" presetID="22" presetClass="entr" presetSubtype="8" fill="hold"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left)">
                                      <p:cBhvr>
                                        <p:cTn id="75" dur="500"/>
                                        <p:tgtEl>
                                          <p:spTgt spid="25"/>
                                        </p:tgtEl>
                                      </p:cBhvr>
                                    </p:animEffect>
                                  </p:childTnLst>
                                </p:cTn>
                              </p:par>
                              <p:par>
                                <p:cTn id="76" presetID="10" presetClass="entr" presetSubtype="0" fill="hold"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childTnLst>
                          </p:cTn>
                        </p:par>
                        <p:par>
                          <p:cTn id="79" fill="hold">
                            <p:stCondLst>
                              <p:cond delay="1050"/>
                            </p:stCondLst>
                            <p:childTnLst>
                              <p:par>
                                <p:cTn id="80" presetID="10" presetClass="entr" presetSubtype="0" fill="hold" nodeType="after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a1_ic_323"/>
          <p:cNvSpPr/>
          <p:nvPr/>
        </p:nvSpPr>
        <p:spPr>
          <a:xfrm>
            <a:off x="457200" y="502920"/>
            <a:ext cx="685800" cy="685800"/>
          </a:xfrm>
          <a:prstGeom prst="ellipse">
            <a:avLst/>
          </a:prstGeom>
          <a:solidFill>
            <a:srgbClr val="233A42"/>
          </a:solidFill>
          <a:ln/>
        </p:spPr>
      </p:sp>
      <p:pic>
        <p:nvPicPr>
          <p:cNvPr id="3" name="a1_icimg_324" descr="preencoded.png">    </p:cNvPr>
          <p:cNvPicPr>
            <a:picLocks noChangeAspect="1"/>
          </p:cNvPicPr>
          <p:nvPr/>
        </p:nvPicPr>
        <p:blipFill>
          <a:blip r:embed="rId1"/>
          <a:stretch>
            <a:fillRect/>
          </a:stretch>
        </p:blipFill>
        <p:spPr>
          <a:xfrm>
            <a:off x="621792" y="667512"/>
            <a:ext cx="356616" cy="356616"/>
          </a:xfrm>
          <a:prstGeom prst="rect">
            <a:avLst/>
          </a:prstGeom>
        </p:spPr>
      </p:pic>
      <p:sp>
        <p:nvSpPr>
          <p:cNvPr id="4" name="a1_txt_325"/>
          <p:cNvSpPr txBox="1"/>
          <p:nvPr/>
        </p:nvSpPr>
        <p:spPr>
          <a:xfrm>
            <a:off x="1325880" y="548640"/>
            <a:ext cx="6400800" cy="594360"/>
          </a:xfrm>
          <a:prstGeom prst="rect">
            <a:avLst/>
          </a:prstGeom>
          <a:noFill/>
          <a:ln/>
        </p:spPr>
        <p:txBody>
          <a:bodyPr wrap="square" lIns="0" tIns="0" rIns="0" bIns="0" rtlCol="0" anchor="ctr"/>
          <a:lstStyle/>
          <a:p>
            <a:pPr indent="0" marL="0">
              <a:buNone/>
            </a:pPr>
            <a:r>
              <a:rPr lang="en-US" sz="3000" b="1" dirty="0">
                <a:solidFill>
                  <a:srgbClr val="E8F1EE"/>
                </a:solidFill>
                <a:latin typeface="Arial" pitchFamily="34" charset="0"/>
                <a:ea typeface="Arial" pitchFamily="34" charset="-122"/>
                <a:cs typeface="Arial" pitchFamily="34" charset="-120"/>
              </a:rPr>
              <a:t>Summary &amp; next steps</a:t>
            </a:r>
            <a:endParaRPr lang="en-US" sz="3000" dirty="0"/>
          </a:p>
        </p:txBody>
      </p:sp>
      <p:sp>
        <p:nvSpPr>
          <p:cNvPr id="5" name="a2_txt_326"/>
          <p:cNvSpPr txBox="1"/>
          <p:nvPr/>
        </p:nvSpPr>
        <p:spPr>
          <a:xfrm>
            <a:off x="548640" y="1463040"/>
            <a:ext cx="7772400" cy="457200"/>
          </a:xfrm>
          <a:prstGeom prst="rect">
            <a:avLst/>
          </a:prstGeom>
          <a:noFill/>
          <a:ln/>
        </p:spPr>
        <p:txBody>
          <a:bodyPr wrap="square" lIns="0" tIns="0" rIns="0" bIns="0" rtlCol="0" anchor="ctr"/>
          <a:lstStyle/>
          <a:p>
            <a:pPr indent="0" marL="0">
              <a:buNone/>
            </a:pPr>
            <a:r>
              <a:rPr lang="en-US" sz="1700" b="1" dirty="0">
                <a:solidFill>
                  <a:srgbClr val="7CCFC7"/>
                </a:solidFill>
                <a:latin typeface="Calibri" pitchFamily="34" charset="0"/>
                <a:ea typeface="Calibri" pitchFamily="34" charset="-122"/>
                <a:cs typeface="Calibri" pitchFamily="34" charset="-120"/>
              </a:rPr>
              <a:t>Designed  </a:t>
            </a:r>
            <a:pPr indent="0" marL="0">
              <a:buNone/>
            </a:pPr>
            <a:r>
              <a:rPr lang="en-US" sz="1700" dirty="0">
                <a:solidFill>
                  <a:srgbClr val="E8F1EE"/>
                </a:solidFill>
                <a:latin typeface="Calibri" pitchFamily="34" charset="0"/>
                <a:ea typeface="Calibri" pitchFamily="34" charset="-122"/>
                <a:cs typeface="Calibri" pitchFamily="34" charset="-120"/>
              </a:rPr>
              <a:t>a closed-loop irrigation system grounded in 12 recent papers</a:t>
            </a:r>
            <a:endParaRPr lang="en-US" sz="1700" dirty="0"/>
          </a:p>
        </p:txBody>
      </p:sp>
      <p:sp>
        <p:nvSpPr>
          <p:cNvPr id="6" name="a3_txt_327"/>
          <p:cNvSpPr txBox="1"/>
          <p:nvPr/>
        </p:nvSpPr>
        <p:spPr>
          <a:xfrm>
            <a:off x="548640" y="2084832"/>
            <a:ext cx="7772400" cy="457200"/>
          </a:xfrm>
          <a:prstGeom prst="rect">
            <a:avLst/>
          </a:prstGeom>
          <a:noFill/>
          <a:ln/>
        </p:spPr>
        <p:txBody>
          <a:bodyPr wrap="square" lIns="0" tIns="0" rIns="0" bIns="0" rtlCol="0" anchor="ctr"/>
          <a:lstStyle/>
          <a:p>
            <a:pPr indent="0" marL="0">
              <a:buNone/>
            </a:pPr>
            <a:r>
              <a:rPr lang="en-US" sz="1700" b="1" dirty="0">
                <a:solidFill>
                  <a:srgbClr val="6CC08B"/>
                </a:solidFill>
                <a:latin typeface="Calibri" pitchFamily="34" charset="0"/>
                <a:ea typeface="Calibri" pitchFamily="34" charset="-122"/>
                <a:cs typeface="Calibri" pitchFamily="34" charset="-120"/>
              </a:rPr>
              <a:t>Built  </a:t>
            </a:r>
            <a:pPr indent="0" marL="0">
              <a:buNone/>
            </a:pPr>
            <a:r>
              <a:rPr lang="en-US" sz="1700" dirty="0">
                <a:solidFill>
                  <a:srgbClr val="E8F1EE"/>
                </a:solidFill>
                <a:latin typeface="Calibri" pitchFamily="34" charset="0"/>
                <a:ea typeface="Calibri" pitchFamily="34" charset="-122"/>
                <a:cs typeface="Calibri" pitchFamily="34" charset="-120"/>
              </a:rPr>
              <a:t>dashboard, Flask + SQLite backend, simulator and firmware</a:t>
            </a:r>
            <a:endParaRPr lang="en-US" sz="1700" dirty="0"/>
          </a:p>
        </p:txBody>
      </p:sp>
      <p:sp>
        <p:nvSpPr>
          <p:cNvPr id="7" name="a4_txt_328"/>
          <p:cNvSpPr txBox="1"/>
          <p:nvPr/>
        </p:nvSpPr>
        <p:spPr>
          <a:xfrm>
            <a:off x="548640" y="2706624"/>
            <a:ext cx="7772400" cy="457200"/>
          </a:xfrm>
          <a:prstGeom prst="rect">
            <a:avLst/>
          </a:prstGeom>
          <a:noFill/>
          <a:ln/>
        </p:spPr>
        <p:txBody>
          <a:bodyPr wrap="square" lIns="0" tIns="0" rIns="0" bIns="0" rtlCol="0" anchor="ctr"/>
          <a:lstStyle/>
          <a:p>
            <a:pPr indent="0" marL="0">
              <a:buNone/>
            </a:pPr>
            <a:r>
              <a:rPr lang="en-US" sz="1700" b="1" dirty="0">
                <a:solidFill>
                  <a:srgbClr val="EDA265"/>
                </a:solidFill>
                <a:latin typeface="Calibri" pitchFamily="34" charset="0"/>
                <a:ea typeface="Calibri" pitchFamily="34" charset="-122"/>
                <a:cs typeface="Calibri" pitchFamily="34" charset="-120"/>
              </a:rPr>
              <a:t>Showed  </a:t>
            </a:r>
            <a:pPr indent="0" marL="0">
              <a:buNone/>
            </a:pPr>
            <a:r>
              <a:rPr lang="en-US" sz="1700" dirty="0">
                <a:solidFill>
                  <a:srgbClr val="E8F1EE"/>
                </a:solidFill>
                <a:latin typeface="Calibri" pitchFamily="34" charset="0"/>
                <a:ea typeface="Calibri" pitchFamily="34" charset="-122"/>
                <a:cs typeface="Calibri" pitchFamily="34" charset="-120"/>
              </a:rPr>
              <a:t>in simulation: moisture held at 30–42%, ~45% less water than a timer</a:t>
            </a:r>
            <a:endParaRPr lang="en-US" sz="1700" dirty="0"/>
          </a:p>
        </p:txBody>
      </p:sp>
      <p:sp>
        <p:nvSpPr>
          <p:cNvPr id="8" name="a5_txt_329"/>
          <p:cNvSpPr txBox="1"/>
          <p:nvPr/>
        </p:nvSpPr>
        <p:spPr>
          <a:xfrm>
            <a:off x="548640" y="3328416"/>
            <a:ext cx="7772400" cy="457200"/>
          </a:xfrm>
          <a:prstGeom prst="rect">
            <a:avLst/>
          </a:prstGeom>
          <a:noFill/>
          <a:ln/>
        </p:spPr>
        <p:txBody>
          <a:bodyPr wrap="square" lIns="0" tIns="0" rIns="0" bIns="0" rtlCol="0" anchor="ctr"/>
          <a:lstStyle/>
          <a:p>
            <a:pPr indent="0" marL="0">
              <a:buNone/>
            </a:pPr>
            <a:r>
              <a:rPr lang="en-US" sz="1700" b="1" dirty="0">
                <a:solidFill>
                  <a:srgbClr val="9BE7C4"/>
                </a:solidFill>
                <a:latin typeface="Calibri" pitchFamily="34" charset="0"/>
                <a:ea typeface="Calibri" pitchFamily="34" charset="-122"/>
                <a:cs typeface="Calibri" pitchFamily="34" charset="-120"/>
              </a:rPr>
              <a:t>Next  </a:t>
            </a:r>
            <a:pPr indent="0" marL="0">
              <a:buNone/>
            </a:pPr>
            <a:r>
              <a:rPr lang="en-US" sz="1700" dirty="0">
                <a:solidFill>
                  <a:srgbClr val="E8F1EE"/>
                </a:solidFill>
                <a:latin typeface="Calibri" pitchFamily="34" charset="0"/>
                <a:ea typeface="Calibri" pitchFamily="34" charset="-122"/>
                <a:cs typeface="Calibri" pitchFamily="34" charset="-120"/>
              </a:rPr>
              <a:t>hardware, calibration, then AI prediction and anomaly detection</a:t>
            </a:r>
            <a:endParaRPr lang="en-US" sz="1700" dirty="0"/>
          </a:p>
        </p:txBody>
      </p:sp>
      <p:sp>
        <p:nvSpPr>
          <p:cNvPr id="9" name="a6_txt_330"/>
          <p:cNvSpPr txBox="1"/>
          <p:nvPr/>
        </p:nvSpPr>
        <p:spPr>
          <a:xfrm>
            <a:off x="548640" y="4114800"/>
            <a:ext cx="8046720" cy="548640"/>
          </a:xfrm>
          <a:prstGeom prst="rect">
            <a:avLst/>
          </a:prstGeom>
          <a:noFill/>
          <a:ln/>
        </p:spPr>
        <p:txBody>
          <a:bodyPr wrap="square" lIns="0" tIns="0" rIns="0" bIns="0" rtlCol="0" anchor="t"/>
          <a:lstStyle/>
          <a:p>
            <a:pPr indent="0" marL="0">
              <a:buNone/>
            </a:pPr>
            <a:r>
              <a:rPr lang="en-US" sz="2400" b="1" dirty="0">
                <a:solidFill>
                  <a:srgbClr val="6CC08B"/>
                </a:solidFill>
                <a:latin typeface="Arial" pitchFamily="34" charset="0"/>
                <a:ea typeface="Arial" pitchFamily="34" charset="-122"/>
                <a:cs typeface="Arial" pitchFamily="34" charset="-120"/>
              </a:rPr>
              <a:t>Thank you  ·  Questions?</a:t>
            </a:r>
            <a:endParaRPr lang="en-US" sz="2400" dirty="0"/>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350"/>
                            </p:stCondLst>
                            <p:childTnLst>
                              <p:par>
                                <p:cTn id="15" presetID="10" presetClass="entr" presetSubtype="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700"/>
                            </p:stCondLst>
                            <p:childTnLst>
                              <p:par>
                                <p:cTn id="19" presetID="10" presetClass="entr" presetSubtype="0"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par>
                          <p:cTn id="22" fill="hold">
                            <p:stCondLst>
                              <p:cond delay="1050"/>
                            </p:stCondLst>
                            <p:childTnLst>
                              <p:par>
                                <p:cTn id="23" presetID="10" presetClass="entr" presetSubtype="0"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1400"/>
                            </p:stCondLst>
                            <p:childTnLst>
                              <p:par>
                                <p:cTn id="27" presetID="10"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par>
                          <p:cTn id="30" fill="hold">
                            <p:stCondLst>
                              <p:cond delay="1750"/>
                            </p:stCondLst>
                            <p:childTnLst>
                              <p:par>
                                <p:cTn id="31" presetID="10" presetClass="entr" presetSubtype="0"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48640"/>
          </a:xfrm>
          <a:prstGeom prst="rect">
            <a:avLst/>
          </a:prstGeom>
          <a:noFill/>
          <a:ln/>
        </p:spPr>
        <p:txBody>
          <a:bodyPr wrap="square" lIns="0" tIns="0" rIns="0" bIns="0" rtlCol="0" anchor="ctr"/>
          <a:lstStyle/>
          <a:p>
            <a:pPr indent="0" marL="0">
              <a:buNone/>
            </a:pPr>
            <a:r>
              <a:rPr lang="en-US" sz="2600" b="1" dirty="0">
                <a:solidFill>
                  <a:srgbClr val="E8F1EE"/>
                </a:solidFill>
                <a:latin typeface="Arial" pitchFamily="34" charset="0"/>
                <a:ea typeface="Arial" pitchFamily="34" charset="-122"/>
                <a:cs typeface="Arial" pitchFamily="34" charset="-120"/>
              </a:rPr>
              <a:t>References</a:t>
            </a:r>
            <a:endParaRPr lang="en-US" sz="2600" dirty="0"/>
          </a:p>
        </p:txBody>
      </p:sp>
      <p:sp>
        <p:nvSpPr>
          <p:cNvPr id="3" name="a1_txt_331"/>
          <p:cNvSpPr txBox="1"/>
          <p:nvPr/>
        </p:nvSpPr>
        <p:spPr>
          <a:xfrm>
            <a:off x="457200" y="896112"/>
            <a:ext cx="8229600" cy="3794760"/>
          </a:xfrm>
          <a:prstGeom prst="rect">
            <a:avLst/>
          </a:prstGeom>
          <a:noFill/>
          <a:ln/>
        </p:spPr>
        <p:txBody>
          <a:bodyPr wrap="square" lIns="0" tIns="0" rIns="0" bIns="0" rtlCol="0" anchor="t"/>
          <a:lstStyle/>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[1]  K. Obaideen et al., "An overview of smart irrigation systems using IoT," Energy Nexus, vol. 7, 100124, 2022.</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[2]  F. Puig, J. A. Rodríguez Díaz, M. A. Soriano, "Development of a low-cost open-source platform for smart irrigation systems," Agronomy, 12(12), 2909, 2022.</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[3]  G. P. Pereira, M. Z. Chaari, F. Daroge, "IoT-enabled smart drip irrigation system using ESP32," IoT (MDPI), 4(3), 2023.</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[4]  D. Schwamback et al., "Automated low-cost soil moisture sensors: Trade-off between cost and accuracy," Sensors, 23(5), 2451, 2023.</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[5]  A. Morchid et al., "Applications of IoT and sensors technology to increase food security and agricultural sustainability," Ain Shams Eng. J., 15(3), 102509, 2024.</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[6]  B. Nsoh et al., "IoT-based automated solutions utilizing machine learning for smart and real-time irrigation management: A review," Sensors, 24, 7480, 2024.</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[7]  N. Padhy et al., "Advanced IoT solutions for plant growth monitoring: A comparative analysis of ML approaches," Proc. 5th ASEC, MDPI, 2024.</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[8]  A. A. Abdelmoneim et al., "Calibration of low-cost capacitive soil moisture sensors for irrigation management applications," Sensors, 25(2), 343, 2025.</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[9]  Y. E. Kunt, "Development of IoT and AI based smart irrigation system," arXiv:2506.11835, 2025.</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[10]  V. Das, J. George, P. Kumar, "Early detection of plant diseases using IoT sensors and ML algorithms," Proc. ICTCT 2025, IEEE, pp. 344–350, 2025.</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[11]  H. Lokesh et al., "Smart monitoring system for enhancing plant health and sustainable growth," EPJ Web of Conf., 343, 04003, 2025.</a:t>
            </a:r>
            <a:endParaRPr lang="en-US" sz="950" dirty="0"/>
          </a:p>
          <a:p>
            <a:pPr indent="0" marL="0">
              <a:spcAft>
                <a:spcPts val="300"/>
              </a:spcAft>
              <a:buNone/>
            </a:pPr>
            <a:r>
              <a:rPr lang="en-US" sz="950" dirty="0">
                <a:solidFill>
                  <a:srgbClr val="E8F1EE"/>
                </a:solidFill>
                <a:latin typeface="Calibri" pitchFamily="34" charset="0"/>
                <a:ea typeface="Calibri" pitchFamily="34" charset="-122"/>
                <a:cs typeface="Calibri" pitchFamily="34" charset="-120"/>
              </a:rPr>
              <a:t>[12]  Y. Boukri et al., "Analysis and experimental implementation of affordable smart irrigation system using IoT," Applied Water Science, 16, 36, 2026.</a:t>
            </a:r>
            <a:endParaRPr lang="en-US" sz="9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3B8B3"/>
                </a:solidFill>
              </a:defRPr>
            </a:lvl1pPr>
          </a:lstStyle>
          <a:p>
            <a:pPr algn="r"/>
            <a:fld id="{F7021451-1387-4CA6-816F-3879F97B5CBC}" type="slidenum">
              <a:rPr b="0" lang="en-US"/>
              <a:t>17</a:t>
            </a:fld>
            <a:endParaRPr lang="en-US"/>
          </a:p>
        </p:txBody>
      </p:sp>
    </p:spTree>
  </p:cSld>
  <p:clrMapOvr>
    <a:masterClrMapping/>
  </p:clrMapOvr>
  <p:transition spd="med">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mart Plant">
  <a:themeElements>
    <a:clrScheme name="Smart Plant">
      <a:dk1>
        <a:srgbClr val="12232A"/>
      </a:dk1>
      <a:lt1>
        <a:srgbClr val="FFFFFF"/>
      </a:lt1>
      <a:dk2>
        <a:srgbClr val="1C2F36"/>
      </a:dk2>
      <a:lt2>
        <a:srgbClr val="E8F1EE"/>
      </a:lt2>
      <a:accent1>
        <a:srgbClr val="6CC08B"/>
      </a:accent1>
      <a:accent2>
        <a:srgbClr val="EDA265"/>
      </a:accent2>
      <a:accent3>
        <a:srgbClr val="7CCFC7"/>
      </a:accent3>
      <a:accent4>
        <a:srgbClr val="9BE7C4"/>
      </a:accent4>
      <a:accent5>
        <a:srgbClr val="E5736B"/>
      </a:accent5>
      <a:accent6>
        <a:srgbClr val="A3B8B3"/>
      </a:accent6>
      <a:hlink>
        <a:srgbClr val="7CCFC7"/>
      </a:hlink>
      <a:folHlink>
        <a:srgbClr val="9BE7C4"/>
      </a:folHlink>
    </a:clrScheme>
    <a:fontScheme name="Smart Pla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Plant Health Monitoring and Automatic Irrigation System</dc:title>
  <dc:subject>PptxGenJS Presentation</dc:subject>
  <dc:creator>MDP Team</dc:creator>
  <cp:lastModifiedBy>MDP Team</cp:lastModifiedBy>
  <cp:revision>1</cp:revision>
  <dcterms:created xsi:type="dcterms:W3CDTF">2026-10-13T01:44:29Z</dcterms:created>
  <dcterms:modified xsi:type="dcterms:W3CDTF">2026-10-13T01:44:29Z</dcterms:modified>
</cp:coreProperties>
</file>